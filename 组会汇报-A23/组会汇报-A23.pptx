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26" Type="http://schemas.openxmlformats.org/officeDocument/2006/relationships/viewProps" Target="viewProps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7" Type="http://schemas.openxmlformats.org/officeDocument/2006/relationships/slide" Target="slides/slide7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8" Type="http://schemas.openxmlformats.org/officeDocument/2006/relationships/slide" Target="slides/slide8.xml" /><Relationship Id="rId25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Relationship Id="rId2" Type="http://schemas.openxmlformats.org/officeDocument/2006/relationships/image" Target="media/image6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7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秒</c:v>
                </c:pt>
              </c:strCache>
            </c:strRef>
          </c:tx>
          <c:spPr>
            <a:solidFill>
              <a:srgbClr val="1E4FA8"/>
            </a:solidFill>
          </c:spPr>
          <c:dLbls>
            <c:txPr>
              <a:bodyPr/>
              <a:p>
                <a:pPr>
                  <a:defRPr sz="750">
                    <a:solidFill>
                      <a:srgbClr val="1A2230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模板1</c:v>
                </c:pt>
                <c:pt idx="1">
                  <c:v>模板2</c:v>
                </c:pt>
                <c:pt idx="2">
                  <c:v>模板3</c:v>
                </c:pt>
                <c:pt idx="3">
                  <c:v>模板4</c:v>
                </c:pt>
                <c:pt idx="4">
                  <c:v>模板5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29.14</c:v>
                </c:pt>
                <c:pt idx="1">
                  <c:v>26.99</c:v>
                </c:pt>
                <c:pt idx="2">
                  <c:v>18.47</c:v>
                </c:pt>
                <c:pt idx="3">
                  <c:v>33.44</c:v>
                </c:pt>
                <c:pt idx="4">
                  <c:v>43.68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B97A8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position: 'relative', background: '#FFFFFF', padding: 0, fontFamily: 'Microsoft YaHei' }}&gt;&#13;&#10;    {/* 顶部深蓝条 */}&#13;&#10;    &lt;Box style={{ position: 'absolute', top: 0, left: 0, width: 1280, height: 8, background: '#1E4FA8' }} /&gt;&#13;&#10;&#13;&#10;    {/* 右侧浅蓝底块 */}&#13;&#10;    &lt;Box style={{ position: 'absolute', top: 8, right: 0, width: 396, height: 612, background: '#F0F5FC' }} /&gt;&#13;&#10;&#13;&#10;    {/* 右侧管线抽象 SVG */}&#13;&#10;    &lt;svg width={396} height={612} viewBox='0 0 396 612' style={{ position: 'absolute', top: 8, right: 0 }}&gt;&#13;&#10;        &lt;rect x='96' y='96' width='204' height='52' rx='6' fill='#E8EFF8' stroke='#3D7BD9' strokeWidth='1.5' /&gt;&#13;&#10;        &lt;rect x='96' y='184' width='204' height='52' rx='6' fill='#E8EFF8' stroke='#3D7BD9' strokeWidth='1.5' /&gt;&#13;&#10;        &lt;rect x='96' y='272' width='204' height='52' rx='6' fill='#E8EFF8' stroke='#3D7BD9' strokeWidth='1.5' /&gt;&#13;&#10;        &lt;rect x='96' y='360' width='204' height='52' rx='6' fill='#1E4FA8' /&gt;&#13;&#10;        &lt;rect x='96' y='448' width='204' height='52' rx='6' fill='#E8EFF8' stroke='#3D7BD9' strokeWidth='1.5' /&gt;&#13;&#10;        &lt;line x1='198' y1='148' x2='198' y2='184' stroke='#8B97A8' strokeWidth='2' /&gt;&#13;&#10;        &lt;line x1='198' y1='236' x2='198' y2='272' stroke='#8B97A8' strokeWidth='2' /&gt;&#13;&#10;        &lt;line x1='198' y1='324' x2='198' y2='360' stroke='#8B97A8' strokeWidth='2' /&gt;&#13;&#10;        &lt;line x1='198' y1='412' x2='198' y2='448' stroke='#8B97A8' strokeWidth='2' /&gt;&#13;&#10;        &lt;circle cx='198' cy='392' r='5' fill='#FFC107' /&gt;&#13;&#10;    &lt;/svg&gt;&#13;&#10;    &lt;Box style={{ position: 'absolute', top: 44, right: 0, width: 396, height: 30, justifyContent: 'center', alignItems: 'center' }}&gt;&#13;&#10;        &lt;Text style={{ fontSize: 13, color: '#4A5568', letterSpacing: 1 }}&gt;读 取 ｜ 定 位 ｜ 理 解 ｜ 匹 配 ｜ 写 回&lt;/Text&gt;&#13;&#10;    &lt;/Box&gt;&#13;&#10;&#13;&#10;    {/* 左上标识 */}&#13;&#10;    &lt;Box style={{ position: 'absolute', top: 52, left: 60, flexDirection: 'row', alignItems: 'center', gap: 10 }}&gt;&#13;&#10;        &lt;Box style={{ width: 26, height: 26, background: '#1E4FA8', borderRadius: 4, justifyContent: 'center', alignItems: 'center' }}&gt;&#13;&#10;            &lt;Text style={{ fontSize: 14, color: '#FFFFFF', fontWeight: 'bold' }}&gt;A&lt;/Text&gt;&#13;&#10;        &lt;/Box&gt;&#13;&#10;        &lt;Text style={{ fontSize: 15, color: '#4A5568', letterSpacing: 1 }}&gt;A-23 赛题 · 阶段汇报&lt;/Text&gt;&#13;&#10;    &lt;/Box&gt;&#13;&#10;&#13;&#10;    {/* 主标题区 */}&#13;&#10;    &lt;Box style={{ position: 'absolute', top: 150, left: 60, width: 800 }}&gt;&#13;&#10;        &lt;Text style={{ fontSize: 15, color: '#3D7BD9', fontWeight: 'bold', letterSpacing: 0.5 }}&gt;&#13;&#10;            第 17 届中国大学生服务外包创新创业大赛 · A 类赛题&#13;&#10;        &lt;/Text&gt;&#13;&#10;        &lt;Text style={{ fontSize: 60, color: '#0E3F8C', fontWeight: 'bold', lineHeight: 1.22, marginTop: 22 }}&gt;&#13;&#10;            基于大语言模型的&lt;br /&gt;文档理解与多源数据融合系统&#13;&#10;        &lt;/Text&gt;&#13;&#10;        &lt;Text style={{ fontSize: 17, color: '#8B97A8', marginTop: 14, letterSpacing: 0.3 }}&gt;&#13;&#10;            Document Understanding &amp;amp; Multi-source Data Fusion System&#13;&#10;        &lt;/Text&gt;&#13;&#10;        &lt;Box style={{ width: 72, height: 4, background: '#FFC107', marginTop: 30 }} /&gt;&#13;&#10;        &lt;Text style={{ fontSize: 24, color: '#1A2230', marginTop: 22, lineHeight: 1.5 }}&gt;&#13;&#10;            从一堆格式不一的文档，到一张可直接交卷的表&#13;&#10;        &lt;/Text&gt;&#13;&#10;    &lt;/Box&gt;&#13;&#10;&#13;&#10;    {/* 底部信息条 */}&#13;&#10;    &lt;Box style={{ position: 'absolute', left: 0, bottom: 0, width: 1280, height: 100, background: '#F7F9FC', borderTop: '1px solid #D6DCE5', flexDirection: 'row', alignItems: 'center', paddingLeft: 60, paddingRight: 60, justifyContent: 'space-between' }}&gt;&#13;&#10;        &lt;Box style={{ flexDirection: 'row', gap: 56 }}&gt;&#13;&#10;            &lt;Box&gt;&#13;&#10;                &lt;Text style={{ fontSize: 13, color: '#8B97A8' }}&gt;出题单位&lt;/Text&gt;&#13;&#10;                &lt;Text style={{ fontSize: 16, color: '#1A2230', fontWeight: 'bold', marginTop: 4 }}&gt;金陵科技学院&lt;/Text&gt;&#13;&#10;            &lt;/Box&gt;&#13;&#10;            &lt;Box&gt;&#13;&#10;                &lt;Text style={{ fontSize: 13, color: '#8B97A8' }}&gt;汇报人&lt;/Text&gt;&#13;&#10;                &lt;Text style={{ fontSize: 16, color: '#1A2230', fontWeight: 'bold', marginTop: 4 }}&gt;覃敬涛&lt;/Text&gt;&#13;&#10;            &lt;/Box&gt;&#13;&#10;            &lt;Box&gt;&#13;&#10;                &lt;Text style={{ fontSize: 13, color: '#8B97A8' }}&gt;汇报时间&lt;/Text&gt;&#13;&#10;                &lt;Text style={{ fontSize: 16, color: '#1A2230', fontWeight: 'bold', marginTop: 4 }}&gt;2026 年 10 月 22 日&lt;/Text&gt;&#13;&#10;            &lt;/Box&gt;&#13;&#10;        &lt;/Box&gt;&#13;&#10;        &lt;Text style={{ fontSize: 14, color: '#8B97A8' }}&gt;课题组组会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8420100" y="76200"/>
            <a:ext cx="3771900" cy="58293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420100" y="76200"/>
            <a:ext cx="3771900" cy="5829300"/>
          </a:xfrm>
          <a:prstGeom prst="rect">
            <a:avLst/>
          </a:prstGeom>
          <a:ln/>
        </p:spPr>
      </p:pic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067800" y="485775"/>
            <a:ext cx="247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读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定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位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理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解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匹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配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写</a:t>
            </a:r>
            <a:r>
              <a:rPr lang="en-US" sz="975" spc="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975" spc="75">
                <a:solidFill>
                  <a:srgbClr val="4A5568"/>
                </a:solidFill>
                <a:latin typeface="Microsoft YaHei"/>
                <a:ea typeface="Microsoft YaHei"/>
              </a:rPr>
              <a:t>回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571500" y="49530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47700" y="542925"/>
            <a:ext cx="104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5334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4A5568"/>
                </a:solidFill>
                <a:latin typeface="Microsoft YaHei"/>
                <a:ea typeface="Microsoft YaHei"/>
              </a:rPr>
              <a:t>A-23 </a:t>
            </a:r>
            <a:r>
              <a:rPr lang="zh-CN" sz="1125" spc="75">
                <a:solidFill>
                  <a:srgbClr val="4A5568"/>
                </a:solidFill>
                <a:latin typeface="Microsoft YaHei"/>
                <a:ea typeface="Microsoft YaHei"/>
              </a:rPr>
              <a:t>赛题</a:t>
            </a:r>
            <a:r>
              <a:rPr lang="en-US" sz="1125" spc="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 spc="75">
                <a:solidFill>
                  <a:srgbClr val="4A5568"/>
                </a:solidFill>
                <a:latin typeface="Microsoft YaHei"/>
                <a:ea typeface="Microsoft YaHei"/>
              </a:rPr>
              <a:t>阶段汇报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38">
                <a:solidFill>
                  <a:srgbClr val="3D7BD9"/>
                </a:solidFill>
                <a:latin typeface="Microsoft YaHei"/>
                <a:ea typeface="Microsoft YaHei"/>
              </a:rPr>
              <a:t>第</a:t>
            </a:r>
            <a:r>
              <a:rPr lang="en-US" sz="1125" b="1" spc="38">
                <a:solidFill>
                  <a:srgbClr val="3D7BD9"/>
                </a:solidFill>
                <a:latin typeface="Microsoft YaHei"/>
                <a:ea typeface="Microsoft YaHei"/>
              </a:rPr>
              <a:t> 17 </a:t>
            </a:r>
            <a:r>
              <a:rPr lang="zh-CN" sz="1125" b="1" spc="38">
                <a:solidFill>
                  <a:srgbClr val="3D7BD9"/>
                </a:solidFill>
                <a:latin typeface="Microsoft YaHei"/>
                <a:ea typeface="Microsoft YaHei"/>
              </a:rPr>
              <a:t>届中国大学生服务外包创新创业大赛</a:t>
            </a:r>
            <a:r>
              <a:rPr lang="en-US" sz="1125" b="1" spc="38">
                <a:solidFill>
                  <a:srgbClr val="3D7BD9"/>
                </a:solidFill>
                <a:latin typeface="Microsoft YaHei"/>
                <a:ea typeface="Microsoft YaHei"/>
              </a:rPr>
              <a:t> · A </a:t>
            </a:r>
            <a:r>
              <a:rPr lang="zh-CN" sz="1125" b="1" spc="38">
                <a:solidFill>
                  <a:srgbClr val="3D7BD9"/>
                </a:solidFill>
                <a:latin typeface="Microsoft YaHei"/>
                <a:ea typeface="Microsoft YaHei"/>
              </a:rPr>
              <a:t>类赛题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71500" y="1809750"/>
            <a:ext cx="7620000" cy="16764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基于大语言模型的</a:t>
            </a:r>
            <a:endParaRPr/>
          </a:p>
          <a:p>
            <a:pPr>
              <a:lnSpc>
                <a:spcPct val="122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文档理解与多源数据融合系统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71500" y="3619500"/>
            <a:ext cx="76200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75" spc="22">
                <a:solidFill>
                  <a:srgbClr val="8B97A8"/>
                </a:solidFill>
                <a:latin typeface="Microsoft YaHei"/>
                <a:ea typeface="Microsoft YaHei"/>
              </a:rPr>
              <a:t>Document Understanding &amp; Multi-source Data Fusion System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71500" y="4295775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71500" y="4543425"/>
            <a:ext cx="76200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从一堆格式不一的文档，到一张可直接交卷的表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0" y="5915025"/>
            <a:ext cx="12192000" cy="942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0" y="5905500"/>
            <a:ext cx="12192000" cy="952500"/>
          </a:xfrm>
          <a:custGeom>
            <a:pathLst>
              <a:path w="1280" h="10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6200775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出题单位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63912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金陵科技学院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019300" y="6200775"/>
            <a:ext cx="45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汇报人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019300" y="639127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覃敬涛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009900" y="6200775"/>
            <a:ext cx="143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汇报时间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009900" y="6391275"/>
            <a:ext cx="1438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2026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年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 10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月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 22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953750" y="630555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课题组组会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92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{/* 左栏深蓝 */}&#13;&#10;    &lt;Box style={{ position: 'absolute', top: 8, left: 0, width: 380, height: 652, background: '#0E3F8C', padding: '0 44px', justifyContent: 'center' }}&gt;&#13;&#10;        &lt;Text style={{ fontSize: 14, color: '#A9C2E8', letterSpacing: 2 }}&gt;CONTENTS&lt;/Text&gt;&#13;&#10;        &lt;Text style={{ fontSize: 46, color: '#FFFFFF', fontWeight: 'bold', marginTop: 12 }}&gt;汇报目录&lt;/Text&gt;&#13;&#10;        &lt;Box style={{ width: 56, height: 4, background: '#FFC107', marginTop: 24 }} /&gt;&#13;&#10;        &lt;Text style={{ fontSize: 17, color: '#D5E2F5', lineHeight: 1.8, marginTop: 24 }}&gt;&#13;&#10;            先把比赛怎么判讲清楚，&lt;br /&gt;再讲我们怎么答卷，&lt;br /&gt;最后交代做到哪一步。&#13;&#10;        &lt;/Text&gt;&#13;&#10;    &lt;/Box&gt;&#13;&#10;&#13;&#10;    {/* 右侧条目 */}&#13;&#10;    &lt;Box style={{ position: 'absolute', top: 92, left: 440, width: 780 }}&gt;&#13;&#10;        &lt;Box style={{ flexDirection: 'row', gap: 24, paddingBottom: 26, borderBottom: '1px solid #D6DCE5' }}&gt;&#13;&#10;            &lt;Text style={{ fontSize: 40, color: '#1E4FA8', fontWeight: 'bold', width: 70 }}&gt;01&lt;/Text&gt;&#13;&#10;            &lt;Box style={{ flex: 1 }}&gt;&#13;&#10;                &lt;Text style={{ fontSize: 27, color: '#1A2230', fontWeight: 'bold' }}&gt;赛题解析：它到底考什么&lt;/Text&gt;&#13;&#10;                &lt;Text style={{ fontSize: 17, color: '#4A5568', marginTop: 8, lineHeight: 1.6 }}&gt;&#13;&#10;                    三个必须模块、四项技术指标，以及比赛当天的真实评测流程&#13;&#10;                &lt;/Text&gt;&#13;&#10;            &lt;/Box&gt;&#13;&#10;            &lt;Text style={{ fontSize: 14, color: '#8B97A8', paddingTop: 12 }}&gt;P03–P07&lt;/Text&gt;&#13;&#10;        &lt;/Box&gt;&#13;&#10;&#13;&#10;        &lt;Box style={{ flexDirection: 'row', gap: 24, paddingTop: 24, paddingBottom: 26, borderBottom: '1px solid #D6DCE5' }}&gt;&#13;&#10;            &lt;Text style={{ fontSize: 40, color: '#1E4FA8', fontWeight: 'bold', width: 70 }}&gt;02&lt;/Text&gt;&#13;&#10;            &lt;Box style={{ flex: 1 }}&gt;&#13;&#10;                &lt;Text style={{ fontSize: 27, color: '#1A2230', fontWeight: 'bold' }}&gt;系统方案：我们怎么答卷&lt;/Text&gt;&#13;&#10;                &lt;Text style={{ fontSize: 17, color: '#4A5568', marginTop: 8, lineHeight: 1.6 }}&gt;&#13;&#10;                    一条五层管线，三个模块分别解决&quot;读、存、填&quot;三件事&#13;&#10;                &lt;/Text&gt;&#13;&#10;            &lt;/Box&gt;&#13;&#10;            &lt;Text style={{ fontSize: 14, color: '#8B97A8', paddingTop: 12 }}&gt;P08–P15&lt;/Text&gt;&#13;&#10;        &lt;/Box&gt;&#13;&#10;&#13;&#10;        &lt;Box style={{ flexDirection: 'row', gap: 24, paddingTop: 24 }}&gt;&#13;&#10;            &lt;Text style={{ fontSize: 40, color: '#1E4FA8', fontWeight: 'bold', width: 70 }}&gt;03&lt;/Text&gt;&#13;&#10;            &lt;Box style={{ flex: 1 }}&gt;&#13;&#10;                &lt;Text style={{ fontSize: 27, color: '#1A2230', fontWeight: 'bold' }}&gt;验证与计划：做到哪一步&lt;/Text&gt;&#13;&#10;                &lt;Text style={{ fontSize: 17, color: '#4A5568', marginTop: 8, lineHeight: 1.6 }}&gt;&#13;&#10;                    按比赛口径实测的硬指标、73 项复核，以及剩余待办&#13;&#10;                &lt;/Text&gt;&#13;&#10;            &lt;/Box&gt;&#13;&#10;            &lt;Text style={{ fontSize: 14, color: '#8B97A8', paddingTop: 12 }}&gt;P16–P21&lt;/Text&gt;&#13;&#10;        &lt;/Box&gt;&#13;&#10;    &lt;/Box&gt;&#13;&#10;&#13;&#10;    &lt;Box style={{ position: 'absolute', left: 440, bottom: 70, width: 780, background: '#F7F9FC', border: '1px solid #E5E7EB', padding: '12px 18px' }}&gt;&#13;&#10;        &lt;Text style={{ fontSize: 14, color: '#4A5568', lineHeight: 1.6 }}&gt;&#13;&#10;            本汇报所有数字来自 2026-10-15 现场复核（四份总检 73 项全过），不是估算值。&#13;&#10;        &lt;/Text&gt;&#13;&#10;    &lt;/Box&gt;&#13;&#10;&#13;&#10;    {/* 页脚 */}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02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0" y="76200"/>
            <a:ext cx="3619500" cy="6210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19100" y="200025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A9C2E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19100" y="2276475"/>
            <a:ext cx="2781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汇报目录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419100" y="30384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19100" y="3305175"/>
            <a:ext cx="2781300" cy="10572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D5E2F5"/>
                </a:solidFill>
                <a:latin typeface="Microsoft YaHei"/>
                <a:ea typeface="Microsoft YaHei"/>
              </a:rPr>
              <a:t>先把比赛怎么判讲清楚，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5E2F5"/>
                </a:solidFill>
                <a:latin typeface="Microsoft YaHei"/>
                <a:ea typeface="Microsoft YaHei"/>
              </a:rPr>
              <a:t>再讲我们怎么答卷，</a:t>
            </a:r>
            <a:endParaRPr/>
          </a:p>
          <a:p>
            <a:pPr>
              <a:lnSpc>
                <a:spcPct val="180000"/>
              </a:lnSpc>
            </a:pPr>
            <a:r>
              <a:rPr lang="zh-CN" sz="1275">
                <a:solidFill>
                  <a:srgbClr val="D5E2F5"/>
                </a:solidFill>
                <a:latin typeface="Microsoft YaHei"/>
                <a:ea typeface="Microsoft YaHei"/>
              </a:rPr>
              <a:t>最后交代做到哪一步。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4191000" y="876300"/>
            <a:ext cx="7429500" cy="971550"/>
          </a:xfrm>
          <a:custGeom>
            <a:pathLst>
              <a:path w="780" h="102">
                <a:moveTo>
                  <a:pt x="0" y="101"/>
                </a:moveTo>
                <a:lnTo>
                  <a:pt x="780" y="101"/>
                </a:lnTo>
                <a:lnTo>
                  <a:pt x="780" y="102"/>
                </a:lnTo>
                <a:lnTo>
                  <a:pt x="0" y="102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191000" y="876300"/>
            <a:ext cx="666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5086350" y="876300"/>
            <a:ext cx="57531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赛题解析：它到底考什么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086350" y="1266825"/>
            <a:ext cx="5753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三个必须模块、四项技术指标，以及比赛当天的真实评测流程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068050" y="876300"/>
            <a:ext cx="552450" cy="704850"/>
          </a:xfrm>
          <a:prstGeom prst="rect"/>
        </p:spPr>
        <p:txBody>
          <a:bodyPr wrap="none" lIns="0" tIns="85725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P03–P07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4191000" y="1838325"/>
            <a:ext cx="7429500" cy="1200150"/>
          </a:xfrm>
          <a:custGeom>
            <a:pathLst>
              <a:path w="780" h="126">
                <a:moveTo>
                  <a:pt x="0" y="125"/>
                </a:moveTo>
                <a:lnTo>
                  <a:pt x="780" y="125"/>
                </a:lnTo>
                <a:lnTo>
                  <a:pt x="780" y="126"/>
                </a:lnTo>
                <a:lnTo>
                  <a:pt x="0" y="126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191000" y="2066925"/>
            <a:ext cx="666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086350" y="2066925"/>
            <a:ext cx="57531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系统方案：我们怎么答卷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086350" y="2457450"/>
            <a:ext cx="5753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一条五层管线，三个模块分别解决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读、存、填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三件事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068050" y="2066925"/>
            <a:ext cx="552450" cy="704850"/>
          </a:xfrm>
          <a:prstGeom prst="rect"/>
        </p:spPr>
        <p:txBody>
          <a:bodyPr wrap="none" lIns="0" tIns="85725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P08–P15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191000" y="3257550"/>
            <a:ext cx="666750" cy="704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5086350" y="3257550"/>
            <a:ext cx="57531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验证与计划：做到哪一步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5086350" y="3648075"/>
            <a:ext cx="5753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按比赛口径实测的硬指标、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73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项复核，以及剩余待办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068050" y="3257550"/>
            <a:ext cx="552450" cy="704850"/>
          </a:xfrm>
          <a:prstGeom prst="rect"/>
        </p:spPr>
        <p:txBody>
          <a:bodyPr wrap="none" lIns="0" tIns="85725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P16–P21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4191000" y="5705475"/>
            <a:ext cx="7429500" cy="4857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362450" y="5819775"/>
            <a:ext cx="708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本汇报所有数字来自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2026-10-15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现场复核（四份总检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73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项全过），不是估算值。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33" name="" descr="&lt;Slide style={{ width: 1280, height: 720, position: 'relative', background: '#FFFFFF', padding: 0, fontFamily: 'Microsoft YaHei' }}&gt;&#10;    &lt;Box style={{ position: 'absolute', top: 0, left: 0, width: 1280, height: 8, background: '#1E4FA8' }} /&gt;&#10;    &lt;Box style={{ position: 'absolute', top: 8, right: 0, width: 320, height: 652, background: '#F0F5FC' }} /&gt;&#10;&#10;    &lt;Box style={{ position: 'absolute', top: 120, left: 72, width: 800 }}&gt;&#10;        &lt;Text style={{ fontSize: 200, color: '#1E4FA8', fontWeight: 'bold', lineHeight: 1 }}&gt;01&lt;/Text&gt;&#10;        &lt;Box style={{ width: 80, height: 5, background: '#FFC107', marginTop: 8 }} /&gt;&#10;        &lt;Text style={{ fontSize: 46, color: '#0E3F8C', fontWeight: 'bold', marginTop: 22 }}&gt;&#10;            赛题解析：它到底考什么&#10;        &lt;/Text&gt;&#10;        &lt;Box style={{ marginTop: 22, gap: 12 }}&gt;&#10;            &lt;Box style={{ flexDirection: 'row', alignItems: 'center', gap: 12 }}&gt;&#10;                &lt;Box style={{ width: 7, height: 7, background: '#1E4FA8' }} /&gt;&#10;                &lt;Text style={{ fontSize: 19, color: '#4A5568' }}&gt;三个必须模块 —— 少一个就不成立&lt;/Text&gt;&#10;            &lt;/Box&gt;&#10;            &lt;Box style={{ flexDirection: 'row', alignItems: 'center', gap: 12 }}&gt;&#10;                &lt;Box style={{ width: 7, height: 7, background: '#1E4FA8' }} /&gt;&#10;                &lt;Text style={{ fontSize: 19, color: '#4A5568' }}&gt;四项技术指标 —— 两条能一票否决&lt;/Text&gt;&#10;            &lt;/Box&gt;&#10;            &lt;Box style={{ flexDirection: 'row', alignItems: 'center', gap: 12 }}&gt;&#10;                &lt;Box style={{ width: 7, height: 7, background: '#1E4FA8' }} /&gt;&#10;                &lt;Text style={{ fontSize: 19, color: '#4A5568' }}&gt;一套评测流程 —— 16 份文档、5 张模板、计时对分&lt;/Text&gt;&#10;            &lt;/Box&gt;&#10;        &lt;/Box&gt;&#10;    &lt;/Box&gt;&#10;&#10;    &lt;Box style={{ position: 'absolute', left: 40, bottom: 20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03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9144000" y="76200"/>
            <a:ext cx="3048000" cy="62103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7620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85800" y="35052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7620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赛题解析：它到底考什么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685800" y="4581525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66775" y="450532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三个必须模块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少一个就不成立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85800" y="4914900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66775" y="4838700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四项技术指标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两条能一票否决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85800" y="5248275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66775" y="5172075"/>
            <a:ext cx="4181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一套评测流程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16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份文档、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5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张模板、计时对分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03 / 22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48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{/* 标题 */}&#13;&#10;    &lt;Box style={{ position: 'absolute', top: 40, left: 40, width: 1200 }}&gt;&#13;&#10;        &lt;Text style={{ fontSize: 34, color: '#0E3F8C', fontWeight: 'bold' }}&gt;赛题速览：一道&quot;逐条打钩&quot;的验收题&lt;/Text&gt;&#13;&#10;        &lt;Text style={{ fontSize: 16, color: '#8B97A8', marginTop: 8 }}&gt;&#13;&#10;            第 17 届中国大学生服务外包创新创业大赛 ｜ A 类应用赛题 ｜ 命题方向：企业服务 + 智能计算&#13;&#10;        &lt;/Text&gt;&#13;&#10;    &lt;/Box&gt;&#13;&#10;&#13;&#10;    {/* 左：巨型数字 */}&#13;&#10;    &lt;Box style={{ position: 'absolute', top: 148, left: 40, width: 470, height: 492, background: '#F0F5FC', border: '1px solid #D6DCE5', padding: '30px 36px', justifyContent: 'space-between' }}&gt;&#13;&#10;        &lt;Box&gt;&#13;&#10;            &lt;Box style={{ flexDirection: 'row', alignItems: 'flex-end', gap: 16 }}&gt;&#13;&#10;                &lt;Text style={{ fontSize: 112, color: '#1E4FA8', fontWeight: 'bold', lineHeight: 1 }}&gt;3&lt;/Text&gt;&#13;&#10;                &lt;Text style={{ fontSize: 22, color: '#1A2230', fontWeight: 'bold', paddingBottom: 14 }}&gt;个必须模块&lt;/Text&gt;&#13;&#10;            &lt;/Box&gt;&#13;&#10;            &lt;Text style={{ fontSize: 17, color: '#4A5568', marginTop: 10, lineHeight: 1.6 }}&gt;&#13;&#10;                文档智能操作 · 非结构化信息提取 · 表格自定义填写&#13;&#10;            &lt;/Text&gt;&#13;&#10;        &lt;/Box&gt;&#13;&#10;        &lt;Box style={{ height: 1, background: '#D6DCE5' }} /&gt;&#13;&#10;        &lt;Box&gt;&#13;&#10;            &lt;Box style={{ flexDirection: 'row', alignItems: 'flex-end', gap: 16 }}&gt;&#13;&#10;                &lt;Text style={{ fontSize: 112, color: '#1E4FA8', fontWeight: 'bold', lineHeight: 1 }}&gt;4&lt;/Text&gt;&#13;&#10;                &lt;Text style={{ fontSize: 22, color: '#1A2230', fontWeight: 'bold', paddingBottom: 14 }}&gt;项技术指标&lt;/Text&gt;&#13;&#10;            &lt;/Box&gt;&#13;&#10;            &lt;Text style={{ fontSize: 17, color: '#4A5568', marginTop: 10, lineHeight: 1.6 }}&gt;&#13;&#10;                形态不限 · 准确率 &amp;gt;80% · 样本人工标注 · 识别 API 异步&#13;&#10;            &lt;/Text&gt;&#13;&#10;            &lt;Box style={{ marginTop: 14, paddingTop: 12, borderTop: '1px solid #D6DCE5' }}&gt;&#13;&#10;                &lt;Text style={{ fontSize: 14, color: '#8B97A8' }}&gt;覆盖文档：合同 / 纪要 / 台账 / 报表 / 制度&lt;/Text&gt;&#13;&#10;            &lt;/Box&gt;&#13;&#10;        &lt;/Box&gt;&#13;&#10;    &lt;/Box&gt;&#13;&#10;&#13;&#10;    {/* 右：洞察 */}&#13;&#10;    &lt;Box style={{ position: 'absolute', top: 148, left: 552, width: 688, height: 492 }}&gt;&#13;&#10;        &lt;Box style={{ background: '#FFFFFF', border: '1px solid #D6DCE5', borderLeft: '4px solid #1E4FA8', padding: '24px 28px' }}&gt;&#13;&#10;            &lt;Text style={{ fontSize: 21, color: '#1A2230', fontWeight: 'bold' }}&gt;这不是自由发挥题，是验收题&lt;/Text&gt;&#13;&#10;            &lt;Text style={{ fontSize: 17, color: '#4A5568', lineHeight: 1.75, marginTop: 10 }}&gt;&#13;&#10;                赛题把&quot;必须做什么&quot;和&quot;怎么判&quot;都写死了：三个模块缺一不可，准确率和响应时间是唯一能一票否决的两条。所以我们的开发从第一天起就不是&quot;先做再测&quot;，而是&lt;span style={{ fontWeight: 'bold', color: '#0E3F8C' }}&gt;先把每条要求翻译成可执行的检查项&lt;/span&gt;，再让代码去满足它。&#13;&#10;            &lt;/Text&gt;&#13;&#10;        &lt;/Box&gt;&#13;&#10;&#13;&#10;        &lt;Box style={{ flexDirection: 'row', gap: 14, marginTop: 18 }}&gt;&#13;&#10;            &lt;Box style={{ flex: 1, background: '#F7F9FC', border: '1px solid #E5E7EB', padding: '16px 18px' }}&gt;&#13;&#10;                &lt;Text style={{ fontSize: 13, color: '#8B97A8' }}&gt;赛题类型&lt;/Text&gt;&#13;&#10;                &lt;Text style={{ fontSize: 18, color: '#1A2230', fontWeight: 'bold', marginTop: 6 }}&gt;应用类 · 企业命题&lt;/Text&gt;&#13;&#10;            &lt;/Box&gt;&#13;&#10;            &lt;Box style={{ flex: 1, background: '#F7F9FC', border: '1px solid #E5E7EB', padding: '16px 18px' }}&gt;&#13;&#10;                &lt;Text style={{ fontSize: 13, color: '#8B97A8' }}&gt;程序形态&lt;/Text&gt;&#13;&#10;                &lt;Text style={{ fontSize: 18, color: '#1A2230', fontWeight: 'bold', marginTop: 6 }}&gt;不限（Web / PC / App）&lt;/Text&gt;&#13;&#10;            &lt;/Box&gt;&#13;&#10;            &lt;Box style={{ flex: 1, background: '#F7F9FC', border: '1px solid #E5E7EB', padding: '16px 18px' }}&gt;&#13;&#10;                &lt;Text style={{ fontSize: 13, color: '#8B97A8' }}&gt;核心场景&lt;/Text&gt;&#13;&#10;                &lt;Text style={{ fontSize: 18, color: '#1A2230', fontWeight: 'bold', marginTop: 6 }}&gt;办公文档 → 汇总表&lt;/Text&gt;&#13;&#10;            &lt;/Box&gt;&#13;&#10;        &lt;/Box&gt;&#13;&#10;&#13;&#10;        &lt;Box style={{ marginTop: 18, background: '#FFF8E1', border: '1px solid #F0DCA8', padding: '16px 20px' }}&gt;&#13;&#10;            &lt;Text style={{ fontSize: 16, color: '#8A6D1F', lineHeight: 1.6 }}&gt;&#13;&#10;                一句话：&lt;span style={{ fontWeight: 'bold', color: '#1A2230' }}&gt;比赛不会问你&quot;用了什么模型&quot;，只会问&quot;填得准不准、快不快&quot;。&lt;/span&gt;&#13;&#10;            &lt;/Text&gt;&#13;&#10;        &lt;/Box&gt;&#13;&#10;    &lt;/Box&gt;&#13;&#10;&#13;&#10;    &lt;Box style={{ position: 'absolute', left: 552, bottom: 58, width: 688, background: '#F7F9FC', borderLeft: '4px solid #3D7BD9', padding: '14px 20px' }}&gt;&#13;&#10;        &lt;Text style={{ fontSize: 15, color: '#4A5568', lineHeight: 1.7 }}&gt;&#13;&#10;            赛题原文：&quot;需要一种智能化的解决方案，能够自动理解、提取并结构化这些非标准化的文本内容，从而将人力从这种低价值的重复劳动中解放出来。&quot;&#13;&#10;        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04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赛题速览：一道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逐条打钩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的验收题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81000" y="8477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17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届中国大学生服务外包创新创业大赛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｜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A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类应用赛题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｜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命题方向：企业服务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智能计算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381000" y="1409700"/>
            <a:ext cx="4476750" cy="46863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23900" y="1695450"/>
            <a:ext cx="66675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543050" y="2590800"/>
            <a:ext cx="1047750" cy="390525"/>
          </a:xfrm>
          <a:prstGeom prst="rect"/>
        </p:spPr>
        <p:txBody>
          <a:bodyPr wrap="none" lIns="0" tIns="0" rIns="0" bIns="100013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个必须模块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23900" y="3076575"/>
            <a:ext cx="37909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文档智能操作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非结构化信息提取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表格自定义填写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23900" y="3390900"/>
            <a:ext cx="379095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3900" y="3400425"/>
            <a:ext cx="666750" cy="1285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400" b="1">
                <a:solidFill>
                  <a:srgbClr val="1E4FA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543050" y="4295775"/>
            <a:ext cx="1047750" cy="390525"/>
          </a:xfrm>
          <a:prstGeom prst="rect"/>
        </p:spPr>
        <p:txBody>
          <a:bodyPr wrap="none" lIns="0" tIns="0" rIns="0" bIns="100013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项技术指标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23900" y="4781550"/>
            <a:ext cx="37909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形态不限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准确率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&gt;80%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样本人工标注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识别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API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异步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723900" y="5543550"/>
            <a:ext cx="3790950" cy="295275"/>
          </a:xfrm>
          <a:custGeom>
            <a:pathLst>
              <a:path w="398" h="31">
                <a:moveTo>
                  <a:pt x="0" y="0"/>
                </a:moveTo>
                <a:lnTo>
                  <a:pt x="398" y="0"/>
                </a:lnTo>
                <a:lnTo>
                  <a:pt x="398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23900" y="5667375"/>
            <a:ext cx="3790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覆盖文档：合同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纪要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台账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报表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制度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295900" y="1409700"/>
            <a:ext cx="65532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5257800" y="1409700"/>
            <a:ext cx="6591300" cy="1828800"/>
          </a:xfrm>
          <a:custGeom>
            <a:pathLst>
              <a:path w="692" h="192">
                <a:moveTo>
                  <a:pt x="0" y="0"/>
                </a:moveTo>
                <a:lnTo>
                  <a:pt x="4" y="0"/>
                </a:lnTo>
                <a:lnTo>
                  <a:pt x="4" y="192"/>
                </a:lnTo>
                <a:lnTo>
                  <a:pt x="0" y="19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562600" y="1638300"/>
            <a:ext cx="598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这不是自由发挥题，是验收题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5562600" y="1981200"/>
            <a:ext cx="5981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赛题把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必须做什么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怎么判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都写死了：三个模块缺一不可，准确率和响应时间是唯一能一票否决的两条。所以我们的开发从第一天起就不是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先做再测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，而是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先把每条要求翻译成可执行的检查项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，再让代码去满足它。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5257800" y="3409950"/>
            <a:ext cx="2095500" cy="933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5429250" y="356235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赛题类型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5429250" y="377190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应用类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企业命题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7486650" y="3409950"/>
            <a:ext cx="2095500" cy="933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658100" y="356235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程序形态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658100" y="3771900"/>
            <a:ext cx="17526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不限（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Web / PC / App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9715500" y="3409950"/>
            <a:ext cx="2095500" cy="933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9886950" y="356235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核心场景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9886950" y="3771900"/>
            <a:ext cx="175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办公文档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汇总表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5257800" y="4514850"/>
            <a:ext cx="6553200" cy="600075"/>
          </a:xfrm>
          <a:prstGeom prst="rect">
            <a:avLst/>
          </a:prstGeom>
          <a:solidFill>
            <a:srgbClr val="FFF8E1"/>
          </a:solidFill>
          <a:ln w="12700">
            <a:solidFill>
              <a:srgbClr val="F0DCA8"/>
            </a:solidFill>
            <a:prstDash val="solid"/>
          </a:ln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448300" y="4667250"/>
            <a:ext cx="6172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A6D1F"/>
                </a:solidFill>
                <a:latin typeface="Microsoft YaHei"/>
                <a:ea typeface="Microsoft YaHei"/>
              </a:rPr>
              <a:t>一句话：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比赛不会问你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用了什么模型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，只会问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填得准不准、快不快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5295900" y="5448300"/>
            <a:ext cx="6515100" cy="857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5257800" y="5448300"/>
            <a:ext cx="6553200" cy="857250"/>
          </a:xfrm>
          <a:custGeom>
            <a:pathLst>
              <a:path w="688" h="90">
                <a:moveTo>
                  <a:pt x="0" y="0"/>
                </a:moveTo>
                <a:lnTo>
                  <a:pt x="4" y="0"/>
                </a:lnTo>
                <a:lnTo>
                  <a:pt x="4" y="90"/>
                </a:lnTo>
                <a:lnTo>
                  <a:pt x="0" y="9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5486400" y="5581650"/>
            <a:ext cx="61341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赛题原文：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需要一种智能化的解决方案，能够自动理解、提取并结构化这些非标准化的文本内容，从而将人力从这种低价值的重复劳动中解放出来。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83" name="" descr="&lt;Slide style={{ width: 1280, height: 720, position: 'relative', background: '#FFFFFF', padding: 0, fontFamily: 'Microsoft YaHei' }}&gt;&#10;    &lt;Box style={{ position: 'absolute', top: 0, left: 0, width: 1280, height: 8, background: '#1E4FA8' }} /&gt;&#10;&#10;    &lt;Box style={{ position: 'absolute', top: 40, left: 40, width: 1200 }}&gt;&#10;        &lt;Text style={{ fontSize: 34, color: '#0E3F8C', fontWeight: 'bold' }}&gt;真实痛点：难的不是&quot;读&quot;，是读完没有落点&lt;/Text&gt;&#10;        &lt;Text style={{ fontSize: 16, color: '#8B97A8', marginTop: 8 }}&gt;赛题开篇描述的场景，几乎就是实验室里帮老师整理材料的日常&lt;/Text&gt;&#10;    &lt;/Box&gt;&#10;&#10;    {/* 上：人工流程 */}&#10;    &lt;Box style={{ position: 'absolute', top: 132, left: 40, width: 1200, flexDirection: 'row', alignItems: 'center', gap: 14 }}&gt;&#10;        &lt;Box style={{ flex: 1, background: '#F7F9FC', border: '1px solid #D6DCE5', padding: '18px 20px' }}&gt;&#10;            &lt;Text style={{ fontSize: 13, color: '#8B97A8' }}&gt;环节一&lt;/Text&gt;&#10;            &lt;Text style={{ fontSize: 20, color: '#1A2230', fontWeight: 'bold', marginTop: 4 }}&gt;逐份阅读文档&lt;/Text&gt;&#10;            &lt;Text style={{ fontSize: 15, color: '#4A5568', marginTop: 6 }}&gt;十份文档十种写法&lt;/Text&gt;&#10;        &lt;/Box&gt;&#10;        &lt;svg width={44} height={24} viewBox='0 0 44 24'&gt;&lt;line x1='2' y1='12' x2='32' y2='12' stroke='#8B97A8' strokeWidth='2' /&gt;&lt;path d='M32 6 L42 12 L32 18 Z' fill='#8B97A8' /&gt;&lt;/svg&gt;&#10;        &lt;Box style={{ flex: 1, background: '#F7F9FC', border: '1px solid #D6DCE5', padding: '18px 20px' }}&gt;&#10;            &lt;Text style={{ fontSize: 13, color: '#8B97A8' }}&gt;环节二&lt;/Text&gt;&#10;            &lt;Text style={{ fontSize: 20, color: '#1A2230', fontWeight: 'bold', marginTop: 4 }}&gt;手工摘抄到草稿&lt;/Text&gt;&#10;            &lt;Text style={{ fontSize: 15, color: '#4A5568', marginTop: 6 }}&gt;金额、日期、名称各处散落&lt;/Text&gt;&#10;        &lt;/Box&gt;&#10;        &lt;svg width={44} height={24} viewBox='0 0 44 24'&gt;&lt;line x1='2' y1='12' x2='32' y2='12' stroke='#8B97A8' strokeWidth='2' /&gt;&lt;path d='M32 6 L42 12 L32 18 Z' fill='#8B97A8' /&gt;&lt;/svg&gt;&#10;        &lt;Box style={{ flex: 1, background: '#F7F9FC', border: '1px solid #D6DCE5', padding: '18px 20px' }}&gt;&#10;            &lt;Text style={{ fontSize: 13, color: '#8B97A8' }}&gt;环节三&lt;/Text&gt;&#10;            &lt;Text style={{ fontSize: 20, color: '#1A2230', fontWeight: 'bold', marginTop: 4 }}&gt;逐格敲进 Excel&lt;/Text&gt;&#10;            &lt;Text style={{ fontSize: 15, color: '#4A5568', marginTop: 6 }}&gt;敲错一个数字就重来&lt;/Text&gt;&#10;        &lt;/Box&gt;&#10;        &lt;svg width={44} height={24} viewBox='0 0 44 24'&gt;&lt;line x1='2' y1='12' x2='32' y2='12' stroke='#8B97A8' strokeWidth='2' /&gt;&lt;path d='M32 6 L42 12 L32 18 Z' fill='#8B97A8' /&gt;&lt;/svg&gt;&#10;        &lt;Box style={{ flex: 1, background: '#FDECEA', border: '1px solid #F0C4BF', padding: '18px 20px' }}&gt;&#10;            &lt;Text style={{ fontSize: 13, color: '#B04A45' }}&gt;结果&lt;/Text&gt;&#10;            &lt;Text style={{ fontSize: 20, color: '#1A2230', fontWeight: 'bold', marginTop: 4 }}&gt;重复、易错、难复用&lt;/Text&gt;&#10;            &lt;Text style={{ fontSize: 15, color: '#4A5568', marginTop: 6 }}&gt;数据散在文件里，查不到&lt;/Text&gt;&#10;        &lt;/Box&gt;&#10;    &lt;/Box&gt;&#10;&#10;    {/* 下：长文 */}&#10;    &lt;Box style={{ position: 'absolute', top: 300, left: 40, width: 1200 }}&gt;&#10;        &lt;Box style={{ background: '#FFFFFF', borderTop: '1px solid #D6DCE5', paddingTop: 22 }}&gt;&#10;            &lt;Text style={{ fontSize: 18, color: '#4A5568', lineHeight: 1.95 }}&gt;&#10;                赛题开篇的场景很具体：工作人员要从大量格式不一、结构松散的文档里，人工阅读、理解、摘出关键信息，再手动整理进 Excel 或数据库。这件事的难点其实不在&quot;读&quot;——读得再快，如果没有结构化的落点，信息仍然散在几十个文件里。同一份合同，金额在这里、日期在那里、甲乙方名称又藏在另一段；十份文档就是十种写法。重复劳动只是表象，真正的成本是三条：时间被切碎、错误难追溯、数据无法复用。所以我们给自己定的目标不是&quot;做一个更快的阅读器&quot;，而是一条从文档到表格的完整通路：先让程序读懂结构，再让模型只做它擅长的判断，最后用确定性代码把值写回模板。后面要讲的五层管线，就是这条通路的具体拆解。&#10;            &lt;/Text&gt;&#10;        &lt;/Box&gt;&#10;        &lt;Box style={{ marginTop: 20, background: '#F0F5FC', borderLeft: '4px solid #1E4FA8', padding: '16px 22px' }}&gt;&#10;            &lt;Text style={{ fontSize: 19, color: '#0E3F8C', fontWeight: 'bold' }}&gt;&#10;                判断：要解的不是&quot;阅读速度&quot;，而是&quot;从非结构化到结构化的最后一公里&quot;。&#10;            &lt;/Text&gt;&#10;        &lt;/Box&gt;&#10;    &lt;/Box&gt;&#10;&#10;    &lt;Box style={{ position: 'absolute', left: 40, bottom: 20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05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81000" y="3810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真实痛点：难的不是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读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，是读完没有落点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81000" y="8477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赛题开篇描述的场景，几乎就是实验室里帮老师整理材料的日常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381000" y="1257300"/>
            <a:ext cx="234315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环节一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571500" y="1619250"/>
            <a:ext cx="1962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逐份阅读文档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571500" y="19050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十份文档十种写法</a:t>
            </a:r>
            <a:endParaRPr/>
          </a:p>
        </p:txBody>
      </p:sp>
      <p:pic>
        <p:nvPicPr>
          <p:cNvPr id="5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57500" y="1638300"/>
            <a:ext cx="419100" cy="228600"/>
          </a:xfrm>
          <a:prstGeom prst="rect">
            <a:avLst/>
          </a:prstGeom>
          <a:ln/>
        </p:spPr>
      </p:pic>
      <p:sp>
        <p:nvSpPr>
          <p:cNvPr id="593" name=""/>
          <p:cNvSpPr/>
          <p:nvPr/>
        </p:nvSpPr>
        <p:spPr>
          <a:xfrm rot="0" flipH="0" flipV="0">
            <a:off x="3409950" y="1257300"/>
            <a:ext cx="234315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600450" y="142875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环节二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3600450" y="1619250"/>
            <a:ext cx="1962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手工摘抄到草稿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3600450" y="19050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金额、日期、名称各处散落</a:t>
            </a:r>
            <a:endParaRPr/>
          </a:p>
        </p:txBody>
      </p:sp>
      <p:pic>
        <p:nvPicPr>
          <p:cNvPr id="5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886450" y="1638300"/>
            <a:ext cx="419100" cy="228600"/>
          </a:xfrm>
          <a:prstGeom prst="rect">
            <a:avLst/>
          </a:prstGeom>
          <a:ln/>
        </p:spPr>
      </p:pic>
      <p:sp>
        <p:nvSpPr>
          <p:cNvPr id="598" name=""/>
          <p:cNvSpPr/>
          <p:nvPr/>
        </p:nvSpPr>
        <p:spPr>
          <a:xfrm rot="0" flipH="0" flipV="0">
            <a:off x="6438900" y="1257300"/>
            <a:ext cx="234315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6629400" y="142875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环节三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629400" y="1619250"/>
            <a:ext cx="1962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逐格敲进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Excel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629400" y="19050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敲错一个数字就重来</a:t>
            </a:r>
            <a:endParaRPr/>
          </a:p>
        </p:txBody>
      </p:sp>
      <p:pic>
        <p:nvPicPr>
          <p:cNvPr id="6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15400" y="1638300"/>
            <a:ext cx="419100" cy="228600"/>
          </a:xfrm>
          <a:prstGeom prst="rect">
            <a:avLst/>
          </a:prstGeom>
          <a:ln/>
        </p:spPr>
      </p:pic>
      <p:sp>
        <p:nvSpPr>
          <p:cNvPr id="603" name=""/>
          <p:cNvSpPr/>
          <p:nvPr/>
        </p:nvSpPr>
        <p:spPr>
          <a:xfrm rot="0" flipH="0" flipV="0">
            <a:off x="9467850" y="1257300"/>
            <a:ext cx="2343150" cy="990600"/>
          </a:xfrm>
          <a:prstGeom prst="rect">
            <a:avLst/>
          </a:prstGeom>
          <a:solidFill>
            <a:srgbClr val="FDECEA"/>
          </a:solidFill>
          <a:ln w="12700">
            <a:solidFill>
              <a:srgbClr val="F0C4BF"/>
            </a:solidFill>
            <a:prstDash val="solid"/>
          </a:ln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658350" y="1428750"/>
            <a:ext cx="1962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4A45"/>
                </a:solidFill>
                <a:latin typeface="Microsoft YaHei"/>
                <a:ea typeface="Microsoft YaHei"/>
              </a:rPr>
              <a:t>结果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658350" y="1619250"/>
            <a:ext cx="1962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重复、易错、难复用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9658350" y="190500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数据散在文件里，查不到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381000" y="2867025"/>
            <a:ext cx="11430000" cy="22288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8" name=""/>
          <p:cNvSpPr/>
          <p:nvPr/>
        </p:nvSpPr>
        <p:spPr>
          <a:xfrm rot="0" flipH="0" flipV="0">
            <a:off x="381000" y="2857500"/>
            <a:ext cx="11430000" cy="2238375"/>
          </a:xfrm>
          <a:custGeom>
            <a:pathLst>
              <a:path w="1200" h="235">
                <a:moveTo>
                  <a:pt x="0" y="0"/>
                </a:moveTo>
                <a:lnTo>
                  <a:pt x="1200" y="0"/>
                </a:lnTo>
                <a:lnTo>
                  <a:pt x="120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381000" y="3076575"/>
            <a:ext cx="11430000" cy="2009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赛题开篇的场景很具体：工作人员要从大量格式不一、结构松散的文档里，人工阅读、理解、摘出关键信息，再手动整理进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Excel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或数据库。这件事的难点其实不在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读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"——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读得再快，如果没有结构化的落点，信息仍然散在几十个文件里。同一份合同，金额在这里、日期在那里、甲乙方名称又藏在另一段；十份文档就是十种写法。重复劳动只是表象，真正的成本是三条：时间被切碎、错误难追溯、数据无法复用。所以我们给自己定的目标不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做一个更快的阅读器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，而是一条从文档到表格的完整通路：先让程序读懂结构，再让模型只做它擅长的判断，最后用确定性代码把值写回模板。后面要讲的五层管线，就是这条通路的具体拆解。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419100" y="5276850"/>
            <a:ext cx="11430000" cy="52387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381000" y="5276850"/>
            <a:ext cx="11468100" cy="523875"/>
          </a:xfrm>
          <a:custGeom>
            <a:pathLst>
              <a:path w="1204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28650" y="5429250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判断：要解的不是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阅读速度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，而是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从非结构化到结构化的最后一公里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15" name="" descr="&lt;Slide style={{ width: 1280, height: 720, position: 'relative', background: '#FFFFFF', padding: 0, fontFamily: 'Microsoft YaHei' }}&gt;&#10;    &lt;Box style={{ position: 'absolute', top: 0, left: 0, width: 1280, height: 8, background: '#1E4FA8' }} /&gt;&#10;&#10;    &lt;Box style={{ position: 'absolute', top: 32, left: 40, width: 1200 }}&gt;&#10;        &lt;Text style={{ fontSize: 34, color: '#0E3F8C', fontWeight: 'bold' }}&gt;赛题考什么：三个模块 + 四项指标&lt;/Text&gt;&#10;        &lt;Text style={{ fontSize: 16, color: '#8B97A8', marginTop: 6 }}&gt;模块缺一不可，指标里有两项能一票否决 —— 这就是我们的需求清单&lt;/Text&gt;&#10;    &lt;/Box&gt;&#10;&#10;    {/* 三个必须模块 */}&#10;    &lt;Box style={{ position: 'absolute', top: 108, left: 40, width: 1200 }}&gt;&#10;        &lt;Box style={{ flexDirection: 'row', alignItems: 'center', gap: 10 }}&gt;&#10;            &lt;Box style={{ width: 4, height: 20, background: '#1E4FA8' }} /&gt;&#10;            &lt;Text style={{ fontSize: 18, color: '#0E3F8C', fontWeight: 'bold' }}&gt;三个必须模块&lt;/Text&gt;&#10;            &lt;Text style={{ fontSize: 13, color: '#8B97A8' }}&gt;赛题原文：&quot;本程序必须包含以下三个关键模块&quot;&lt;/Text&gt;&#10;        &lt;/Box&gt;&#10;        &lt;Box style={{ flexDirection: 'row', gap: 14, marginTop: 10 }}&gt;&#10;            &lt;Box style={{ flex: 1, height: 196, background: '#F7F9FC', border: '1px solid #D6DCE5', padding: '16px 18px' }}&gt;&#10;                &lt;Text style={{ fontSize: 12, color: '#1E4FA8', fontWeight: 'bold', letterSpacing: 1 }}&gt;MODULE 01&lt;/Text&gt;&#10;                &lt;Text style={{ fontSize: 21, color: '#1A2230', fontWeight: 'bold', marginTop: 4 }}&gt;文档智能操作&lt;/Text&gt;&#10;                &lt;Text style={{ fontSize: 15, color: '#4A5568', lineHeight: 1.7, marginTop: 8 }}&gt;&#10;                    自然语言指令 → 解析 → 自动执行。覆盖编辑、排版、格式调整、内容提取，且要&quot;理解文档结构&quot;，不能只是字符串替换。&#10;                &lt;/Text&gt;&#10;                &lt;Text style={{ fontSize: 13, color: '#8B97A8', marginTop: 8 }}&gt;意图解析 · 结构感知&lt;/Text&gt;&#10;            &lt;/Box&gt;&#10;            &lt;Box style={{ flex: 1, height: 196, background: '#F7F9FC', border: '1px solid #D6DCE5', padding: '16px 18px' }}&gt;&#10;                &lt;Text style={{ fontSize: 12, color: '#1E4FA8', fontWeight: 'bold', letterSpacing: 1 }}&gt;MODULE 02&lt;/Text&gt;&#10;                &lt;Text style={{ fontSize: 21, color: '#1A2230', fontWeight: 'bold', marginTop: 4 }}&gt;非结构化信息提取&lt;/Text&gt;&#10;                &lt;Text style={{ fontSize: 15, color: '#4A5568', lineHeight: 1.7, marginTop: 8 }}&gt;&#10;                    自动识别导入文档，提取关键信息、实体数据或用户指定内容，并完成数据库存储。原文还加了一句硬要求：&quot;不存在数据识别误差&quot;。&#10;                &lt;/Text&gt;&#10;                &lt;Text style={{ fontSize: 13, color: '#8B97A8', marginTop: 8 }}&gt;提取 · 入库 · 保真&lt;/Text&gt;&#10;            &lt;/Box&gt;&#10;            &lt;Box style={{ flex: 1, height: 196, background: '#F7F9FC', border: '1px solid #D6DCE5', padding: '16px 18px' }}&gt;&#10;                &lt;Text style={{ fontSize: 12, color: '#1E4FA8', fontWeight: 'bold', letterSpacing: 1 }}&gt;MODULE 03&lt;/Text&gt;&#10;                &lt;Text style={{ fontSize: 21, color: '#1A2230', fontWeight: 'bold', marginTop: 4 }}&gt;表格自定义填写&lt;/Text&gt;&#10;                &lt;Text style={{ fontSize: 15, color: '#4A5568', lineHeight: 1.7, marginTop: 8 }}&gt;&#10;                    用户给表格 + 非结构化数据，从数据里自动搜索相关信息并填进表格。用户期望里还追加一条：生成&quot;格式严谨&quot;的汇总表。&#10;                &lt;/Text&gt;&#10;                &lt;Text style={{ fontSize: 13, color: '#8B97A8', marginTop: 8 }}&gt;检索 · 判值 · 写回&lt;/Text&gt;&#10;            &lt;/Box&gt;&#10;        &lt;/Box&gt;&#10;    &lt;/Box&gt;&#10;&#10;    {/* 四项指标 */}&#10;    &lt;Box style={{ position: 'absolute', top: 344, left: 40, width: 1200 }}&gt;&#10;        &lt;Box style={{ flexDirection: 'row', alignItems: 'center', gap: 10 }}&gt;&#10;            &lt;Box style={{ width: 4, height: 20, background: '#1E4FA8' }} /&gt;&#10;            &lt;Text style={{ fontSize: 18, color: '#0E3F8C', fontWeight: 'bold' }}&gt;四项技术指标&lt;/Text&gt;&#10;            &lt;Text style={{ fontSize: 13, color: '#8B97A8' }}&gt;准确率与响应时间是唯一的硬门槛&lt;/Text&gt;&#10;        &lt;/Box&gt;&#10;&#10;        &lt;Box style={{ flexDirection: 'row', gap: 12, marginTop: 10 }}&gt;&#10;            &lt;Box style={{ flex: 1, background: '#FFFFFF', border: '1px solid #E5E7EB', borderTop: '3px solid #3D7BD9', padding: '12px 14px', height: 172 }}&gt;&#10;                &lt;Text style={{ fontSize: 12, color: '#8B97A8', fontWeight: 'bold' }}&gt;指标 01&lt;/Text&gt;&#10;                &lt;Text style={{ fontSize: 17, color: '#1A2230', fontWeight: 'bold', marginTop: 2 }}&gt;程序形态不限&lt;/Text&gt;&#10;                &lt;Text style={{ fontSize: 14, color: '#4A5568', lineHeight: 1.6, marginTop: 6 }}&gt;&#10;                    H5 / App / Web / PC 均可；可基于第三方商业 AI 平台&#10;                &lt;/Text&gt;&#10;                &lt;Box style={{ marginTop: 8, background: '#F7F9FC', padding: '6px 8px' }}&gt;&#10;                    &lt;Text style={{ fontSize: 13, color: '#0E3F8C' }}&gt;我们：Web 操作台 + CLI&lt;/Text&gt;&#10;                &lt;/Box&gt;&#10;            &lt;/Box&gt;&#10;            &lt;Box style={{ flex: 1, background: '#FFF8E1', border: '1px solid #F0DCA8', borderTop: '3px solid #FFC107', padding: '12px 14px', height: 172 }}&gt;&#10;                &lt;Text style={{ fontSize: 12, color: '#8A6D1F', fontWeight: 'bold' }}&gt;指标 02 · 硬门槛&lt;/Text&gt;&#10;                &lt;Text style={{ fontSize: 17, color: '#1A2230', fontWeight: 'bold', marginTop: 2 }}&gt;准确率 &amp;gt; 80%&lt;/Text&gt;&#10;                &lt;Text style={{ fontSize: 14, color: '#4A5568', lineHeight: 1.6, marginTop: 6 }}&gt;&#10;                    多类型数据稳定运行，信息提取不得有过大误差&#10;                &lt;/Text&gt;&#10;                &lt;Box style={{ marginTop: 8, background: '#FFFDF5', padding: '6px 8px' }}&gt;&#10;                    &lt;Text style={{ fontSize: 13, color: '#8A6D1F', fontWeight: 'bold' }}&gt;实测：最高 96.8%，最低 85.7%&lt;/Text&gt;&#10;                &lt;/Box&gt;&#10;            &lt;/Box&gt;&#10;            &lt;Box style={{ flex: 1, background: '#FFFFFF', border: '1px solid #E5E7EB', borderTop: '3px solid #3D7BD9', padding: '12px 14px', height: 172 }}&gt;&#10;                &lt;Text style={{ fontSize: 12, color: '#8B97A8', fontWeight: 'bold' }}&gt;指标 03&lt;/Text&gt;&#10;                &lt;Text style={{ fontSize: 17, color: '#1A2230', fontWeight: 'bold', marginTop: 2 }}&gt;样本人工标注&lt;/Text&gt;&#10;                &lt;Text style={{ fontSize: 14, color: '#4A5568', lineHeight: 1.6, marginTop: 6 }}&gt;&#10;                    训练与验证样本均需人工标注，并经过多轮审核&#10;                &lt;/Text&gt;&#10;                &lt;Box style={{ marginTop: 8, background: '#F7F9FC', padding: '6px 8px' }}&gt;&#10;                    &lt;Text style={{ fontSize: 13, color: '#0E3F8C' }}&gt;6 轮审核 + 标准答案档案&lt;/Text&gt;&#10;                &lt;/Box&gt;&#10;            &lt;/Box&gt;&#10;            &lt;Box style={{ flex: 1, background: '#FFFFFF', border: '1px solid #E5E7EB', borderTop: '3px solid #3D7BD9', padding: '12px 14px', height: 172 }}&gt;&#10;                &lt;Text style={{ fontSize: 12, color: '#8B97A8', fontWeight: 'bold' }}&gt;指标 04&lt;/Text&gt;&#10;                &lt;Text style={{ fontSize: 17, color: '#1A2230', fontWeight: 'bold', marginTop: 2 }}&gt;识别 API 异步&lt;/Text&gt;&#10;                &lt;Text style={{ fontSize: 14, color: '#4A5568', lineHeight: 1.6, marginTop: 6 }}&gt;&#10;                    识别分类模块必须提供接口，且支持异步调用&#10;                &lt;/Text&gt;&#10;                &lt;Box style={{ marginTop: 8, background: '#F7F9FC', padding: '6px 8px' }}&gt;&#10;                    &lt;Text style={{ fontSize: 13, color: '#0E3F8C' }}&gt;/api/recognize + job 轮询&lt;/Text&gt;&#10;                &lt;/Box&gt;&#10;            &lt;/Box&gt;&#10;        &lt;/Box&gt;&#10;    &lt;/Box&gt;&#10;&#10;    &lt;Box style={{ position: 'absolute', left: 40, bottom: 44, width: 1200, background: '#F0F5FC', borderLeft: '4px solid #1E4FA8', padding: '12px 20px' }}&gt;&#10;        &lt;Text style={{ fontSize: 17, color: '#0E3F8C', fontWeight: 'bold' }}&gt;&#10;            判断：这七条就是需求清单 —— 我们的做法是把每一条都翻译成一个可执行的检查项。&#10;        &lt;/Text&gt;&#10;    &lt;/Box&gt;&#10;&#10;    &lt;Box style={{ position: 'absolute', left: 40, bottom: 16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06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81000" y="3048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赛题考什么：三个模块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四项指标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81000" y="752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模块缺一不可，指标里有两项能一票否决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这就是我们的需求清单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81000" y="1038225"/>
            <a:ext cx="38100" cy="190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14350" y="10287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三个必须模块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1638300" y="1057275"/>
            <a:ext cx="259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赛题原文：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本程序必须包含以下三个关键模块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381000" y="1333500"/>
            <a:ext cx="3724275" cy="1866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52450" y="1485900"/>
            <a:ext cx="3381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Microsoft YaHei"/>
                <a:ea typeface="Microsoft YaHei"/>
              </a:rPr>
              <a:t>MODULE 01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52450" y="1666875"/>
            <a:ext cx="3381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文档智能操作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33813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自然语言指令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自动执行。覆盖编辑、排版、格式调整、内容提取，且要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理解文档结构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，不能只是字符串替换。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552450" y="2943225"/>
            <a:ext cx="3381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意图解析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结构感知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4238625" y="1333500"/>
            <a:ext cx="3714750" cy="1866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410075" y="1485900"/>
            <a:ext cx="3371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Microsoft YaHei"/>
                <a:ea typeface="Microsoft YaHei"/>
              </a:rPr>
              <a:t>MODULE 02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4410075" y="1666875"/>
            <a:ext cx="3371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非结构化信息提取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410075" y="1990725"/>
            <a:ext cx="33718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自动识别导入文档，提取关键信息、实体数据或用户指定内容，并完成数据库存储。原文还加了一句硬要求：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不存在数据识别误差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4410075" y="2943225"/>
            <a:ext cx="3371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提取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入库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保真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8086725" y="1333500"/>
            <a:ext cx="3724275" cy="18669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258175" y="1485900"/>
            <a:ext cx="3381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1E4FA8"/>
                </a:solidFill>
                <a:latin typeface="Microsoft YaHei"/>
                <a:ea typeface="Microsoft YaHei"/>
              </a:rPr>
              <a:t>MODULE 03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258175" y="1666875"/>
            <a:ext cx="3381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表格自定义填写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8258175" y="1990725"/>
            <a:ext cx="33813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用户给表格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非结构化数据，从数据里自动搜索相关信息并填进表格。用户期望里还追加一条：生成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格式严谨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的汇总表。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258175" y="2943225"/>
            <a:ext cx="3381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检索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判值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写回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381000" y="3286125"/>
            <a:ext cx="38100" cy="1905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14350" y="32766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四项技术指标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638300" y="33051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准确率与响应时间是唯一的硬门槛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381000" y="3609975"/>
            <a:ext cx="2771775" cy="1609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381000" y="3581400"/>
            <a:ext cx="2771775" cy="1638300"/>
          </a:xfrm>
          <a:custGeom>
            <a:pathLst>
              <a:path w="291" h="172">
                <a:moveTo>
                  <a:pt x="0" y="0"/>
                </a:moveTo>
                <a:lnTo>
                  <a:pt x="291" y="0"/>
                </a:lnTo>
                <a:lnTo>
                  <a:pt x="291" y="3"/>
                </a:lnTo>
                <a:lnTo>
                  <a:pt x="0" y="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14350" y="372427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B97A8"/>
                </a:solidFill>
                <a:latin typeface="Microsoft YaHei"/>
                <a:ea typeface="Microsoft YaHei"/>
              </a:rPr>
              <a:t>指标</a:t>
            </a: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14350" y="3886200"/>
            <a:ext cx="2505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程序形态不限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14350" y="4143375"/>
            <a:ext cx="2505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H5 / App / Web / PC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均可；可基于第三方商业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平台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514350" y="4733925"/>
            <a:ext cx="2505075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590550" y="479107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我们：</a:t>
            </a:r>
            <a:r>
              <a:rPr lang="en-US" sz="975">
                <a:solidFill>
                  <a:srgbClr val="0E3F8C"/>
                </a:solidFill>
                <a:latin typeface="Microsoft YaHei"/>
                <a:ea typeface="Microsoft YaHei"/>
              </a:rPr>
              <a:t>Web </a:t>
            </a: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操作台</a:t>
            </a:r>
            <a:r>
              <a:rPr lang="en-US" sz="975">
                <a:solidFill>
                  <a:srgbClr val="0E3F8C"/>
                </a:solidFill>
                <a:latin typeface="Microsoft YaHei"/>
                <a:ea typeface="Microsoft YaHei"/>
              </a:rPr>
              <a:t> + CLI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267075" y="3609975"/>
            <a:ext cx="2771775" cy="1609725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649" name=""/>
          <p:cNvSpPr/>
          <p:nvPr/>
        </p:nvSpPr>
        <p:spPr>
          <a:xfrm rot="0" flipH="0" flipV="0">
            <a:off x="3267075" y="3581400"/>
            <a:ext cx="2771775" cy="1638300"/>
          </a:xfrm>
          <a:custGeom>
            <a:pathLst>
              <a:path w="291" h="172">
                <a:moveTo>
                  <a:pt x="0" y="0"/>
                </a:moveTo>
                <a:lnTo>
                  <a:pt x="291" y="0"/>
                </a:lnTo>
                <a:lnTo>
                  <a:pt x="291" y="3"/>
                </a:lnTo>
                <a:lnTo>
                  <a:pt x="0" y="3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400425" y="372427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A6D1F"/>
                </a:solidFill>
                <a:latin typeface="Microsoft YaHei"/>
                <a:ea typeface="Microsoft YaHei"/>
              </a:rPr>
              <a:t>指标</a:t>
            </a:r>
            <a:r>
              <a:rPr lang="en-US" sz="900" b="1">
                <a:solidFill>
                  <a:srgbClr val="8A6D1F"/>
                </a:solidFill>
                <a:latin typeface="Microsoft YaHei"/>
                <a:ea typeface="Microsoft YaHei"/>
              </a:rPr>
              <a:t> 02 · </a:t>
            </a:r>
            <a:r>
              <a:rPr lang="zh-CN" sz="900" b="1">
                <a:solidFill>
                  <a:srgbClr val="8A6D1F"/>
                </a:solidFill>
                <a:latin typeface="Microsoft YaHei"/>
                <a:ea typeface="Microsoft YaHei"/>
              </a:rPr>
              <a:t>硬门槛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3400425" y="3886200"/>
            <a:ext cx="2505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准确率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&gt; 80%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3400425" y="4143375"/>
            <a:ext cx="2505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多类型数据稳定运行，信息提取不得有过大误差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3400425" y="4733925"/>
            <a:ext cx="2505075" cy="266700"/>
          </a:xfrm>
          <a:prstGeom prst="rect">
            <a:avLst/>
          </a:prstGeom>
          <a:solidFill>
            <a:srgbClr val="FFFDF5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3476625" y="479107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8A6D1F"/>
                </a:solidFill>
                <a:latin typeface="Microsoft YaHei"/>
                <a:ea typeface="Microsoft YaHei"/>
              </a:rPr>
              <a:t>实测：最高</a:t>
            </a:r>
            <a:r>
              <a:rPr lang="en-US" sz="975" b="1">
                <a:solidFill>
                  <a:srgbClr val="8A6D1F"/>
                </a:solidFill>
                <a:latin typeface="Microsoft YaHei"/>
                <a:ea typeface="Microsoft YaHei"/>
              </a:rPr>
              <a:t> 96.8%</a:t>
            </a:r>
            <a:r>
              <a:rPr lang="zh-CN" sz="975" b="1">
                <a:solidFill>
                  <a:srgbClr val="8A6D1F"/>
                </a:solidFill>
                <a:latin typeface="Microsoft YaHei"/>
                <a:ea typeface="Microsoft YaHei"/>
              </a:rPr>
              <a:t>，最低</a:t>
            </a:r>
            <a:r>
              <a:rPr lang="en-US" sz="975" b="1">
                <a:solidFill>
                  <a:srgbClr val="8A6D1F"/>
                </a:solidFill>
                <a:latin typeface="Microsoft YaHei"/>
                <a:ea typeface="Microsoft YaHei"/>
              </a:rPr>
              <a:t> 85.7%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153150" y="3609975"/>
            <a:ext cx="2771775" cy="1609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6153150" y="3581400"/>
            <a:ext cx="2771775" cy="1638300"/>
          </a:xfrm>
          <a:custGeom>
            <a:pathLst>
              <a:path w="291" h="172">
                <a:moveTo>
                  <a:pt x="0" y="0"/>
                </a:moveTo>
                <a:lnTo>
                  <a:pt x="291" y="0"/>
                </a:lnTo>
                <a:lnTo>
                  <a:pt x="291" y="3"/>
                </a:lnTo>
                <a:lnTo>
                  <a:pt x="0" y="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286500" y="372427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B97A8"/>
                </a:solidFill>
                <a:latin typeface="Microsoft YaHei"/>
                <a:ea typeface="Microsoft YaHei"/>
              </a:rPr>
              <a:t>指标</a:t>
            </a: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286500" y="3886200"/>
            <a:ext cx="2505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样本人工标注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286500" y="4143375"/>
            <a:ext cx="2505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训练与验证样本均需人工标注，并经过多轮审核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286500" y="4733925"/>
            <a:ext cx="2505075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362700" y="479107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3F8C"/>
                </a:solidFill>
                <a:latin typeface="Microsoft YaHei"/>
                <a:ea typeface="Microsoft YaHei"/>
              </a:rPr>
              <a:t>6 </a:t>
            </a: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轮审核</a:t>
            </a:r>
            <a:r>
              <a:rPr lang="en-US" sz="975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标准答案档案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9039225" y="3609975"/>
            <a:ext cx="2771775" cy="16097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9039225" y="3581400"/>
            <a:ext cx="2771775" cy="1638300"/>
          </a:xfrm>
          <a:custGeom>
            <a:pathLst>
              <a:path w="291" h="172">
                <a:moveTo>
                  <a:pt x="0" y="0"/>
                </a:moveTo>
                <a:lnTo>
                  <a:pt x="291" y="0"/>
                </a:lnTo>
                <a:lnTo>
                  <a:pt x="291" y="3"/>
                </a:lnTo>
                <a:lnTo>
                  <a:pt x="0" y="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172575" y="372427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8B97A8"/>
                </a:solidFill>
                <a:latin typeface="Microsoft YaHei"/>
                <a:ea typeface="Microsoft YaHei"/>
              </a:rPr>
              <a:t>指标</a:t>
            </a: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 04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9172575" y="3886200"/>
            <a:ext cx="2505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识别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异步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9172575" y="4143375"/>
            <a:ext cx="2505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识别分类模块必须提供接口，且支持异步调用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9172575" y="4733925"/>
            <a:ext cx="2505075" cy="2667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9248775" y="479107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E3F8C"/>
                </a:solidFill>
                <a:latin typeface="Microsoft YaHei"/>
                <a:ea typeface="Microsoft YaHei"/>
              </a:rPr>
              <a:t>/api/recognize + job </a:t>
            </a:r>
            <a:r>
              <a:rPr lang="zh-CN" sz="975">
                <a:solidFill>
                  <a:srgbClr val="0E3F8C"/>
                </a:solidFill>
                <a:latin typeface="Microsoft YaHei"/>
                <a:ea typeface="Microsoft YaHei"/>
              </a:rPr>
              <a:t>轮询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419100" y="6010275"/>
            <a:ext cx="11391900" cy="4286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381000" y="6010275"/>
            <a:ext cx="11430000" cy="428625"/>
          </a:xfrm>
          <a:custGeom>
            <a:pathLst>
              <a:path w="1200" h="45">
                <a:moveTo>
                  <a:pt x="0" y="0"/>
                </a:moveTo>
                <a:lnTo>
                  <a:pt x="4" y="0"/>
                </a:lnTo>
                <a:lnTo>
                  <a:pt x="4" y="45"/>
                </a:lnTo>
                <a:lnTo>
                  <a:pt x="0" y="4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09600" y="6124575"/>
            <a:ext cx="1101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判断：这七条就是需求清单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 ——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我们的做法是把每一条都翻译成一个可执行的检查项。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1372850" y="65532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06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74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6, left: 40, width: 1200 }}&gt;&#13;&#10;        &lt;Text style={{ fontSize: 34, color: '#0E3F8C', fontWeight: 'bold' }}&gt;比赛当天怎么测：五个动作、两条红线&lt;/Text&gt;&#13;&#10;        &lt;Text style={{ fontSize: 16, color: '#8B97A8', marginTop: 6 }}&gt;赛题【评价方法】写得很细，我们把这条流程原样做成了验收脚本&lt;/Text&gt;&#13;&#10;    &lt;/Box&gt;&#13;&#10;&#13;&#10;    {/* 时间轴 */}&#13;&#10;    &lt;Box style={{ position: 'absolute', top: 128, left: 40, width: 1200 }}&gt;&#13;&#10;        &lt;Box style={{ flexDirection: 'row', alignItems: 'flex-start', gap: 10 }}&gt;&#13;&#10;            &lt;Box style={{ flex: 1 }}&gt;&#13;&#10;                &lt;Box style={{ flexDirection: 'row', alignItems: 'center', gap: 10 }}&gt;&#13;&#10;                    &lt;Box style={{ width: 34, height: 34, borderRadius: 17, background: '#1E4FA8', justifyContent: 'center', alignItems: 'center' }}&gt;&#13;&#10;                        &lt;Text style={{ fontSize: 15, color: '#FFFFFF', fontWeight: 'bold' }}&gt;1&lt;/Text&gt;&#13;&#10;                    &lt;/Box&gt;&#13;&#10;                    &lt;Box style={{ flex: 1, height: 2, background: '#D6DCE5' }} /&gt;&#13;&#10;                &lt;/Box&gt;&#13;&#10;                &lt;Text style={{ fontSize: 19, color: '#1A2230', fontWeight: 'bold', marginTop: 12 }}&gt;上传全部样本&lt;/Text&gt;&#13;&#10;                &lt;Text style={{ fontSize: 15, color: '#4A5568', lineHeight: 1.65, marginTop: 8 }}&gt;&#13;&#10;                    16 份一起传：5 份 docx（≥500KB）、5 份 xlsx（≥500KB）、3 份 md（≥15KB）、3 份 txt（≥15KB）&#13;&#10;                &lt;/Text&gt;&#13;&#10;            &lt;/Box&gt;&#13;&#10;            &lt;Box style={{ flex: 1 }}&gt;&#13;&#10;                &lt;Box style={{ flexDirection: 'row', alignItems: 'center', gap: 10 }}&gt;&#13;&#10;                    &lt;Box style={{ width: 34, height: 34, borderRadius: 17, background: '#1E4FA8', justifyContent: 'center', alignItems: 'center' }}&gt;&#13;&#10;                        &lt;Text style={{ fontSize: 15, color: '#FFFFFF', fontWeight: 'bold' }}&gt;2&lt;/Text&gt;&#13;&#10;                    &lt;/Box&gt;&#13;&#10;                    &lt;Box style={{ flex: 1, height: 2, background: '#D6DCE5' }} /&gt;&#13;&#10;                &lt;/Box&gt;&#13;&#10;                &lt;Text style={{ fontSize: 19, color: '#1A2230', fontWeight: 'bold', marginTop: 12 }}&gt;依次给 5 张模板&lt;/Text&gt;&#13;&#10;                &lt;Text style={{ fontSize: 15, color: '#4A5568', lineHeight: 1.65, marginTop: 8 }}&gt;&#13;&#10;                    模板由比赛方现场提供，word 或 excel 都可能，事先不知道结构&#13;&#10;                &lt;/Text&gt;&#13;&#10;            &lt;/Box&gt;&#13;&#10;            &lt;Box style={{ flex: 1 }}&gt;&#13;&#10;                &lt;Box style={{ flexDirection: 'row', alignItems: 'center', gap: 10 }}&gt;&#13;&#10;                    &lt;Box style={{ width: 34, height: 34, borderRadius: 17, background: '#1E4FA8', justifyContent: 'center', alignItems: 'center' }}&gt;&#13;&#10;                        &lt;Text style={{ fontSize: 15, color: '#FFFFFF', fontWeight: 'bold' }}&gt;3&lt;/Text&gt;&#13;&#10;                    &lt;/Box&gt;&#13;&#10;                    &lt;Box style={{ flex: 1, height: 2, background: '#D6DCE5' }} /&gt;&#13;&#10;                &lt;/Box&gt;&#13;&#10;                &lt;Text style={{ fontSize: 19, color: '#1A2230', fontWeight: 'bold', marginTop: 12 }}&gt;每张跑一次并计时&lt;/Text&gt;&#13;&#10;                &lt;Text style={{ fontSize: 15, color: '#4A5568', lineHeight: 1.65, marginTop: 8 }}&gt;&#13;&#10;                    每上传一张模板运行一次，由比赛方记录响应时间&#13;&#10;                &lt;/Text&gt;&#13;&#10;            &lt;/Box&gt;&#13;&#10;            &lt;Box style={{ flex: 1 }}&gt;&#13;&#10;                &lt;Box style={{ flexDirection: 'row', alignItems: 'center', gap: 10 }}&gt;&#13;&#10;                    &lt;Box style={{ width: 34, height: 34, borderRadius: 17, background: '#1E4FA8', justifyContent: 'center', alignItems: 'center' }}&gt;&#13;&#10;                        &lt;Text style={{ fontSize: 15, color: '#FFFFFF', fontWeight: 'bold' }}&gt;4&lt;/Text&gt;&#13;&#10;                    &lt;/Box&gt;&#13;&#10;                    &lt;Box style={{ flex: 1, height: 2, background: '#D6DCE5' }} /&gt;&#13;&#10;                &lt;/Box&gt;&#13;&#10;                &lt;Text style={{ fontSize: 19, color: '#1A2230', fontWeight: 'bold', marginTop: 12 }}&gt;与样例表比对&lt;/Text&gt;&#13;&#10;                &lt;Text style={{ fontSize: 15, color: '#4A5568', lineHeight: 1.65, marginTop: 8 }}&gt;&#13;&#10;                    填写结果与样例表格逐格对比，计算准确率&#13;&#10;                &lt;/Text&gt;&#13;&#10;            &lt;/Box&gt;&#13;&#10;            &lt;Box style={{ flex: 1 }}&gt;&#13;&#10;                &lt;Box style={{ flexDirection: 'row', alignItems: 'center', gap: 10 }}&gt;&#13;&#10;                    &lt;Box style={{ width: 34, height: 34, borderRadius: 17, background: '#0E3F8C', justifyContent: 'center', alignItems: 'center' }}&gt;&#13;&#10;                        &lt;Text style={{ fontSize: 15, color: '#FFFFFF', fontWeight: 'bold' }}&gt;5&lt;/Text&gt;&#13;&#10;                    &lt;/Box&gt;&#13;&#10;                &lt;/Box&gt;&#13;&#10;                &lt;Text style={{ fontSize: 19, color: '#1A2230', fontWeight: 'bold', marginTop: 12 }}&gt;算两张平均分&lt;/Text&gt;&#13;&#10;                &lt;Text style={{ fontSize: 15, color: '#4A5568', lineHeight: 1.65, marginTop: 8 }}&gt;&#13;&#10;                    5 张填完，计算平均准确率与平均响应时间&#13;&#10;                &lt;/Text&gt;&#13;&#10;            &lt;/Box&gt;&#13;&#10;        &lt;/Box&gt;&#13;&#10;    &lt;/Box&gt;&#13;&#10;&#13;&#10;    {/* 两条红线 */}&#13;&#10;    &lt;Box style={{ position: 'absolute', top: 400, left: 40, width: 1200, flexDirection: 'row', gap: 16 }}&gt;&#13;&#10;        &lt;Box style={{ flex: 1, background: '#FDECEA', border: '1px solid #F0C4BF', padding: '22px 26px' }}&gt;&#13;&#10;            &lt;Text style={{ fontSize: 14, color: '#B04A45', fontWeight: 'bold', letterSpacing: 1 }}&gt;红线一&lt;/Text&gt;&#13;&#10;            &lt;Text style={{ fontSize: 44, color: '#0E3F8C', fontWeight: 'bold', marginTop: 4 }}&gt;≥ 80%&lt;/Text&gt;&#13;&#10;            &lt;Text style={{ fontSize: 17, color: '#1A2230', marginTop: 6 }}&gt;每一张表的准确率，不是平均后达标&lt;/Text&gt;&#13;&#10;        &lt;/Box&gt;&#13;&#10;        &lt;Box style={{ flex: 1, background: '#FDECEA', border: '1px solid #F0C4BF', padding: '22px 26px' }}&gt;&#13;&#10;            &lt;Text style={{ fontSize: 14, color: '#B04A45', fontWeight: 'bold', letterSpacing: 1 }}&gt;红线二&lt;/Text&gt;&#13;&#10;            &lt;Text style={{ fontSize: 44, color: '#0E3F8C', fontWeight: 'bold', marginTop: 4 }}&gt;≤ 90 s&lt;/Text&gt;&#13;&#10;            &lt;Text style={{ fontSize: 17, color: '#1A2230', marginTop: 6 }}&gt;每个文档的响应时间上限&lt;/Text&gt;&#13;&#10;        &lt;/Box&gt;&#13;&#10;        &lt;Box style={{ flex: 1.4, background: '#F0F5FC', border: '1px solid #C9D8EC', padding: '22px 26px' }}&gt;&#13;&#10;            &lt;Text style={{ fontSize: 17, color: '#1A2230', fontWeight: 'bold' }}&gt;评分规则&lt;/Text&gt;&#13;&#10;            &lt;Text style={{ fontSize: 15, color: '#4A5568', lineHeight: 1.7, marginTop: 8 }}&gt;&#13;&#10;                平均准确率差 2% 以上 → 准确率定胜负；差 2% 以内 → 再比响应时间。所以&quot;又快又准&quot;不是口号，是两段式评分。&#13;&#10;            &lt;/Text&gt;&#13;&#10;        &lt;/Box&gt;&#13;&#10;    &lt;/Box&gt;&#13;&#10;&#13;&#10;    &lt;Box style={{ position: 'absolute', left: 40, bottom: 52, width: 1200, background: '#F7F9FC', border: '1px solid #E5E7EB', padding: '14px 20px', flexDirection: 'row', alignItems: 'center', justifyContent: 'space-between' }}&gt;&#13;&#10;        &lt;Text style={{ fontSize: 16, color: '#1A2230', fontWeight: 'bold' }}&gt;这套流程我们完整仿真过 3 轮&lt;/Text&gt;&#13;&#10;        &lt;Text style={{ fontSize: 15, color: '#4A5568' }}&gt;16 份规格样本 ｜ Excel 五表连测 ｜ Word 五表连测 ｜ 大文档压测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07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381000" y="3429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比赛当天怎么测：五个动作、两条红线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381000" y="7905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赛题【评价方法】写得很细，我们把这条流程原样做成了验收脚本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381000" y="1219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495300" y="1295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800100" y="1371600"/>
            <a:ext cx="17907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381000" y="165735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上传全部样本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381000" y="1952625"/>
            <a:ext cx="2209800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份一起传：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docx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500KB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xlsx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500KB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md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15KB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txt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15KB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2686050" y="1219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2800350" y="1295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3105150" y="1371600"/>
            <a:ext cx="17907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2686050" y="165735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依次给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5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张模板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2686050" y="1952625"/>
            <a:ext cx="2209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模板由比赛方现场提供，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word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excel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都可能，事先不知道结构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4991100" y="1219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105400" y="1295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5410200" y="1371600"/>
            <a:ext cx="17907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4991100" y="165735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每张跑一次并计时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4991100" y="1952625"/>
            <a:ext cx="2209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每上传一张模板运行一次，由比赛方记录响应时间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7296150" y="1219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7410450" y="1295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7715250" y="1371600"/>
            <a:ext cx="17907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296150" y="165735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与样例表比对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296150" y="1952625"/>
            <a:ext cx="2209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填写结果与样例表格逐格对比，计算准确率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9601200" y="12192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9715500" y="1295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9601200" y="165735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算两张平均分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9601200" y="1952625"/>
            <a:ext cx="2209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张填完，计算平均准确率与平均响应时间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381000" y="3810000"/>
            <a:ext cx="3276600" cy="1381125"/>
          </a:xfrm>
          <a:prstGeom prst="rect">
            <a:avLst/>
          </a:prstGeom>
          <a:solidFill>
            <a:srgbClr val="FDECEA"/>
          </a:solidFill>
          <a:ln w="12700">
            <a:solidFill>
              <a:srgbClr val="F0C4BF"/>
            </a:solidFill>
            <a:prstDash val="solid"/>
          </a:ln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28650" y="4019550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B04A45"/>
                </a:solidFill>
                <a:latin typeface="Microsoft YaHei"/>
                <a:ea typeface="Microsoft YaHei"/>
              </a:rPr>
              <a:t>红线一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28650" y="4219575"/>
            <a:ext cx="27813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≥ 80%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628650" y="478155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每一张表的准确率，不是平均后达标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3810000" y="3810000"/>
            <a:ext cx="3267075" cy="1381125"/>
          </a:xfrm>
          <a:prstGeom prst="rect">
            <a:avLst/>
          </a:prstGeom>
          <a:solidFill>
            <a:srgbClr val="FDECEA"/>
          </a:solidFill>
          <a:ln w="12700">
            <a:solidFill>
              <a:srgbClr val="F0C4BF"/>
            </a:solidFill>
            <a:prstDash val="solid"/>
          </a:ln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4057650" y="4019550"/>
            <a:ext cx="2771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B04A45"/>
                </a:solidFill>
                <a:latin typeface="Microsoft YaHei"/>
                <a:ea typeface="Microsoft YaHei"/>
              </a:rPr>
              <a:t>红线二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4057650" y="4219575"/>
            <a:ext cx="27717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≤ 90 s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4057650" y="4781550"/>
            <a:ext cx="2771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每个文档的响应时间上限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7229475" y="3810000"/>
            <a:ext cx="4581525" cy="1381125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477125" y="4019550"/>
            <a:ext cx="4086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评分规则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7477125" y="4295775"/>
            <a:ext cx="4086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平均准确率差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以上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准确率定胜负；差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以内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再比响应时间。所以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又快又准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不是口号，是两段式评分。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381000" y="5905500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571500" y="6038850"/>
            <a:ext cx="201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这套流程我们完整仿真过</a:t>
            </a: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7353300" y="604837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份规格样本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Excel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五表连测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Word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五表连测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大文档压测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19" name="" descr="&lt;Slide style={{ width: 1280, height: 720, position: 'relative', background: '#FFFFFF', padding: 0, fontFamily: 'Microsoft YaHei' }}&gt;&#10;    &lt;Box style={{ position: 'absolute', top: 0, left: 0, width: 1280, height: 8, background: '#1E4FA8' }} /&gt;&#10;    &lt;Box style={{ position: 'absolute', top: 8, right: 0, width: 320, height: 652, background: '#F0F5FC' }} /&gt;&#10;&#10;    &lt;Box style={{ position: 'absolute', top: 120, left: 72, width: 800 }}&gt;&#10;        &lt;Text style={{ fontSize: 200, color: '#1E4FA8', fontWeight: 'bold', lineHeight: 1 }}&gt;02&lt;/Text&gt;&#10;        &lt;Box style={{ width: 80, height: 5, background: '#FFC107', marginTop: 8 }} /&gt;&#10;        &lt;Text style={{ fontSize: 46, color: '#0E3F8C', fontWeight: 'bold', marginTop: 22 }}&gt;&#10;            系统方案：我们怎么答卷&#10;        &lt;/Text&gt;&#10;        &lt;Box style={{ marginTop: 22, gap: 12 }}&gt;&#10;            &lt;Box style={{ flexDirection: 'row', alignItems: 'center', gap: 12 }}&gt;&#10;                &lt;Box style={{ width: 7, height: 7, background: '#1E4FA8' }} /&gt;&#10;                &lt;Text style={{ fontSize: 19, color: '#4A5568' }}&gt;一条五层管线 —— 从读文档到写表格&lt;/Text&gt;&#10;            &lt;/Box&gt;&#10;            &lt;Box style={{ flexDirection: 'row', alignItems: 'center', gap: 12 }}&gt;&#10;                &lt;Box style={{ width: 7, height: 7, background: '#1E4FA8' }} /&gt;&#10;                &lt;Text style={{ fontSize: 19, color: '#4A5568' }}&gt;三条设计原则 —— 决定系统&quot;错得可见&quot;&lt;/Text&gt;&#10;            &lt;/Box&gt;&#10;            &lt;Box style={{ flexDirection: 'row', alignItems: 'center', gap: 12 }}&gt;&#10;                &lt;Box style={{ width: 7, height: 7, background: '#1E4FA8' }} /&gt;&#10;                &lt;Text style={{ fontSize: 19, color: '#4A5568' }}&gt;三个模块 —— 分别解决读、存、填&lt;/Text&gt;&#10;            &lt;/Box&gt;&#10;        &lt;/Box&gt;&#10;    &lt;/Box&gt;&#10;&#10;    &lt;Box style={{ position: 'absolute', left: 40, bottom: 20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08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9144000" y="76200"/>
            <a:ext cx="3048000" cy="62103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7620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685800" y="35052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7620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系统方案：我们怎么答卷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685800" y="4581525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866775" y="4505325"/>
            <a:ext cx="3038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一条五层管线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从读文档到写表格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685800" y="4914900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866775" y="4838700"/>
            <a:ext cx="3190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三条设计原则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决定系统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错得可见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685800" y="5248275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66775" y="5172075"/>
            <a:ext cx="2857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三个模块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分别解决读、存、填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08 / 22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34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2, left: 40, width: 1200 }}&gt;&#13;&#10;        &lt;Text style={{ fontSize: 34, color: '#0E3F8C', fontWeight: 'bold' }}&gt;总体架构：五层管线，每一层都能单独验收&lt;/Text&gt;&#13;&#10;        &lt;Text style={{ fontSize: 16, color: '#8B97A8', marginTop: 6 }}&gt;输入是 16 份格式不一的文档，输出是一张格式不变、值已填好的表&lt;/Text&gt;&#13;&#10;    &lt;/Box&gt;&#13;&#10;&#13;&#10;    {/* 左：架构图 */}&#13;&#10;    &lt;Box style={{ position: 'absolute', top: 112, left: 40, width: 760 }}&gt;&#13;&#10;        &lt;Box style={{ height: 52, background: '#F0F5FC', border: '1px solid #C9D8EC', flexDirection: 'row', alignItems: 'center', justifyContent: 'space-between', paddingLeft: 18, paddingRight: 18 }}&gt;&#13;&#10;            &lt;Text style={{ fontSize: 17, color: '#1A2230', fontWeight: 'bold' }}&gt;非结构化文档&lt;/Text&gt;&#13;&#10;            &lt;Text style={{ fontSize: 14, color: '#4A5568' }}&gt;docx ｜ xlsx ｜ md ｜ txt&lt;/Text&gt;&#13;&#10;        &lt;/Box&gt;&#13;&#10;        &lt;Box style={{ alignItems: 'center', height: 24, justifyContent: 'center' }}&gt;&#13;&#10;            &lt;svg width={18} height={24} viewBox='0 0 18 24'&gt;&lt;line x1='9' y1='0' x2='9' y2='15' stroke='#8B97A8' strokeWidth='2' /&gt;&lt;path d='M3 14 L9 23 L15 14 Z' fill='#8B97A8' /&gt;&lt;/svg&gt;&#13;&#10;        &lt;/Box&gt;&#13;&#10;&#13;&#10;        &lt;Box style={{ position: 'relative', height: 196 }}&gt;&#13;&#10;            &lt;Box style={{ position: 'absolute', left: 0, top: 0, width: 144, height: 196, background: '#F7F9FC', padding: '16px 12px' }}&gt;&#13;&#10;                &lt;Text style={{ fontSize: 12, color: '#8B97A8', fontWeight: 'bold' }}&gt;LAYER 1&lt;/Text&gt;&#13;&#10;                &lt;Text style={{ fontSize: 18, color: '#1A2230', fontWeight: 'bold', marginTop: 6 }}&gt;四格式读取&lt;/Text&gt;&#13;&#10;                &lt;Text style={{ fontSize: 13, color: '#4A5568', lineHeight: 1.6, marginTop: 8 }}&gt;统一解析文本与表格结构&lt;/Text&gt;&#13;&#10;            &lt;/Box&gt;&#13;&#10;            &lt;Box style={{ position: 'absolute', left: 154, top: 0, width: 144, height: 196, background: '#F7F9FC', padding: '16px 12px' }}&gt;&#13;&#10;                &lt;Text style={{ fontSize: 12, color: '#8B97A8', fontWeight: 'bold' }}&gt;LAYER 2&lt;/Text&gt;&#13;&#10;                &lt;Text style={{ fontSize: 18, color: '#1A2230', fontWeight: 'bold', marginTop: 6 }}&gt;分块定位&lt;/Text&gt;&#13;&#10;                &lt;Text style={{ fontSize: 13, color: '#4A5568', lineHeight: 1.6, marginTop: 8 }}&gt;每块带行号 / 段号 / 格子坐标&lt;/Text&gt;&#13;&#10;            &lt;/Box&gt;&#13;&#10;            &lt;Box style={{ position: 'absolute', left: 308, top: 0, width: 144, height: 196, background: '#F7F9FC', padding: '16px 12px' }}&gt;&#13;&#10;                &lt;Text style={{ fontSize: 12, color: '#8B97A8', fontWeight: 'bold' }}&gt;LAYER 3&lt;/Text&gt;&#13;&#10;                &lt;Text style={{ fontSize: 18, color: '#1A2230', fontWeight: 'bold', marginTop: 6 }}&gt;模板理解&lt;/Text&gt;&#13;&#10;                &lt;Text style={{ fontSize: 13, color: '#4A5568', lineHeight: 1.6, marginTop: 8 }}&gt;自动找表头行与待填区&lt;/Text&gt;&#13;&#10;            &lt;/Box&gt;&#13;&#10;            &lt;Box style={{ position: 'absolute', left: 462, top: 0, width: 144, height: 196, background: '#1E4FA8', padding: '14px 12px' }}&gt;&#13;&#10;                &lt;Text style={{ fontSize: 12, color: '#BFD3EE', fontWeight: 'bold' }}&gt;LAYER 4&lt;/Text&gt;&#13;&#10;                &lt;Text style={{ fontSize: 18, color: '#FFFFFF', fontWeight: 'bold', marginTop: 6 }}&gt;证据匹配&lt;/Text&gt;&#13;&#10;                &lt;Text style={{ fontSize: 13, color: '#DCE7F7', lineHeight: 1.6, marginTop: 8 }}&gt;检索 → 模型判值 → 程序定位&lt;/Text&gt;&#13;&#10;            &lt;/Box&gt;&#13;&#10;            &lt;Box style={{ position: 'absolute', left: 616, top: 0, width: 144, height: 196, background: '#F7F9FC', padding: '16px 12px' }}&gt;&#13;&#10;                &lt;Text style={{ fontSize: 12, color: '#8B97A8', fontWeight: 'bold' }}&gt;LAYER 5&lt;/Text&gt;&#13;&#10;                &lt;Text style={{ fontSize: 18, color: '#1A2230', fontWeight: 'bold', marginTop: 6 }}&gt;保格式写回&lt;/Text&gt;&#13;&#10;                &lt;Text style={{ fontSize: 13, color: '#4A5568', lineHeight: 1.6, marginTop: 8 }}&gt;只填值，不碰任何样式&lt;/Text&gt;&#13;&#10;            &lt;/Box&gt;&#13;&#10;        &lt;/Box&gt;&#13;&#10;&#13;&#10;        &lt;Box style={{ alignItems: 'center', height: 24, justifyContent: 'center' }}&gt;&#13;&#10;            &lt;svg width={18} height={24} viewBox='0 0 18 24'&gt;&lt;line x1='9' y1='0' x2='9' y2='15' stroke='#8B97A8' strokeWidth='2' /&gt;&lt;path d='M3 14 L9 23 L15 14 Z' fill='#8B97A8' /&gt;&lt;/svg&gt;&#13;&#10;        &lt;/Box&gt;&#13;&#10;&#13;&#10;        &lt;Box style={{ height: 54, background: '#E8EFF8', border: '1px solid #3D7BD9', flexDirection: 'row', alignItems: 'center', justifyContent: 'space-between', paddingLeft: 18, paddingRight: 18 }}&gt;&#13;&#10;            &lt;Text style={{ fontSize: 17, color: '#0E3F8C', fontWeight: 'bold' }}&gt;已填写的汇总表&lt;/Text&gt;&#13;&#10;            &lt;Text style={{ fontSize: 14, color: '#4A5568' }}&gt;原模板逐字节不变 ｜ 格式差异 0 处&lt;/Text&gt;&#13;&#10;        &lt;/Box&gt;&#13;&#10;&#13;&#10;        &lt;Box style={{ marginTop: 12, background: '#F7F9FC', border: '1px solid #E5E7EB', padding: '12px 18px' }}&gt;&#13;&#10;            &lt;Text style={{ fontSize: 15, color: '#4A5568', lineHeight: 1.6 }}&gt;&#13;&#10;                第 1~3 层是确定性工程，第 4 层才用大模型，第 5 层又回到确定性代码。&#13;&#10;            &lt;/Text&gt;&#13;&#10;        &lt;/Box&gt;&#13;&#10;    &lt;/Box&gt;&#13;&#10;&#13;&#10;    {/* 右：说明 */}&#13;&#10;    &lt;Box style={{ position: 'absolute', top: 112, left: 830, width: 410 }}&gt;&#13;&#10;        &lt;Box style={{ background: '#0E3F8C', padding: '20px 22px' }}&gt;&#13;&#10;            &lt;Text style={{ fontSize: 14, color: '#A9C2E8', letterSpacing: 1 }}&gt;为什么拆五层&lt;/Text&gt;&#13;&#10;            &lt;Text style={{ fontSize: 17, color: '#FFFFFF', lineHeight: 1.75, marginTop: 8 }}&gt;&#13;&#10;                出问题时能定位到层：是读取漏了、定位错了、模板读歪了，还是模型判错。而不是一句&quot;模型不行&quot;。&#13;&#10;            &lt;/Text&gt;&#13;&#10;        &lt;/Box&gt;&#13;&#10;&#13;&#10;        &lt;Box style={{ marginTop: 15, gap: 11 }}&gt;&#13;&#10;            &lt;Box style={{ borderLeft: '3px solid #3D7BD9', paddingLeft: 12 }}&gt;&#13;&#10;                &lt;Text style={{ fontSize: 16, color: '#1A2230', fontWeight: 'bold' }}&gt;模型只做判断&lt;/Text&gt;&#13;&#10;                &lt;Text style={{ fontSize: 14, color: '#4A5568', lineHeight: 1.55, marginTop: 3 }}&gt;抽&quot;值 + 原文摘抄&quot;，不数行号、不写表格&lt;/Text&gt;&#13;&#10;            &lt;/Box&gt;&#13;&#10;            &lt;Box style={{ borderLeft: '3px solid #3D7BD9', paddingLeft: 12 }}&gt;&#13;&#10;                &lt;Text style={{ fontSize: 16, color: '#1A2230', fontWeight: 'bold' }}&gt;程序负责定位与验收&lt;/Text&gt;&#13;&#10;                &lt;Text style={{ fontSize: 14, color: '#4A5568', lineHeight: 1.55, marginTop: 3 }}&gt;拿摘抄回原文找位置，找不到就不写&lt;/Text&gt;&#13;&#10;            &lt;/Box&gt;&#13;&#10;            &lt;Box style={{ borderLeft: '3px solid #3D7BD9', paddingLeft: 12 }}&gt;&#13;&#10;                &lt;Text style={{ fontSize: 16, color: '#1A2230', fontWeight: 'bold' }}&gt;每层都有独立验收件&lt;/Text&gt;&#13;&#10;                &lt;Text style={{ fontSize: 14, color: '#4A5568', lineHeight: 1.55, marginTop: 3 }}&gt;总检可复跑，换数据也能重测&lt;/Text&gt;&#13;&#10;            &lt;/Box&gt;&#13;&#10;        &lt;/Box&gt;&#13;&#10;&#13;&#10;        &lt;Box style={{ marginTop: 16, background: '#F7F9FC', border: '1px solid #E5E7EB', padding: '12px 14px' }}&gt;&#13;&#10;            &lt;Text style={{ fontSize: 13, color: '#8B97A8' }}&gt;换一批文档时，需要重写的只有第 2 层的位置适配&lt;/Text&gt;&#13;&#10;            &lt;Text style={{ fontSize: 14, color: '#1A2230', lineHeight: 1.6, marginTop: 4 }}&gt;&#13;&#10;                第 3~5 层与文档内容无关，模板换了也不用改代码。&#13;&#10;            &lt;/Text&gt;&#13;&#10;        &lt;/Box&gt;&#13;&#10;    &lt;/Box&gt;&#13;&#10;&#13;&#10;    &lt;Box style={{ position: 'absolute', left: 40, bottom: 54, width: 1200, background: '#F0F5FC', borderLeft: '4px solid #1E4FA8', padding: '12px 20px' }}&gt;&#13;&#10;        &lt;Text style={{ fontSize: 16, color: '#0E3F8C', fontWeight: 'bold' }}&gt;&#13;&#10;            换文档、换模板都不用改第 3~5 层 —— 这是系统能接住&quot;比赛现场才给模板&quot;的底气。&#13;&#10;        &lt;/Text&gt;&#13;&#10;    &lt;/Box&gt;&#13;&#10;&#13;&#10;    &lt;Box style={{ position: 'absolute', left: 40, bottom: 18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09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381000" y="3048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总体架构：五层管线，每一层都能单独验收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381000" y="752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输入是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16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份格式不一的文档，输出是一张格式不变、值已填好的表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381000" y="1066800"/>
            <a:ext cx="7239000" cy="495300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552450" y="121920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非结构化文档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5886450" y="1238250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docx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xlsx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md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txt</a:t>
            </a:r>
            <a:endParaRPr/>
          </a:p>
        </p:txBody>
      </p:sp>
      <p:pic>
        <p:nvPicPr>
          <p:cNvPr id="7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14775" y="1562100"/>
            <a:ext cx="171450" cy="228600"/>
          </a:xfrm>
          <a:prstGeom prst="rect">
            <a:avLst/>
          </a:prstGeom>
          <a:ln/>
        </p:spPr>
      </p:pic>
      <p:pic>
        <p:nvPicPr>
          <p:cNvPr id="7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14775" y="3657600"/>
            <a:ext cx="171450" cy="228600"/>
          </a:xfrm>
          <a:prstGeom prst="rect">
            <a:avLst/>
          </a:prstGeom>
          <a:ln/>
        </p:spPr>
      </p:pic>
      <p:sp>
        <p:nvSpPr>
          <p:cNvPr id="744" name=""/>
          <p:cNvSpPr/>
          <p:nvPr/>
        </p:nvSpPr>
        <p:spPr>
          <a:xfrm rot="0" flipH="0" flipV="0">
            <a:off x="381000" y="3886200"/>
            <a:ext cx="7239000" cy="51435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552450" y="40481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已填写的汇总表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5343525" y="406717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原模板逐字节不变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格式差异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处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381000" y="4514850"/>
            <a:ext cx="7239000" cy="50482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552450" y="4629150"/>
            <a:ext cx="6896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1~3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层是确定性工程，第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层才用大模型，第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层又回到确定性代码。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381000" y="1790700"/>
            <a:ext cx="1371600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495300" y="194310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LAYER 1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495300" y="21431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四格式读取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495300" y="2428875"/>
            <a:ext cx="1143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统一解析文本与表格结构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1847850" y="1790700"/>
            <a:ext cx="1371600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1962150" y="194310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LAYER 2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962150" y="21431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分块定位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962150" y="2428875"/>
            <a:ext cx="1143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每块带行号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段号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格子坐标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3314700" y="1790700"/>
            <a:ext cx="1371600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429000" y="194310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LAYER 3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3429000" y="21431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模板理解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3429000" y="2428875"/>
            <a:ext cx="1143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自动找表头行与待填区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4781550" y="1790700"/>
            <a:ext cx="1371600" cy="1866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4895850" y="192405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BFD3EE"/>
                </a:solidFill>
                <a:latin typeface="Microsoft YaHei"/>
                <a:ea typeface="Microsoft YaHei"/>
              </a:rPr>
              <a:t>LAYER 4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4895850" y="212407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证据匹配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895850" y="2409825"/>
            <a:ext cx="1143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DCE7F7"/>
                </a:solidFill>
                <a:latin typeface="Microsoft YaHei"/>
                <a:ea typeface="Microsoft YaHei"/>
              </a:rPr>
              <a:t>检索</a:t>
            </a:r>
            <a:r>
              <a:rPr lang="en-US" sz="975">
                <a:solidFill>
                  <a:srgbClr val="DCE7F7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DCE7F7"/>
                </a:solidFill>
                <a:latin typeface="Microsoft YaHei"/>
                <a:ea typeface="Microsoft YaHei"/>
              </a:rPr>
              <a:t>模型判值</a:t>
            </a:r>
            <a:r>
              <a:rPr lang="en-US" sz="975">
                <a:solidFill>
                  <a:srgbClr val="DCE7F7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DCE7F7"/>
                </a:solidFill>
                <a:latin typeface="Microsoft YaHei"/>
                <a:ea typeface="Microsoft YaHei"/>
              </a:rPr>
              <a:t>程序定位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6248400" y="1790700"/>
            <a:ext cx="1371600" cy="18669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6362700" y="1943100"/>
            <a:ext cx="1143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8B97A8"/>
                </a:solidFill>
                <a:latin typeface="Microsoft YaHei"/>
                <a:ea typeface="Microsoft YaHei"/>
              </a:rPr>
              <a:t>LAYER 5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362700" y="21431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保格式写回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6362700" y="2428875"/>
            <a:ext cx="11430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只填值，不碰任何样式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7905750" y="1066800"/>
            <a:ext cx="3905250" cy="16478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115300" y="125730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9C2E8"/>
                </a:solidFill>
                <a:latin typeface="Microsoft YaHei"/>
                <a:ea typeface="Microsoft YaHei"/>
              </a:rPr>
              <a:t>为什么拆五层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115300" y="1495425"/>
            <a:ext cx="34861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出问题时能定位到层：是读取漏了、定位错了、模板读歪了，还是模型判错。而不是一句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模型不行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7905750" y="2857500"/>
            <a:ext cx="3933825" cy="476250"/>
          </a:xfrm>
          <a:custGeom>
            <a:pathLst>
              <a:path w="413" h="50">
                <a:moveTo>
                  <a:pt x="0" y="0"/>
                </a:moveTo>
                <a:lnTo>
                  <a:pt x="3" y="0"/>
                </a:lnTo>
                <a:lnTo>
                  <a:pt x="3" y="50"/>
                </a:lnTo>
                <a:lnTo>
                  <a:pt x="0" y="5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8048625" y="2857500"/>
            <a:ext cx="3762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模型只做判断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8048625" y="3076575"/>
            <a:ext cx="37623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抽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值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原文摘抄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，不数行号、不写表格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7905750" y="3438525"/>
            <a:ext cx="3933825" cy="476250"/>
          </a:xfrm>
          <a:custGeom>
            <a:pathLst>
              <a:path w="413" h="50">
                <a:moveTo>
                  <a:pt x="0" y="0"/>
                </a:moveTo>
                <a:lnTo>
                  <a:pt x="3" y="0"/>
                </a:lnTo>
                <a:lnTo>
                  <a:pt x="3" y="50"/>
                </a:lnTo>
                <a:lnTo>
                  <a:pt x="0" y="5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8048625" y="3438525"/>
            <a:ext cx="3762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程序负责定位与验收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8048625" y="3657600"/>
            <a:ext cx="37623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拿摘抄回原文找位置，找不到就不写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7905750" y="4019550"/>
            <a:ext cx="3933825" cy="476250"/>
          </a:xfrm>
          <a:custGeom>
            <a:pathLst>
              <a:path w="413" h="50">
                <a:moveTo>
                  <a:pt x="0" y="0"/>
                </a:moveTo>
                <a:lnTo>
                  <a:pt x="3" y="0"/>
                </a:lnTo>
                <a:lnTo>
                  <a:pt x="3" y="50"/>
                </a:lnTo>
                <a:lnTo>
                  <a:pt x="0" y="5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8048625" y="4019550"/>
            <a:ext cx="3762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每层都有独立验收件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8048625" y="4238625"/>
            <a:ext cx="37623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总检可复跑，换数据也能重测</a:t>
            </a:r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7905750" y="4648200"/>
            <a:ext cx="3905250" cy="6762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8039100" y="4762500"/>
            <a:ext cx="3638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换一批文档时，需要重写的只有第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2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层的位置适配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8039100" y="4953000"/>
            <a:ext cx="36385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1A2230"/>
                </a:solidFill>
                <a:latin typeface="Microsoft YaHei"/>
                <a:ea typeface="Microsoft YaHei"/>
              </a:rPr>
              <a:t> 3~5 </a:t>
            </a:r>
            <a:r>
              <a:rPr lang="zh-CN" sz="1050">
                <a:solidFill>
                  <a:srgbClr val="1A2230"/>
                </a:solidFill>
                <a:latin typeface="Microsoft YaHei"/>
                <a:ea typeface="Microsoft YaHei"/>
              </a:rPr>
              <a:t>层与文档内容无关，模板换了也不用改代码。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419100" y="5924550"/>
            <a:ext cx="11391900" cy="419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381000" y="5924550"/>
            <a:ext cx="11430000" cy="419100"/>
          </a:xfrm>
          <a:custGeom>
            <a:pathLst>
              <a:path w="1200" h="44">
                <a:moveTo>
                  <a:pt x="0" y="0"/>
                </a:moveTo>
                <a:lnTo>
                  <a:pt x="4" y="0"/>
                </a:lnTo>
                <a:lnTo>
                  <a:pt x="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换文档、换模板都不用改第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3~5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层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——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这是系统能接住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比赛现场才给模板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的底气。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381000" y="653415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11372850" y="653415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{/* 左标题栏 */}&#13;&#10;    &lt;Box style={{ position: 'absolute', top: 8, left: 0, width: 360, height: 652, background: '#0E3F8C', padding: '0 40px', justifyContent: 'center' }}&gt;&#13;&#10;        &lt;Text style={{ fontSize: 14, color: '#A9C2E8', letterSpacing: 1 }}&gt;DESIGN PRINCIPLES&lt;/Text&gt;&#13;&#10;        &lt;Text style={{ fontSize: 38, color: '#FFFFFF', fontWeight: 'bold', marginTop: 12, lineHeight: 1.4 }}&gt;&#13;&#10;            三条设计原则&#13;&#10;        &lt;/Text&gt;&#13;&#10;        &lt;Box style={{ width: 56, height: 4, background: '#FFC107', marginTop: 20 }} /&gt;&#13;&#10;        &lt;Text style={{ fontSize: 16, color: '#D5E2F5', lineHeight: 1.85, marginTop: 20 }}&gt;&#13;&#10;            这三条不是口号，&lt;br /&gt;是后面所有数字的&lt;br /&gt;直接来源。&#13;&#10;        &lt;/Text&gt;&#13;&#10;    &lt;/Box&gt;&#13;&#10;&#13;&#10;    {/* 右内容 */}&#13;&#10;    &lt;Box style={{ position: 'absolute', top: 60, left: 408, width: 832 }}&gt;&#13;&#10;        &lt;Box style={{ flexDirection: 'row', gap: 18, paddingBottom: 30, borderBottom: '1px solid #E5E7EB' }}&gt;&#13;&#10;            &lt;Text style={{ fontSize: 46, color: '#C9D8EC', fontWeight: 'bold', width: 70 }}&gt;01&lt;/Text&gt;&#13;&#10;            &lt;Box style={{ flex: 1 }}&gt;&#13;&#10;                &lt;Text style={{ fontSize: 26, color: '#1A2230', fontWeight: 'bold' }}&gt;不迷信模型&lt;/Text&gt;&#13;&#10;                &lt;Text style={{ fontSize: 17, color: '#4A5568', lineHeight: 1.75, marginTop: 8 }}&gt;&#13;&#10;                    模型只负责&quot;判值 + 给原文摘抄&quot;，定位、校验、写回全部交给程序。模型会漂移，程序不会——同一份数据重复跑，结果必须一致。&#13;&#10;                &lt;/Text&gt;&#13;&#10;            &lt;/Box&gt;&#13;&#10;        &lt;/Box&gt;&#13;&#10;&#13;&#10;        &lt;Box style={{ flexDirection: 'row', gap: 18, paddingTop: 30, paddingBottom: 30, borderBottom: '1px solid #E5E7EB' }}&gt;&#13;&#10;            &lt;Text style={{ fontSize: 46, color: '#C9D8EC', fontWeight: 'bold', width: 70 }}&gt;02&lt;/Text&gt;&#13;&#10;            &lt;Box style={{ flex: 1 }}&gt;&#13;&#10;                &lt;Text style={{ fontSize: 26, color: '#1A2230', fontWeight: 'bold' }}&gt;不丢出处&lt;/Text&gt;&#13;&#10;                &lt;Text style={{ fontSize: 17, color: '#4A5568', lineHeight: 1.75, marginTop: 8 }}&gt;&#13;&#10;                    每条入库数据必须能回到原文的具体位置；找不到出处就留空，不猜、不编。宁可少一条，不可错一条——这是 100% 保真度的来源。&#13;&#10;                &lt;/Text&gt;&#13;&#10;            &lt;/Box&gt;&#13;&#10;        &lt;/Box&gt;&#13;&#10;&#13;&#10;        &lt;Box style={{ flexDirection: 'row', gap: 18, paddingTop: 30 }}&gt;&#13;&#10;            &lt;Text style={{ fontSize: 46, color: '#C9D8EC', fontWeight: 'bold', width: 70 }}&gt;03&lt;/Text&gt;&#13;&#10;            &lt;Box style={{ flex: 1 }}&gt;&#13;&#10;                &lt;Text style={{ fontSize: 26, color: '#1A2230', fontWeight: 'bold' }}&gt;不动格式&lt;/Text&gt;&#13;&#10;                &lt;Text style={{ fontSize: 17, color: '#4A5568', lineHeight: 1.75, marginTop: 8 }}&gt;&#13;&#10;                    写回只改单元格的值，不碰字体、边框、合并与公式；输出永远是原模板的新副本。填表题的胜负，常常不在&quot;填进去&quot;，而在&quot;交卷时格式还对不对&quot;。&#13;&#10;                &lt;/Text&gt;&#13;&#10;            &lt;/Box&gt;&#13;&#10;        &lt;/Box&gt;&#13;&#10;&#13;&#10;        &lt;Box style={{ marginTop: 26, background: '#F0F5FC', borderLeft: '4px solid #1E4FA8', padding: '14px 20px' }}&gt;&#13;&#10;            &lt;Text style={{ fontSize: 18, color: '#0E3F8C', fontWeight: 'bold' }}&gt;&#13;&#10;                三条合起来：让系统&quot;错得可见、错得可查、错了能改&quot;。&#13;&#10;            &lt;/Text&gt;&#13;&#10;        &lt;/Box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0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0" y="76200"/>
            <a:ext cx="3429000" cy="6210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2019300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A9C2E8"/>
                </a:solidFill>
                <a:latin typeface="Microsoft YaHei"/>
                <a:ea typeface="Microsoft YaHei"/>
              </a:rPr>
              <a:t>DESIGN PRINCIPLES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81000" y="2295525"/>
            <a:ext cx="266700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三条设计原则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381000" y="30956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81000" y="3324225"/>
            <a:ext cx="2667000" cy="101917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这三条不是口号，</a:t>
            </a:r>
            <a:endParaRPr/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是后面所有数字的</a:t>
            </a:r>
            <a:endParaRPr/>
          </a:p>
          <a:p>
            <a:pPr>
              <a:lnSpc>
                <a:spcPct val="185000"/>
              </a:lnSpc>
            </a:pP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直接来源。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886200" y="571500"/>
            <a:ext cx="7924800" cy="1371600"/>
          </a:xfrm>
          <a:custGeom>
            <a:pathLst>
              <a:path w="832" h="144">
                <a:moveTo>
                  <a:pt x="0" y="143"/>
                </a:moveTo>
                <a:lnTo>
                  <a:pt x="832" y="143"/>
                </a:lnTo>
                <a:lnTo>
                  <a:pt x="832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886200" y="571500"/>
            <a:ext cx="666750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9D8E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724400" y="571500"/>
            <a:ext cx="708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不迷信模型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724400" y="952500"/>
            <a:ext cx="7086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模型只负责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判值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给原文摘抄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，定位、校验、写回全部交给程序。模型会漂移，程序不会——同一份数据重复跑，结果必须一致。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886200" y="1933575"/>
            <a:ext cx="7924800" cy="1657350"/>
          </a:xfrm>
          <a:custGeom>
            <a:pathLst>
              <a:path w="832" h="174">
                <a:moveTo>
                  <a:pt x="0" y="173"/>
                </a:moveTo>
                <a:lnTo>
                  <a:pt x="832" y="173"/>
                </a:lnTo>
                <a:lnTo>
                  <a:pt x="832" y="174"/>
                </a:lnTo>
                <a:lnTo>
                  <a:pt x="0" y="174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886200" y="2219325"/>
            <a:ext cx="666750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9D8E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724400" y="2219325"/>
            <a:ext cx="708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不丢出处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724400" y="2600325"/>
            <a:ext cx="7086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每条入库数据必须能回到原文的具体位置；找不到出处就留空，不猜、不编。宁可少一条，不可错一条——这是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100%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保真度的来源。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86200" y="3867150"/>
            <a:ext cx="666750" cy="1066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C9D8E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724400" y="3867150"/>
            <a:ext cx="708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不动格式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724400" y="4248150"/>
            <a:ext cx="70866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写回只改单元格的值，不碰字体、边框、合并与公式；输出永远是原模板的新副本。填表题的胜负，常常不在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填进去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，而在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交卷时格式还对不对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924300" y="5181600"/>
            <a:ext cx="7924800" cy="47625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3886200" y="5181600"/>
            <a:ext cx="7962900" cy="476250"/>
          </a:xfrm>
          <a:custGeom>
            <a:pathLst>
              <a:path w="836" h="50">
                <a:moveTo>
                  <a:pt x="0" y="0"/>
                </a:moveTo>
                <a:lnTo>
                  <a:pt x="4" y="0"/>
                </a:lnTo>
                <a:lnTo>
                  <a:pt x="4" y="50"/>
                </a:lnTo>
                <a:lnTo>
                  <a:pt x="0" y="5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4114800" y="5314950"/>
            <a:ext cx="750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三条合起来：让系统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错得可见、错得可查、错了能改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8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模块一：一句话，把文档改对&lt;/Text&gt;&#13;&#10;        &lt;Text style={{ fontSize: 16, color: '#8B97A8', marginTop: 6 }}&gt;入口是自然语言，执行是确定性代码 —— 同一句话，今天和明天跑出来必须一样&lt;/Text&gt;&#13;&#10;    &lt;/Box&gt;&#13;&#10;&#13;&#10;    {/* 左：对话流 */}&#13;&#10;    &lt;Box style={{ position: 'absolute', top: 122, left: 40, width: 690 }}&gt;&#13;&#10;        &lt;Box style={{ background: '#1E4FA8', padding: '14px 20px', borderRadius: 10 }}&gt;&#13;&#10;            &lt;Text style={{ fontSize: 13, color: '#BFD3EE' }}&gt;用户说&lt;/Text&gt;&#13;&#10;            &lt;Text style={{ fontSize: 20, color: '#FFFFFF', fontWeight: 'bold', marginTop: 4 }}&gt;&#13;&#10;                &quot;把设备采购合同的标题居中，并且加粗&quot;&#13;&#10;            &lt;/Text&gt;&#13;&#10;        &lt;/Box&gt;&#13;&#10;&#13;&#10;        &lt;Box style={{ alignItems: 'center', height: 26, justifyContent: 'center' }}&gt;&#13;&#10;            &lt;svg width={18} height={26} viewBox='0 0 18 26'&gt;&lt;line x1='9' y1='0' x2='9' y2='17' stroke='#8B97A8' strokeWidth='2' /&gt;&lt;path d='M3 16 L9 25 L15 16 Z' fill='#8B97A8' /&gt;&lt;/svg&gt;&#13;&#10;        &lt;/Box&gt;&#13;&#10;&#13;&#10;        &lt;Box style={{ background: '#F7F9FC', border: '1px solid #D6DCE5', padding: '14px 20px' }}&gt;&#13;&#10;            &lt;Box style={{ flexDirection: 'row', justifyContent: 'space-between', alignItems: 'center' }}&gt;&#13;&#10;                &lt;Text style={{ fontSize: 13, color: '#8B97A8' }}&gt;系统解析（约 1 秒）&lt;/Text&gt;&#13;&#10;                &lt;Text style={{ fontSize: 13, color: '#1E4FA8', fontWeight: 'bold' }}&gt;意图 JSON&lt;/Text&gt;&#13;&#10;            &lt;/Box&gt;&#13;&#10;            &lt;Box style={{ flexDirection: 'row', gap: 10, marginTop: 10 }}&gt;&#13;&#10;                &lt;Box style={{ background: '#E8EFF8', padding: '8px 12px' }}&gt;&lt;Text style={{ fontSize: 14, color: '#0E3F8C' }}&gt;文档：设备采购合同&lt;/Text&gt;&lt;/Box&gt;&#13;&#10;                &lt;Box style={{ background: '#E8EFF8', padding: '8px 12px' }}&gt;&lt;Text style={{ fontSize: 14, color: '#0E3F8C' }}&gt;对象：标题&lt;/Text&gt;&lt;/Box&gt;&#13;&#10;                &lt;Box style={{ background: '#E8EFF8', padding: '8px 12px' }}&gt;&lt;Text style={{ fontSize: 14, color: '#0E3F8C' }}&gt;动作：居中 + 加粗&lt;/Text&gt;&lt;/Box&gt;&#13;&#10;            &lt;/Box&gt;&#13;&#10;            &lt;Text style={{ fontSize: 14, color: '#4A5568', marginTop: 10 }}&gt;&#13;&#10;                一句话拆成两个操作，按顺序执行；任一步失败则整体回滚，不留半成品。&#13;&#10;            &lt;/Text&gt;&#13;&#10;        &lt;/Box&gt;&#13;&#10;&#13;&#10;        &lt;Box style={{ alignItems: 'center', height: 26, justifyContent: 'center' }}&gt;&#13;&#10;            &lt;svg width={18} height={26} viewBox='0 0 18 26'&gt;&lt;line x1='9' y1='0' x2='9' y2='17' stroke='#8B97A8' strokeWidth='2' /&gt;&lt;path d='M3 16 L9 25 L15 16 Z' fill='#8B97A8' /&gt;&lt;/svg&gt;&#13;&#10;        &lt;/Box&gt;&#13;&#10;&#13;&#10;        &lt;Box style={{ background: '#FFFFFF', border: '1px solid #D6DCE5', borderLeft: '4px solid #3D7BD9', padding: '14px 20px' }}&gt;&#13;&#10;            &lt;Text style={{ fontSize: 13, color: '#8B97A8' }}&gt;执行结果&lt;/Text&gt;&#13;&#10;            &lt;Text style={{ fontSize: 18, color: '#1A2230', fontWeight: 'bold', marginTop: 4 }}&gt;&#13;&#10;                共 1 处改动 → 生成「设备采购合同_格式结果.docx」&#13;&#10;            &lt;/Text&gt;&#13;&#10;            &lt;Text style={{ fontSize: 14, color: '#4A5568', marginTop: 6 }}&gt;&#13;&#10;                原件保持逐字节不变，产物永远是新文件；多轮对话里说&quot;它&quot;，自动对上上一份文档。&#13;&#10;            &lt;/Text&gt;&#13;&#10;        &lt;/Box&gt;&#13;&#10;    &lt;/Box&gt;&#13;&#10;&#13;&#10;    {/* 右：能力与实测 */}&#13;&#10;    &lt;Box style={{ position: 'absolute', top: 122, left: 760, width: 480 }}&gt;&#13;&#10;        &lt;Text style={{ fontSize: 14, color: '#8B97A8', letterSpacing: 1 }}&gt;能做什么&lt;/Text&gt;&#13;&#10;        &lt;Box style={{ marginTop: 10, gap: 10 }}&gt;&#13;&#10;            &lt;Box style={{ flexDirection: 'row', gap: 10 }}&gt;&#13;&#10;                &lt;Box style={{ flex: 1, background: '#F7F9FC', border: '1px solid #E5E7EB', padding: '10px 12px' }}&gt;&#13;&#10;                    &lt;Text style={{ fontSize: 15, color: '#1A2230', fontWeight: 'bold' }}&gt;改 / 删 / 加文字&lt;/Text&gt;&#13;&#10;                    &lt;Text style={{ fontSize: 13, color: '#4A5568', marginTop: 4 }}&gt;跨 run 保留原格式&lt;/Text&gt;&#13;&#10;                &lt;/Box&gt;&#13;&#10;                &lt;Box style={{ flex: 1, background: '#F7F9FC', border: '1px solid #E5E7EB', padding: '10px 12px' }}&gt;&#13;&#10;                    &lt;Text style={{ fontSize: 15, color: '#1A2230', fontWeight: 'bold' }}&gt;段落排版&lt;/Text&gt;&#13;&#10;                    &lt;Text style={{ fontSize: 13, color: '#4A5568', marginTop: 4 }}&gt;对齐 / 行距 / 缩进&lt;/Text&gt;&#13;&#10;                &lt;/Box&gt;&#13;&#10;            &lt;/Box&gt;&#13;&#10;            &lt;Box style={{ flexDirection: 'row', gap: 10 }}&gt;&#13;&#10;                &lt;Box style={{ flex: 1, background: '#F7F9FC', border: '1px solid #E5E7EB', padding: '10px 12px' }}&gt;&#13;&#10;                    &lt;Text style={{ fontSize: 15, color: '#1A2230', fontWeight: 'bold' }}&gt;文字格式&lt;/Text&gt;&#13;&#10;                    &lt;Text style={{ fontSize: 13, color: '#4A5568', marginTop: 4 }}&gt;粗斜下划 / 颜色 / 字号&lt;/Text&gt;&#13;&#10;                &lt;/Box&gt;&#13;&#10;                &lt;Box style={{ flex: 1, background: '#F7F9FC', border: '1px solid #E5E7EB', padding: '10px 12px' }}&gt;&#13;&#10;                    &lt;Text style={{ fontSize: 15, color: '#1A2230', fontWeight: 'bold' }}&gt;内容提取&lt;/Text&gt;&#13;&#10;                    &lt;Text style={{ fontSize: 13, color: '#4A5568', marginTop: 4 }}&gt;点名要字段，带出处&lt;/Text&gt;&#13;&#10;                &lt;/Box&gt;&#13;&#10;            &lt;/Box&gt;&#13;&#10;        &lt;/Box&gt;&#13;&#10;&#13;&#10;        &lt;Box style={{ marginTop: 16, background: '#F0F5FC', padding: '14px 18px' }}&gt;&#13;&#10;            &lt;Text style={{ fontSize: 14, color: '#8B97A8' }}&gt;实测覆盖&lt;/Text&gt;&#13;&#10;            &lt;Text style={{ fontSize: 34, color: '#1E4FA8', fontWeight: 'bold', marginTop: 2 }}&gt;26 条指令 × 4 种格式&lt;/Text&gt;&#13;&#10;            &lt;Text style={{ fontSize: 14, color: '#4A5568', marginTop: 4 }}&gt;docx / xlsx / md / txt 全覆盖矩阵 8/8 通过&lt;/Text&gt;&#13;&#10;        &lt;/Box&gt;&#13;&#10;&#13;&#10;        &lt;Box style={{ marginTop: 14, background: '#F7F9FC', border: '1px solid #E5E7EB', padding: '14px 16px' }}&gt;&#13;&#10;            &lt;Text style={{ fontSize: 15, color: '#1A2230', fontWeight: 'bold' }}&gt;一次真实解析（约 1 秒）&lt;/Text&gt;&#13;&#10;            &lt;Box style={{ flexDirection: 'row', justifyContent: 'space-between', marginTop: 8 }}&gt;&#13;&#10;                &lt;Text style={{ fontSize: 14, color: '#4A5568' }}&gt;意图识别&lt;/Text&gt;&#13;&#10;                &lt;Text style={{ fontSize: 14, color: '#0E3F8C', fontWeight: 'bold' }}&gt;format / 标题&lt;/Text&gt;&#13;&#10;            &lt;/Box&gt;&#13;&#10;            &lt;Box style={{ flexDirection: 'row', justifyContent: 'space-between', marginTop: 6 }}&gt;&#13;&#10;                &lt;Text style={{ fontSize: 14, color: '#4A5568' }}&gt;执行动作&lt;/Text&gt;&#13;&#10;                &lt;Text style={{ fontSize: 14, color: '#0E3F8C', fontWeight: 'bold' }}&gt;居中 + 加粗&lt;/Text&gt;&#13;&#10;            &lt;/Box&gt;&#13;&#10;            &lt;Box style={{ flexDirection: 'row', justifyContent: 'space-between', marginTop: 6 }}&gt;&#13;&#10;                &lt;Text style={{ fontSize: 14, color: '#4A5568' }}&gt;原件是否改动&lt;/Text&gt;&#13;&#10;                &lt;Text style={{ fontSize: 14, color: '#1E7A4B', fontWeight: 'bold' }}&gt;否&lt;/Text&gt;&#13;&#10;            &lt;/Box&gt;&#13;&#10;        &lt;/Box&gt;&#13;&#10;&#13;&#10;        &lt;Box style={{ marginTop: 12 }}&gt;&#13;&#10;            &lt;Text style={{ fontSize: 14, color: '#4A5568', lineHeight: 1.7 }}&gt;&#13;&#10;                模型只产出&quot;意图&quot;，真正的改动由格式操作库执行 —— 不会出现&quot;理解对了但文件被改坏&quot;。&#13;&#10;            &lt;/Text&gt;&#13;&#10;        &lt;/Box&gt;&#13;&#10;    &lt;/Box&gt;&#13;&#10;&#13;&#10;    &lt;Box style={{ position: 'absolute', left: 40, bottom: 72, width: 690, background: '#F7F9FC', border: '1px solid #E5E7EB', padding: '12px 18px', flexDirection: 'row', alignItems: 'center', justifyContent: 'space-between' }}&gt;&#13;&#10;        &lt;Text style={{ fontSize: 15, color: '#1A2230', fontWeight: 'bold' }}&gt;四格式全覆盖&lt;/Text&gt;&#13;&#10;        &lt;Text style={{ fontSize: 15, color: '#4A5568' }}&gt;docx ｜ xlsx ｜ md ｜ txt，26 条指令逐条实测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1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模块一：一句话，把文档改对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入口是自然语言，执行是确定性代码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同一句话，今天和明天跑出来必须一样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1162050"/>
            <a:ext cx="6572250" cy="685800"/>
          </a:xfrm>
          <a:prstGeom prst="roundRect">
            <a:avLst>
              <a:gd name="adj" fmla="val 138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71500" y="1295400"/>
            <a:ext cx="619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FD3EE"/>
                </a:solidFill>
                <a:latin typeface="Microsoft YaHei"/>
                <a:ea typeface="Microsoft YaHei"/>
              </a:rPr>
              <a:t>用户说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1485900"/>
            <a:ext cx="619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把设备采购合同的标题居中，并且加粗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81400" y="1847850"/>
            <a:ext cx="171450" cy="247650"/>
          </a:xfrm>
          <a:prstGeom prst="rect">
            <a:avLst/>
          </a:prstGeom>
          <a:ln/>
        </p:spPr>
      </p:pic>
      <p:sp>
        <p:nvSpPr>
          <p:cNvPr id="57" name=""/>
          <p:cNvSpPr/>
          <p:nvPr/>
        </p:nvSpPr>
        <p:spPr>
          <a:xfrm rot="0" flipH="0" flipV="0">
            <a:off x="381000" y="2095500"/>
            <a:ext cx="6572250" cy="10858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2228850"/>
            <a:ext cx="114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系统解析（约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134100" y="2228850"/>
            <a:ext cx="628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E4FA8"/>
                </a:solidFill>
                <a:latin typeface="Microsoft YaHei"/>
                <a:ea typeface="Microsoft YaHei"/>
              </a:rPr>
              <a:t>意图</a:t>
            </a: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 JSON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2476500"/>
            <a:ext cx="1428750" cy="314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25527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3F8C"/>
                </a:solidFill>
                <a:latin typeface="Microsoft YaHei"/>
                <a:ea typeface="Microsoft YaHei"/>
              </a:rPr>
              <a:t>文档：设备采购合同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2095500" y="2476500"/>
            <a:ext cx="895350" cy="314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2209800" y="25527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3F8C"/>
                </a:solidFill>
                <a:latin typeface="Microsoft YaHei"/>
                <a:ea typeface="Microsoft YaHei"/>
              </a:rPr>
              <a:t>对象：标题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3086100" y="2476500"/>
            <a:ext cx="1343025" cy="31432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200400" y="25527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E3F8C"/>
                </a:solidFill>
                <a:latin typeface="Microsoft YaHei"/>
                <a:ea typeface="Microsoft YaHei"/>
              </a:rPr>
              <a:t>动作：居中</a:t>
            </a: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0E3F8C"/>
                </a:solidFill>
                <a:latin typeface="Microsoft YaHei"/>
                <a:ea typeface="Microsoft YaHei"/>
              </a:rPr>
              <a:t>加粗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2886075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一句话拆成两个操作，按顺序执行；任一步失败则整体回滚，不留半成品。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81400" y="3181350"/>
            <a:ext cx="171450" cy="247650"/>
          </a:xfrm>
          <a:prstGeom prst="rect">
            <a:avLst/>
          </a:prstGeom>
          <a:ln/>
        </p:spPr>
      </p:pic>
      <p:sp>
        <p:nvSpPr>
          <p:cNvPr id="68" name=""/>
          <p:cNvSpPr/>
          <p:nvPr/>
        </p:nvSpPr>
        <p:spPr>
          <a:xfrm rot="0" flipH="0" flipV="0">
            <a:off x="419100" y="3429000"/>
            <a:ext cx="6572250" cy="8858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381000" y="3429000"/>
            <a:ext cx="6610350" cy="885825"/>
          </a:xfrm>
          <a:custGeom>
            <a:pathLst>
              <a:path w="694" h="93">
                <a:moveTo>
                  <a:pt x="0" y="0"/>
                </a:moveTo>
                <a:lnTo>
                  <a:pt x="4" y="0"/>
                </a:lnTo>
                <a:lnTo>
                  <a:pt x="4" y="93"/>
                </a:lnTo>
                <a:lnTo>
                  <a:pt x="0" y="9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615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执行结果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752850"/>
            <a:ext cx="6153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共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处改动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生成「设备采购合同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_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格式结果</a:t>
            </a: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.docx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4019550"/>
            <a:ext cx="615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原件保持逐字节不变，产物永远是新文件；多轮对话里说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它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，自动对上上一份文档。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239000" y="1162050"/>
            <a:ext cx="457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Microsoft YaHei"/>
                <a:ea typeface="Microsoft YaHei"/>
              </a:rPr>
              <a:t>能做什么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239000" y="1419225"/>
            <a:ext cx="2238375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353300" y="15144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改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删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加文字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353300" y="1724025"/>
            <a:ext cx="2009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跨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run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保留原格式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9572625" y="1419225"/>
            <a:ext cx="2238375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686925" y="15144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段落排版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686925" y="1724025"/>
            <a:ext cx="2009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对齐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行距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缩进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239000" y="2066925"/>
            <a:ext cx="2238375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353300" y="21621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文字格式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353300" y="2371725"/>
            <a:ext cx="2009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粗斜下划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颜色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字号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572625" y="2066925"/>
            <a:ext cx="2238375" cy="5524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686925" y="2162175"/>
            <a:ext cx="2009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内容提取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686925" y="2371725"/>
            <a:ext cx="2009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点名要字段，带出处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239000" y="2771775"/>
            <a:ext cx="4572000" cy="10382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410450" y="290512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实测覆盖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410450" y="3086100"/>
            <a:ext cx="422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26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条指令</a:t>
            </a: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 × 4 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种格式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410450" y="351472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docx / xlsx / md / txt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全覆盖矩阵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8/8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239000" y="3943350"/>
            <a:ext cx="4572000" cy="111442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391400" y="407670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一次真实解析（约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7391400" y="43243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意图识别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782300" y="43243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format /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标题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391400" y="4543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执行动作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944225" y="4543425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居中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加粗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391400" y="47625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原件是否改动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525250" y="47625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E7A4B"/>
                </a:solidFill>
                <a:latin typeface="Microsoft YaHei"/>
                <a:ea typeface="Microsoft YaHei"/>
              </a:rPr>
              <a:t>否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39000" y="5172075"/>
            <a:ext cx="4572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模型只产出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意图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，真正的改动由格式操作库执行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不会出现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理解对了但文件被改坏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81000" y="5772150"/>
            <a:ext cx="6572250" cy="4000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52450" y="58864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四格式全覆盖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762375" y="5886450"/>
            <a:ext cx="3019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docx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xlsx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md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txt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26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条指令逐条实测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11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4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模块二：一份文档，三条提取线，一个库&lt;/Text&gt;&#13;&#10;        &lt;Text style={{ fontSize: 16, color: '#8B97A8', marginTop: 6 }}&gt;画像、实体、字段各走各的路径，跑完自动落进 MySQL —— 提取不是终点，入库才是&lt;/Text&gt;&#13;&#10;    &lt;/Box&gt;&#13;&#10;&#13;&#10;    {/* 三条线示意 */}&#13;&#10;    &lt;Box style={{ position: 'absolute', top: 122, left: 40, width: 1200 }}&gt;&#13;&#10;        &lt;Box style={{ flexDirection: 'row', alignItems: 'stretch', gap: 0 }}&gt;&#13;&#10;            {/* 文档 */}&#13;&#10;            &lt;Box style={{ width: 200, background: '#0E3F8C', padding: '18px 18px', justifyContent: 'center' }}&gt;&#13;&#10;                &lt;Text style={{ fontSize: 13, color: '#A9C2E8' }}&gt;输入&lt;/Text&gt;&#13;&#10;                &lt;Text style={{ fontSize: 20, color: '#FFFFFF', fontWeight: 'bold', marginTop: 6 }}&gt;非结构化文档&lt;/Text&gt;&#13;&#10;                &lt;Text style={{ fontSize: 13, color: '#D5E2F5', marginTop: 6 }}&gt;docx / xlsx / md / txt&lt;/Text&gt;&#13;&#10;            &lt;/Box&gt;&#13;&#10;&#13;&#10;            &lt;Box style={{ width: 34, justifyContent: 'center', alignItems: 'center' }}&gt;&#13;&#10;                &lt;svg width={34} height={18} viewBox='0 0 34 18'&gt;&lt;line x1='0' y1='9' x2='24' y2='9' stroke='#8B97A8' strokeWidth='2' /&gt;&lt;path d='M24 3 L33 9 L24 15 Z' fill='#8B97A8' /&gt;&lt;/svg&gt;&#13;&#10;            &lt;/Box&gt;&#13;&#10;&#13;&#10;            {/* 三线 */}&#13;&#10;            &lt;Box style={{ flex: 1, gap: 10 }}&gt;&#13;&#10;                &lt;Box style={{ background: '#F7F9FC', border: '1px solid #D6DCE5', padding: '10px 16px', flexDirection: 'row', alignItems: 'center', justifyContent: 'space-between' }}&gt;&#13;&#10;                    &lt;Box&gt;&#13;&#10;                        &lt;Text style={{ fontSize: 17, color: '#1A2230', fontWeight: 'bold' }}&gt;画像线&lt;/Text&gt;&#13;&#10;                        &lt;Text style={{ fontSize: 13, color: '#4A5568', marginTop: 2 }}&gt;主题 + 3~7 条要点 + 关键要素&lt;/Text&gt;&#13;&#10;                    &lt;/Box&gt;&#13;&#10;                    &lt;Text style={{ fontSize: 12, color: '#8B97A8' }}&gt;「提取 XX 的关键信息」&lt;/Text&gt;&#13;&#10;                &lt;/Box&gt;&#13;&#10;                &lt;Box style={{ background: '#F7F9FC', border: '1px solid #D6DCE5', padding: '10px 16px', flexDirection: 'row', alignItems: 'center', justifyContent: 'space-between' }}&gt;&#13;&#10;                    &lt;Box&gt;&#13;&#10;                        &lt;Text style={{ fontSize: 17, color: '#1A2230', fontWeight: 'bold' }}&gt;实体线&lt;/Text&gt;&#13;&#10;                        &lt;Text style={{ fontSize: 13, color: '#4A5568', marginTop: 2 }}&gt;人名 / 机构 / 日期 / 金额 / 编号 / 联系方式 / 产品设备&lt;/Text&gt;&#13;&#10;                    &lt;/Box&gt;&#13;&#10;                    &lt;Text style={{ fontSize: 12, color: '#8B97A8' }}&gt;「识别 XX 里的实体」&lt;/Text&gt;&#13;&#10;                &lt;/Box&gt;&#13;&#10;                &lt;Box style={{ background: '#F7F9FC', border: '1px solid #D6DCE5', padding: '10px 16px', flexDirection: 'row', alignItems: 'center', justifyContent: 'space-between' }}&gt;&#13;&#10;                    &lt;Box&gt;&#13;&#10;                        &lt;Text style={{ fontSize: 17, color: '#1A2230', fontWeight: 'bold' }}&gt;字段线&lt;/Text&gt;&#13;&#10;                        &lt;Text style={{ fontSize: 13, color: '#4A5568', marginTop: 2 }}&gt;用户点名的字段，逐个查、逐个核&lt;/Text&gt;&#13;&#10;                    &lt;/Box&gt;&#13;&#10;                    &lt;Text style={{ fontSize: 12, color: '#8B97A8' }}&gt;「提取合同里的甲方与金额」&lt;/Text&gt;&#13;&#10;                &lt;/Box&gt;&#13;&#10;            &lt;/Box&gt;&#13;&#10;&#13;&#10;            &lt;Box style={{ width: 34, justifyContent: 'center', alignItems: 'center' }}&gt;&#13;&#10;                &lt;svg width={34} height={18} viewBox='0 0 34 18'&gt;&lt;line x1='0' y1='9' x2='24' y2='9' stroke='#8B97A8' strokeWidth='2' /&gt;&lt;path d='M24 3 L33 9 L24 15 Z' fill='#8B97A8' /&gt;&lt;/svg&gt;&#13;&#10;            &lt;/Box&gt;&#13;&#10;&#13;&#10;            {/* 库 */}&#13;&#10;            &lt;Box style={{ width: 210, background: '#E8EFF8', border: '1px solid #3D7BD9', padding: '18px 18px', justifyContent: 'center' }}&gt;&#13;&#10;                &lt;Text style={{ fontSize: 13, color: '#3D7BD9' }}&gt;输出&lt;/Text&gt;&#13;&#10;                &lt;Text style={{ fontSize: 20, color: '#0E3F8C', fontWeight: 'bold', marginTop: 6 }}&gt;MySQL 五张表&lt;/Text&gt;&#13;&#10;                &lt;Text style={{ fontSize: 13, color: '#4A5568', marginTop: 6 }}&gt;文档 / 实体 / 画像 / 明细 / 字段&lt;/Text&gt;&#13;&#10;            &lt;/Box&gt;&#13;&#10;        &lt;/Box&gt;&#13;&#10;    &lt;/Box&gt;&#13;&#10;&#13;&#10;    {/* 下半：机制 */}&#13;&#10;    &lt;Box style={{ position: 'absolute', top: 330, left: 40, width: 1200, flexDirection: 'row', gap: 16 }}&gt;&#13;&#10;        &lt;Box style={{ flex: 1, background: '#FFFFFF', border: '1px solid #E5E7EB', borderTop: '3px solid #1E4FA8', padding: '18px 20px', minHeight: 268, flexShrink: 0 }}&gt;&#13;&#10;            &lt;Text style={{ fontSize: 19, color: '#1A2230', fontWeight: 'bold' }}&gt;保真：每条都带回原文&lt;/Text&gt;&#13;&#10;            &lt;Text style={{ fontSize: 15, color: '#4A5568', lineHeight: 1.75, marginTop: 8 }}&gt;&#13;&#10;                模型输出&quot;值 + 原文摘抄&quot;，程序拿摘抄回原文定位，记录行号 / 段号 / 格子坐标。定位失败的数据不写库——宁可少一条，不可错一条。&#13;&#10;            &lt;/Text&gt;&#13;&#10;            &lt;Box style={{ marginTop: 12, background: '#F0F5FC', padding: '8px 10px' }}&gt;&#13;&#10;                &lt;Text style={{ fontSize: 14, color: '#0E3F8C', fontWeight: 'bold' }}&gt;缺出处 0 条 · 定位失败不写库&lt;/Text&gt;&#13;&#10;            &lt;/Box&gt;&#13;&#10;        &lt;/Box&gt;&#13;&#10;        &lt;Box style={{ flex: 1, background: '#FFFFFF', border: '1px solid #E5E7EB', borderTop: '3px solid #1E4FA8', padding: '18px 20px', minHeight: 268, flexShrink: 0 }}&gt;&#13;&#10;            &lt;Text style={{ fontSize: 19, color: '#1A2230', fontWeight: 'bold' }}&gt;复核：正则二次校验&lt;/Text&gt;&#13;&#10;            &lt;Text style={{ fontSize: 15, color: '#4A5568', lineHeight: 1.75, marginTop: 8 }}&gt;&#13;&#10;                日期、金额、编号抽出后再用正则验格式；实体还会做&quot;漏报补扫&quot;——把全文按模式再扫一遍，防止模型看漏。&#13;&#10;            &lt;/Text&gt;&#13;&#10;            &lt;Box style={{ marginTop: 12, background: '#F0F5FC', padding: '8px 10px' }}&gt;&#13;&#10;                &lt;Text style={{ fontSize: 14, color: '#0E3F8C', fontWeight: 'bold' }}&gt;日期 / 金额 / 编号 三类正则&lt;/Text&gt;&#13;&#10;            &lt;/Box&gt;&#13;&#10;        &lt;/Box&gt;&#13;&#10;        &lt;Box style={{ flex: 1, background: '#FFFFFF', border: '1px solid #E5E7EB', borderTop: '3px solid #1E4FA8', padding: '18px 20px', minHeight: 268, flexShrink: 0 }}&gt;&#13;&#10;            &lt;Text style={{ fontSize: 19, color: '#1A2230', fontWeight: 'bold' }}&gt;落库：同步式对齐&lt;/Text&gt;&#13;&#10;            &lt;Text style={{ fontSize: 15, color: '#4A5568', lineHeight: 1.75, marginTop: 8 }}&gt;&#13;&#10;                按 run_id 批次号做新增 / 更新 / 移除三步对齐，重复跑不会膨胀；网页、API、命令行三处可查同一份数据。&#13;&#10;            &lt;/Text&gt;&#13;&#10;            &lt;Box style={{ marginTop: 12, background: '#F0F5FC', padding: '8px 10px' }}&gt;&#13;&#10;                &lt;Text style={{ fontSize: 14, color: '#0E3F8C', fontWeight: 'bold' }}&gt;run_id 可追溯 · 重复跑不膨胀&lt;/Text&gt;&#13;&#10;            &lt;/Box&gt;&#13;&#10;        &lt;/Box&gt;&#13;&#10;    &lt;/Box&gt;&#13;&#10;&#13;&#10;    &lt;Box style={{ position: 'absolute', left: 40, bottom: 54, width: 1200, background: '#F0F5FC', borderLeft: '4px solid #1E4FA8', padding: '12px 20px' }}&gt;&#13;&#10;        &lt;Text style={{ fontSize: 16, color: '#0E3F8C', fontWeight: 'bold' }}&gt;&#13;&#10;            判断：提取的价值不在&quot;抽出来&quot;，在&quot;进得去、查得到、追得回&quot;。&#13;&#10;        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2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模块二：一份文档，三条提取线，一个库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画像、实体、字段各走各的路径，跑完自动落进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MySQL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提取不是终点，入库才是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81000" y="1162050"/>
            <a:ext cx="1905000" cy="1876425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52450" y="1781175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9C2E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52450" y="1990725"/>
            <a:ext cx="156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非结构化文档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52450" y="2276475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5E2F5"/>
                </a:solidFill>
                <a:latin typeface="Microsoft YaHei"/>
                <a:ea typeface="Microsoft YaHei"/>
              </a:rPr>
              <a:t>docx / xlsx / md / txt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286000" y="2019300"/>
            <a:ext cx="323850" cy="171450"/>
          </a:xfrm>
          <a:prstGeom prst="rect">
            <a:avLst/>
          </a:prstGeom>
          <a:ln/>
        </p:spPr>
      </p:pic>
      <p:sp>
        <p:nvSpPr>
          <p:cNvPr id="114" name=""/>
          <p:cNvSpPr/>
          <p:nvPr/>
        </p:nvSpPr>
        <p:spPr>
          <a:xfrm rot="0" flipH="0" flipV="0">
            <a:off x="2609850" y="1162050"/>
            <a:ext cx="6877050" cy="5619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2762250" y="1257300"/>
            <a:ext cx="1724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画像线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2762250" y="1476375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主题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+ 3~7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条要点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关键要素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086725" y="1371600"/>
            <a:ext cx="1247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「提取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XX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的关键信息」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2609850" y="1819275"/>
            <a:ext cx="6877050" cy="5619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2762250" y="1914525"/>
            <a:ext cx="299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实体线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2762250" y="2133600"/>
            <a:ext cx="299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人名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机构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日期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金额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编号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联系方式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产品设备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201025" y="2028825"/>
            <a:ext cx="1133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「识别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XX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里的实体」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2609850" y="2476500"/>
            <a:ext cx="6877050" cy="5619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2762250" y="2571750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字段线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2762250" y="279082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用户点名的字段，逐个查、逐个核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48600" y="2686050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「提取合同里的甲方与金额」</a:t>
            </a:r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486900" y="2019300"/>
            <a:ext cx="323850" cy="171450"/>
          </a:xfrm>
          <a:prstGeom prst="rect">
            <a:avLst/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9810750" y="1162050"/>
            <a:ext cx="2000250" cy="1876425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982200" y="1704975"/>
            <a:ext cx="1657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D7BD9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982200" y="1914525"/>
            <a:ext cx="1657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MySQL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五张表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982200" y="2200275"/>
            <a:ext cx="16573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文档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实体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画像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明细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字段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381000" y="3171825"/>
            <a:ext cx="3705225" cy="255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381000" y="3143250"/>
            <a:ext cx="3705225" cy="2581275"/>
          </a:xfrm>
          <a:custGeom>
            <a:pathLst>
              <a:path w="389" h="271">
                <a:moveTo>
                  <a:pt x="0" y="0"/>
                </a:moveTo>
                <a:lnTo>
                  <a:pt x="389" y="0"/>
                </a:lnTo>
                <a:lnTo>
                  <a:pt x="389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71500" y="3343275"/>
            <a:ext cx="3324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保真：每条都带回原文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3638550"/>
            <a:ext cx="33242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模型输出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原文摘抄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，程序拿摘抄回原文定位，记录行号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段号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格子坐标。定位失败的数据不写库——宁可少一条，不可错一条。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71500" y="4657725"/>
            <a:ext cx="3324225" cy="314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66750" y="47339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缺出处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条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定位失败不写库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4238625" y="3171825"/>
            <a:ext cx="3714750" cy="255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4238625" y="3143250"/>
            <a:ext cx="3714750" cy="2581275"/>
          </a:xfrm>
          <a:custGeom>
            <a:pathLst>
              <a:path w="390" h="271">
                <a:moveTo>
                  <a:pt x="0" y="0"/>
                </a:moveTo>
                <a:lnTo>
                  <a:pt x="390" y="0"/>
                </a:lnTo>
                <a:lnTo>
                  <a:pt x="390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429125" y="3343275"/>
            <a:ext cx="3333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复核：正则二次校验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429125" y="3638550"/>
            <a:ext cx="33337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日期、金额、编号抽出后再用正则验格式；实体还会做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漏报补扫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"——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把全文按模式再扫一遍，防止模型看漏。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429125" y="4657725"/>
            <a:ext cx="3333750" cy="314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24375" y="47339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日期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金额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编号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三类正则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105775" y="3171825"/>
            <a:ext cx="3705225" cy="2552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105775" y="3143250"/>
            <a:ext cx="3705225" cy="2581275"/>
          </a:xfrm>
          <a:custGeom>
            <a:pathLst>
              <a:path w="389" h="271">
                <a:moveTo>
                  <a:pt x="0" y="0"/>
                </a:moveTo>
                <a:lnTo>
                  <a:pt x="389" y="0"/>
                </a:lnTo>
                <a:lnTo>
                  <a:pt x="389" y="3"/>
                </a:lnTo>
                <a:lnTo>
                  <a:pt x="0" y="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296275" y="3343275"/>
            <a:ext cx="3324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落库：同步式对齐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296275" y="3638550"/>
            <a:ext cx="33242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run_id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批次号做新增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更新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移除三步对齐，重复跑不会膨胀；网页、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API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、命令行三处可查同一份数据。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8296275" y="4657725"/>
            <a:ext cx="3324225" cy="314325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391525" y="473392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run_id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可追溯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重复跑不膨胀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19100" y="5924550"/>
            <a:ext cx="11391900" cy="419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381000" y="5924550"/>
            <a:ext cx="11430000" cy="419100"/>
          </a:xfrm>
          <a:custGeom>
            <a:pathLst>
              <a:path w="1200" h="44">
                <a:moveTo>
                  <a:pt x="0" y="0"/>
                </a:moveTo>
                <a:lnTo>
                  <a:pt x="4" y="0"/>
                </a:lnTo>
                <a:lnTo>
                  <a:pt x="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判断：提取的价值不在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抽出来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，在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进得去、查得到、追得回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数据底座：266 条，全部能回到原文&lt;/Text&gt;&#13;&#10;        &lt;Text style={{ fontSize: 16, color: '#8B97A8', marginTop: 6 }}&gt;这个 100% 不是模型自评，是零模型反向审计 —— 把库里的每条数据拉回原文核对&lt;/Text&gt;&#13;&#10;    &lt;/Box&gt;&#13;&#10;&#13;&#10;    {/* 左：大数字 */}&#13;&#10;    &lt;Box style={{ position: 'absolute', top: 122, left: 40, width: 520, height: 500, background: '#F0F5FC', border: '1px solid #D6DCE5', padding: '28px 32px' }}&gt;&#13;&#10;        &lt;Text style={{ fontSize: 14, color: '#8B97A8', letterSpacing: 1 }}&gt;当前库内总量&lt;/Text&gt;&#13;&#10;        &lt;Box style={{ flexDirection: 'row', alignItems: 'flex-end', gap: 12, marginTop: 4 }}&gt;&#13;&#10;            &lt;Text style={{ fontSize: 120, color: '#1E4FA8', fontWeight: 'bold', lineHeight: 1 }}&gt;266&lt;/Text&gt;&#13;&#10;            &lt;Text style={{ fontSize: 22, color: '#1A2230', fontWeight: 'bold', paddingBottom: 16 }}&gt;条&lt;/Text&gt;&#13;&#10;        &lt;/Box&gt;&#13;&#10;        &lt;Box style={{ height: 1, background: '#D6DCE5', marginTop: 18 }} /&gt;&#13;&#10;        &lt;Box style={{ flexDirection: 'row', alignItems: 'flex-end', gap: 12, marginTop: 18 }}&gt;&#13;&#10;            &lt;Text style={{ fontSize: 84, color: '#0E3F8C', fontWeight: 'bold', lineHeight: 1 }}&gt;100%&lt;/Text&gt;&#13;&#10;            &lt;Text style={{ fontSize: 18, color: '#1A2230', paddingBottom: 10 }}&gt;可回溯原文&lt;/Text&gt;&#13;&#10;        &lt;/Box&gt;&#13;&#10;        &lt;Text style={{ fontSize: 15, color: '#4A5568', lineHeight: 1.7, marginTop: 16 }}&gt;&#13;&#10;            缺摘抄 0 条 · 缺出处 0 条 · 定位失败不写库&#13;&#10;        &lt;/Text&gt;&#13;&#10;    &lt;/Box&gt;&#13;&#10;&#13;&#10;    {/* 右：拆解 */}&#13;&#10;    &lt;Box style={{ position: 'absolute', top: 122, left: 594, width: 646 }}&gt;&#13;&#10;        &lt;Box style={{ flexDirection: 'row', gap: 12 }}&gt;&#13;&#10;            &lt;Box style={{ flex: 1, background: '#FFFFFF', border: '1px solid #D6DCE5', padding: '14px 16px' }}&gt;&#13;&#10;                &lt;Text style={{ fontSize: 32, color: '#1E4FA8', fontWeight: 'bold' }}&gt;9&lt;/Text&gt;&#13;&#10;                &lt;Text style={{ fontSize: 14, color: '#4A5568', marginTop: 2 }}&gt;份文档&lt;/Text&gt;&#13;&#10;            &lt;/Box&gt;&#13;&#10;            &lt;Box style={{ flex: 1, background: '#FFFFFF', border: '1px solid #D6DCE5', padding: '14px 16px' }}&gt;&#13;&#10;                &lt;Text style={{ fontSize: 32, color: '#1E4FA8', fontWeight: 'bold' }}&gt;137&lt;/Text&gt;&#13;&#10;                &lt;Text style={{ fontSize: 14, color: '#4A5568', marginTop: 2 }}&gt;条实体&lt;/Text&gt;&#13;&#10;            &lt;/Box&gt;&#13;&#10;            &lt;Box style={{ flex: 1, background: '#FFFFFF', border: '1px solid #D6DCE5', padding: '14px 16px' }}&gt;&#13;&#10;                &lt;Text style={{ fontSize: 32, color: '#1E4FA8', fontWeight: 'bold' }}&gt;4&lt;/Text&gt;&#13;&#10;                &lt;Text style={{ fontSize: 14, color: '#4A5568', marginTop: 2 }}&gt;份画像&lt;/Text&gt;&#13;&#10;            &lt;/Box&gt;&#13;&#10;            &lt;Box style={{ flex: 1, background: '#FFFFFF', border: '1px solid #D6DCE5', padding: '14px 16px' }}&gt;&#13;&#10;                &lt;Text style={{ fontSize: 32, color: '#1E4FA8', fontWeight: 'bold' }}&gt;75&lt;/Text&gt;&#13;&#10;                &lt;Text style={{ fontSize: 14, color: '#4A5568', marginTop: 2 }}&gt;个字段值&lt;/Text&gt;&#13;&#10;            &lt;/Box&gt;&#13;&#10;        &lt;/Box&gt;&#13;&#10;&#13;&#10;        &lt;Box style={{ marginTop: 18, background: '#FFFFFF', border: '1px solid #E5E7EB', padding: '18px 22px' }}&gt;&#13;&#10;            &lt;Text style={{ fontSize: 19, color: '#1A2230', fontWeight: 'bold' }}&gt;审计怎么做的&lt;/Text&gt;&#13;&#10;            &lt;Text style={{ fontSize: 16, color: '#4A5568', lineHeight: 1.8, marginTop: 8 }}&gt;&#13;&#10;                反向审计：从数据库读出每一条记录，按记录里的出处坐标回到源文件的对应位置，比对原文摘抄与实际文本是否一致。全程不调用模型，重跑结果必然相同。&#13;&#10;            &lt;/Text&gt;&#13;&#10;        &lt;/Box&gt;&#13;&#10;&#13;&#10;        &lt;Box style={{ marginTop: 14, flexDirection: 'row', gap: 12 }}&gt;&#13;&#10;            &lt;Box style={{ flex: 1, background: '#F7F9FC', border: '1px solid #E5E7EB', padding: '14px 16px' }}&gt;&#13;&#10;                &lt;Text style={{ fontSize: 14, color: '#8B97A8' }}&gt;三线查全率（对照人工标准答案）&lt;/Text&gt;&#13;&#10;                &lt;Text style={{ fontSize: 17, color: '#1A2230', fontWeight: 'bold', marginTop: 6 }}&gt;实体 100% · 画像 90% · 字段 100%&lt;/Text&gt;&#13;&#10;            &lt;/Box&gt;&#13;&#10;        &lt;/Box&gt;&#13;&#10;&#13;&#10;        &lt;Box style={{ marginTop: 14, background: '#FFFFFF', border: '1px solid #E5E7EB', padding: '14px 18px' }}&gt;&#13;&#10;            &lt;Text style={{ fontSize: 16, color: '#1A2230', fontWeight: 'bold' }}&gt;为什么不用模型自评&lt;/Text&gt;&#13;&#10;            &lt;Text style={{ fontSize: 15, color: '#4A5568', lineHeight: 1.7, marginTop: 6 }}&gt;&#13;&#10;                让模型检查自己，等于让它给自己打分，错的地方往往正是它看不到的地方。换成正则 + 原文比对，才能发现&quot;编造&quot;和&quot;真假拼接&quot;。&#13;&#10;            &lt;/Text&gt;&#13;&#10;        &lt;/Box&gt;&#13;&#10;&#13;&#10;        &lt;Box style={{ marginTop: 14, background: '#F0F5FC', borderLeft: '4px solid #1E4FA8', padding: '12px 18px' }}&gt;&#13;&#10;            &lt;Text style={{ fontSize: 16, color: '#0E3F8C', fontWeight: 'bold' }}&gt;&#13;&#10;                判断：库里的数据&quot;敢给人看&quot;，才谈得上后面拿它去填表。&#13;&#10;            &lt;/Text&gt;&#13;&#10;        &lt;/Box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3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数据底座：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266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条，全部能回到原文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这个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100%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不是模型自评，是零模型反向审计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把库里的每条数据拉回原文核对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381000" y="1162050"/>
            <a:ext cx="4953000" cy="4762500"/>
          </a:xfrm>
          <a:prstGeom prst="rect">
            <a:avLst/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85800" y="1428750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Microsoft YaHei"/>
                <a:ea typeface="Microsoft YaHei"/>
              </a:rPr>
              <a:t>当前库内总量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212407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4FA8"/>
                </a:solidFill>
                <a:latin typeface="Microsoft YaHei"/>
                <a:ea typeface="Microsoft YaHei"/>
              </a:rPr>
              <a:t>266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924175" y="2590800"/>
            <a:ext cx="209550" cy="409575"/>
          </a:xfrm>
          <a:prstGeom prst="rect"/>
        </p:spPr>
        <p:txBody>
          <a:bodyPr wrap="none" lIns="0" tIns="0" rIns="0" bIns="11430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85800" y="3171825"/>
            <a:ext cx="43434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85800" y="3352800"/>
            <a:ext cx="222885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0E3F8C"/>
                </a:solidFill>
                <a:latin typeface="Microsoft YaHei"/>
                <a:ea typeface="Microsoft YaHei"/>
              </a:rPr>
              <a:t>100%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028950" y="4010025"/>
            <a:ext cx="857250" cy="304800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可回溯原文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4467225"/>
            <a:ext cx="43434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缺摘抄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缺出处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定位失败不写库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657850" y="1162050"/>
            <a:ext cx="1457325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810250" y="1295400"/>
            <a:ext cx="1152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810250" y="1685925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份文档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7229475" y="1162050"/>
            <a:ext cx="1447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381875" y="1295400"/>
            <a:ext cx="114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137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381875" y="16859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条实体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791575" y="1162050"/>
            <a:ext cx="1457325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943975" y="1295400"/>
            <a:ext cx="11525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943975" y="1685925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份画像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0363200" y="1162050"/>
            <a:ext cx="1447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515600" y="1295400"/>
            <a:ext cx="114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4FA8"/>
                </a:solidFill>
                <a:latin typeface="Microsoft YaHei"/>
                <a:ea typeface="Microsoft YaHei"/>
              </a:rPr>
              <a:t>75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515600" y="16859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个字段值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657850" y="2152650"/>
            <a:ext cx="6153150" cy="130492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867400" y="2324100"/>
            <a:ext cx="573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审计怎么做的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867400" y="2619375"/>
            <a:ext cx="5734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反向审计：从数据库读出每一条记录，按记录里的出处坐标回到源文件的对应位置，比对原文摘抄与实际文本是否一致。全程不调用模型，重跑结果必然相同。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5657850" y="3590925"/>
            <a:ext cx="6153150" cy="685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810250" y="3724275"/>
            <a:ext cx="584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三线查全率（对照人工标准答案）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810250" y="3943350"/>
            <a:ext cx="5848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实体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100% ·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画像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90% ·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字段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100%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657850" y="4410075"/>
            <a:ext cx="615315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829300" y="4543425"/>
            <a:ext cx="5810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为什么不用模型自评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829300" y="4791075"/>
            <a:ext cx="5810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让模型检查自己，等于让它给自己打分，错的地方往往正是它看不到的地方。换成正则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原文比对，才能发现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编造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真假拼接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5695950" y="5648325"/>
            <a:ext cx="6153150" cy="419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5657850" y="5648325"/>
            <a:ext cx="6191250" cy="419100"/>
          </a:xfrm>
          <a:custGeom>
            <a:pathLst>
              <a:path w="650" h="44">
                <a:moveTo>
                  <a:pt x="0" y="0"/>
                </a:moveTo>
                <a:lnTo>
                  <a:pt x="4" y="0"/>
                </a:lnTo>
                <a:lnTo>
                  <a:pt x="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867400" y="5762625"/>
            <a:ext cx="5772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判断：库里的数据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敢给人看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，才谈得上后面拿它去填表。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13 / 22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93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模块三：给一张陌生模板，填出能交卷的表&lt;/Text&gt;&#13;&#10;        &lt;Text style={{ fontSize: 16, color: '#8B97A8', marginTop: 6 }}&gt;Excel / Word 双形态 · 模板结构现场才给 · 输出必须与模板格式逐格一致&lt;/Text&gt;&#13;&#10;    &lt;/Box&gt;&#13;&#10;&#13;&#10;    {/* 上：五段流程 */}&#13;&#10;    &lt;Box style={{ position: 'absolute', top: 116, left: 40, width: 1200, flexDirection: 'row', alignItems: 'center', gap: 9 }}&gt;&#13;&#10;        &lt;Box style={{ flex: 1, background: '#F7F9FC', border: '1px solid #D6DCE5', padding: '14px 16px', height: 104 }}&gt;&#13;&#10;            &lt;Text style={{ fontSize: 13, color: '#1E4FA8', fontWeight: 'bold' }}&gt;STEP 1&lt;/Text&gt;&#13;&#10;            &lt;Text style={{ fontSize: 18, color: '#1A2230', fontWeight: 'bold', marginTop: 4 }}&gt;读懂模板&lt;/Text&gt;&#13;&#10;            &lt;Text style={{ fontSize: 13, color: '#4A5568', marginTop: 4, lineHeight: 1.5 }}&gt;找表头行、列名、待填区&lt;/Text&gt;&#13;&#10;        &lt;/Box&gt;&#13;&#10;        &lt;svg width={22} height={16} viewBox='0 0 22 16'&gt;&lt;path d='M0 8 L14 8 M13 3 L21 8 L13 13 Z' stroke='#8B97A8' strokeWidth='1.6' fill='none' /&gt;&lt;/svg&gt;&#13;&#10;        &lt;Box style={{ flex: 1, background: '#F7F9FC', border: '1px solid #D6DCE5', padding: '14px 16px', height: 104 }}&gt;&#13;&#10;            &lt;Text style={{ fontSize: 13, color: '#1E4FA8', fontWeight: 'bold' }}&gt;STEP 2&lt;/Text&gt;&#13;&#10;            &lt;Text style={{ fontSize: 18, color: '#1A2230', fontWeight: 'bold', marginTop: 4 }}&gt;检索证据&lt;/Text&gt;&#13;&#10;            &lt;Text style={{ fontSize: 13, color: '#4A5568', marginTop: 4, lineHeight: 1.5 }}&gt;按列名从文档池筛候选块&lt;/Text&gt;&#13;&#10;        &lt;/Box&gt;&#13;&#10;        &lt;svg width={22} height={16} viewBox='0 0 22 16'&gt;&lt;path d='M0 8 L14 8 M13 3 L21 8 L13 13 Z' stroke='#8B97A8' strokeWidth='1.6' fill='none' /&gt;&lt;/svg&gt;&#13;&#10;        &lt;Box style={{ flex: 1, background: '#1E4FA8', padding: '14px 16px', height: 104 }}&gt;&#13;&#10;            &lt;Text style={{ fontSize: 13, color: '#BFD3EE', fontWeight: 'bold' }}&gt;STEP 3&lt;/Text&gt;&#13;&#10;            &lt;Text style={{ fontSize: 18, color: '#FFFFFF', fontWeight: 'bold', marginTop: 4 }}&gt;模型判值&lt;/Text&gt;&#13;&#10;            &lt;Text style={{ fontSize: 13, color: '#DCE7F7', marginTop: 4, lineHeight: 1.5 }}&gt;只输出值 + 原文摘抄&lt;/Text&gt;&#13;&#10;        &lt;/Box&gt;&#13;&#10;        &lt;svg width={22} height={16} viewBox='0 0 22 16'&gt;&lt;path d='M0 8 L14 8 M13 3 L21 8 L13 13 Z' stroke='#8B97A8' strokeWidth='1.6' fill='none' /&gt;&lt;/svg&gt;&#13;&#10;        &lt;Box style={{ flex: 1, background: '#F7F9FC', border: '1px solid #D6DCE5', padding: '14px 16px', height: 104 }}&gt;&#13;&#10;            &lt;Text style={{ fontSize: 13, color: '#1E4FA8', fontWeight: 'bold' }}&gt;STEP 4&lt;/Text&gt;&#13;&#10;            &lt;Text style={{ fontSize: 18, color: '#1A2230', fontWeight: 'bold', marginTop: 4 }}&gt;程序写回&lt;/Text&gt;&#13;&#10;            &lt;Text style={{ fontSize: 13, color: '#4A5568', marginTop: 4, lineHeight: 1.5 }}&gt;只改值，不碰样式与公式&lt;/Text&gt;&#13;&#10;        &lt;/Box&gt;&#13;&#10;        &lt;svg width={22} height={16} viewBox='0 0 22 16'&gt;&lt;path d='M0 8 L14 8 M13 3 L21 8 L13 13 Z' stroke='#8B97A8' strokeWidth='1.6' fill='none' /&gt;&lt;/svg&gt;&#13;&#10;        &lt;Box style={{ flex: 1, background: '#F7F9FC', border: '1px solid #D6DCE5', padding: '14px 16px', height: 104 }}&gt;&#13;&#10;            &lt;Text style={{ fontSize: 13, color: '#1E4FA8', fontWeight: 'bold' }}&gt;STEP 5&lt;/Text&gt;&#13;&#10;            &lt;Text style={{ fontSize: 18, color: '#1A2230', fontWeight: 'bold', marginTop: 4 }}&gt;双检定&lt;/Text&gt;&#13;&#10;            &lt;Text style={{ fontSize: 13, color: '#4A5568', marginTop: 4, lineHeight: 1.5 }}&gt;值比对 + 全表格式比对&lt;/Text&gt;&#13;&#10;        &lt;/Box&gt;&#13;&#10;    &lt;/Box&gt;&#13;&#10;&#13;&#10;    {/* 下：三铁律 + 实测 */}&#13;&#10;    &lt;Box style={{ position: 'absolute', top: 248, left: 40, width: 720 }}&gt;&#13;&#10;        &lt;Text style={{ fontSize: 14, color: '#8B97A8', letterSpacing: 1 }}&gt;写回的三条铁律&lt;/Text&gt;&#13;&#10;        &lt;Box style={{ marginTop: 10, gap: 10 }}&gt;&#13;&#10;            &lt;Box style={{ flexDirection: 'row', alignItems: 'center', gap: 14, background: '#FFFFFF', border: '1px solid #E5E7EB', borderLeft: '3px solid #1E4FA8', padding: '22px 18px' }}&gt;&#13;&#10;                &lt;Text style={{ fontSize: 20, color: '#1E4FA8', fontWeight: 'bold', width: 30 }}&gt;1&lt;/Text&gt;&#13;&#10;                &lt;Text style={{ fontSize: 17, color: '#1A2230' }}&gt;永不改原模板 —— 输出永远是新副本&lt;/Text&gt;&#13;&#10;            &lt;/Box&gt;&#13;&#10;            &lt;Box style={{ flexDirection: 'row', alignItems: 'center', gap: 14, background: '#FFFFFF', border: '1px solid #E5E7EB', borderLeft: '3px solid #1E4FA8', padding: '22px 18px' }}&gt;&#13;&#10;                &lt;Text style={{ fontSize: 20, color: '#1E4FA8', fontWeight: 'bold', width: 30 }}&gt;2&lt;/Text&gt;&#13;&#10;                &lt;Text style={{ fontSize: 17, color: '#1A2230' }}&gt;先查后写 —— 待填区已有内容就停下，交人拍板&lt;/Text&gt;&#13;&#10;            &lt;/Box&gt;&#13;&#10;            &lt;Box style={{ flexDirection: 'row', alignItems: 'center', gap: 14, background: '#FFFFFF', border: '1px solid #E5E7EB', borderLeft: '3px solid #1E4FA8', padding: '22px 18px' }}&gt;&#13;&#10;                &lt;Text style={{ fontSize: 20, color: '#1E4FA8', fontWeight: 'bold', width: 30 }}&gt;3&lt;/Text&gt;&#13;&#10;                &lt;Text style={{ fontSize: 17, color: '#1A2230' }}&gt;只填值不碰格式 —— 字体、边框、合并、公式一律不动&lt;/Text&gt;&#13;&#10;            &lt;/Box&gt;&#13;&#10;        &lt;/Box&gt;&#13;&#10;    &lt;/Box&gt;&#13;&#10;&#13;&#10;    &lt;Box style={{ position: 'absolute', top: 248, left: 792, width: 448 }}&gt;&#13;&#10;        &lt;Box style={{ background: '#F0F5FC', border: '1px solid #C9D8EC', padding: '18px 22px' }}&gt;&#13;&#10;            &lt;Text style={{ fontSize: 14, color: '#8B97A8' }}&gt;实测（5 张 Excel 模板）&lt;/Text&gt;&#13;&#10;            &lt;Text style={{ fontSize: 40, color: '#1E4FA8', fontWeight: 'bold', marginTop: 2 }}&gt;10.2 ~ 19.4 s&lt;/Text&gt;&#13;&#10;            &lt;Text style={{ fontSize: 15, color: '#4A5568', marginTop: 4 }}&gt;单张完整跑完：读文档 → 填 → 自检&lt;/Text&gt;&#13;&#10;            &lt;Box style={{ height: 1, background: '#C9D8EC', marginTop: 12 }} /&gt;&#13;&#10;            &lt;Text style={{ fontSize: 15, color: '#4A5568', marginTop: 10, lineHeight: 1.6 }}&gt;&#13;&#10;                10 份验收报告：格式差异 &lt;span style={{ fontWeight: 'bold', color: '#0E3F8C' }}&gt;0 处&lt;/span&gt;&lt;br /&gt;&#13;&#10;                值一致 &lt;span style={{ fontWeight: 'bold', color: '#0E3F8C' }}&gt;100%&lt;/span&gt; ｜ Word 模板连测 5/5&#13;&#10;            &lt;/Text&gt;&#13;&#10;        &lt;/Box&gt;&#13;&#10;        &lt;Box style={{ marginTop: 14 }}&gt;&#13;&#10;            &lt;Text style={{ fontSize: 15, color: '#4A5568', lineHeight: 1.7 }}&gt;&#13;&#10;                判断：填表题的胜负不在&quot;能不能填&quot;，而在&quot;交上去还需不需要人再改一遍&quot;。&#13;&#10;            &lt;/Text&gt;&#13;&#10;        &lt;/Box&gt;&#13;&#10;    &lt;/Box&gt;&#13;&#10;&#13;&#10;    &lt;Box style={{ position: 'absolute', left: 40, bottom: 54, width: 1200, background: '#F0F5FC', borderLeft: '4px solid #1E4FA8', padding: '12px 20px' }}&gt;&#13;&#10;        &lt;Text style={{ fontSize: 16, color: '#0E3F8C', fontWeight: 'bold' }}&gt;&#13;&#10;            Word 模板更难：合并单元格 + 段落结构，同样只写值不碰格式 —— Word 连测 5/5 全过。&#13;&#10;        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4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模块三：给一张陌生模板，填出能交卷的表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Excel / Word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双形态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模板结构现场才给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输出必须与模板格式逐格一致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1000" y="1104900"/>
            <a:ext cx="19812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33400" y="14287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读懂模板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33400" y="16764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找表头行、列名、待填区</a:t>
            </a:r>
            <a:endParaRPr/>
          </a:p>
        </p:txBody>
      </p:sp>
      <p:pic>
        <p:nvPicPr>
          <p:cNvPr id="2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47925" y="1524000"/>
            <a:ext cx="209550" cy="152400"/>
          </a:xfrm>
          <a:prstGeom prst="rect">
            <a:avLst/>
          </a:prstGeom>
          <a:ln/>
        </p:spPr>
      </p:pic>
      <p:sp>
        <p:nvSpPr>
          <p:cNvPr id="203" name=""/>
          <p:cNvSpPr/>
          <p:nvPr/>
        </p:nvSpPr>
        <p:spPr>
          <a:xfrm rot="0" flipH="0" flipV="0">
            <a:off x="2743200" y="1104900"/>
            <a:ext cx="19812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2895600" y="12382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2895600" y="14287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检索证据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895600" y="16764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按列名从文档池筛候选块</a:t>
            </a:r>
            <a:endParaRPr/>
          </a:p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10125" y="1524000"/>
            <a:ext cx="209550" cy="152400"/>
          </a:xfrm>
          <a:prstGeom prst="rect">
            <a:avLst/>
          </a:prstGeom>
          <a:ln/>
        </p:spPr>
      </p:pic>
      <p:sp>
        <p:nvSpPr>
          <p:cNvPr id="208" name=""/>
          <p:cNvSpPr/>
          <p:nvPr/>
        </p:nvSpPr>
        <p:spPr>
          <a:xfrm rot="0" flipH="0" flipV="0">
            <a:off x="5105400" y="1104900"/>
            <a:ext cx="1981200" cy="9906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257800" y="12382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BFD3EE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257800" y="14287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模型判值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257800" y="16764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DCE7F7"/>
                </a:solidFill>
                <a:latin typeface="Microsoft YaHei"/>
                <a:ea typeface="Microsoft YaHei"/>
              </a:rPr>
              <a:t>只输出值</a:t>
            </a:r>
            <a:r>
              <a:rPr lang="en-US" sz="975">
                <a:solidFill>
                  <a:srgbClr val="DCE7F7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DCE7F7"/>
                </a:solidFill>
                <a:latin typeface="Microsoft YaHei"/>
                <a:ea typeface="Microsoft YaHei"/>
              </a:rPr>
              <a:t>原文摘抄</a:t>
            </a:r>
            <a:endParaRPr/>
          </a:p>
        </p:txBody>
      </p:sp>
      <p:pic>
        <p:nvPicPr>
          <p:cNvPr id="2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72325" y="1524000"/>
            <a:ext cx="209550" cy="152400"/>
          </a:xfrm>
          <a:prstGeom prst="rect">
            <a:avLst/>
          </a:prstGeom>
          <a:ln/>
        </p:spPr>
      </p:pic>
      <p:sp>
        <p:nvSpPr>
          <p:cNvPr id="213" name=""/>
          <p:cNvSpPr/>
          <p:nvPr/>
        </p:nvSpPr>
        <p:spPr>
          <a:xfrm rot="0" flipH="0" flipV="0">
            <a:off x="7467600" y="1104900"/>
            <a:ext cx="19812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20000" y="12382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620000" y="14287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程序写回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20000" y="16764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只改值，不碰样式与公式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34525" y="1524000"/>
            <a:ext cx="209550" cy="152400"/>
          </a:xfrm>
          <a:prstGeom prst="rect">
            <a:avLst/>
          </a:prstGeom>
          <a:ln/>
        </p:spPr>
      </p:pic>
      <p:sp>
        <p:nvSpPr>
          <p:cNvPr id="218" name=""/>
          <p:cNvSpPr/>
          <p:nvPr/>
        </p:nvSpPr>
        <p:spPr>
          <a:xfrm rot="0" flipH="0" flipV="0">
            <a:off x="9829800" y="1104900"/>
            <a:ext cx="1981200" cy="9906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982200" y="12382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982200" y="14287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双检定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982200" y="16764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值比对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全表格式比对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81000" y="2362200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8B97A8"/>
                </a:solidFill>
                <a:latin typeface="Microsoft YaHei"/>
                <a:ea typeface="Microsoft YaHei"/>
              </a:rPr>
              <a:t>写回的三条铁律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09575" y="2619375"/>
            <a:ext cx="6858000" cy="647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381000" y="2619375"/>
            <a:ext cx="6886575" cy="647700"/>
          </a:xfrm>
          <a:custGeom>
            <a:pathLst>
              <a:path w="723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81025" y="28289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000125" y="2847975"/>
            <a:ext cx="2714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永不改原模板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输出永远是新副本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409575" y="3362325"/>
            <a:ext cx="6858000" cy="647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381000" y="3362325"/>
            <a:ext cx="6886575" cy="647700"/>
          </a:xfrm>
          <a:custGeom>
            <a:pathLst>
              <a:path w="723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81025" y="35718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000125" y="3590925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先查后写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待填区已有内容就停下，交人拍板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409575" y="4105275"/>
            <a:ext cx="6858000" cy="6477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381000" y="4105275"/>
            <a:ext cx="6886575" cy="647700"/>
          </a:xfrm>
          <a:custGeom>
            <a:pathLst>
              <a:path w="723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81025" y="43148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000125" y="4333875"/>
            <a:ext cx="401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只填值不碰格式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字体、边框、合并、公式一律不动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543800" y="2362200"/>
            <a:ext cx="4267200" cy="1962150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753350" y="2533650"/>
            <a:ext cx="3848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实测（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张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Excel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模板）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753350" y="2714625"/>
            <a:ext cx="3848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10.2 ~ 19.4 s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753350" y="3209925"/>
            <a:ext cx="384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单张完整跑完：读文档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自检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753350" y="3495675"/>
            <a:ext cx="3848100" cy="9525"/>
          </a:xfrm>
          <a:prstGeom prst="rect">
            <a:avLst/>
          </a:prstGeom>
          <a:solidFill>
            <a:srgbClr val="C9D8E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753350" y="3600450"/>
            <a:ext cx="384810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份验收报告：格式差异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0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处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值一致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100%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Word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模板连测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5/5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543800" y="4457700"/>
            <a:ext cx="4267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判断：填表题的胜负不在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能不能填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，而在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交上去还需不需要人再改一遍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19100" y="5924550"/>
            <a:ext cx="11391900" cy="419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381000" y="5924550"/>
            <a:ext cx="11430000" cy="419100"/>
          </a:xfrm>
          <a:custGeom>
            <a:pathLst>
              <a:path w="1200" h="44">
                <a:moveTo>
                  <a:pt x="0" y="0"/>
                </a:moveTo>
                <a:lnTo>
                  <a:pt x="4" y="0"/>
                </a:lnTo>
                <a:lnTo>
                  <a:pt x="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Word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模板更难：合并单元格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段落结构，同样只写值不碰格式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—— Word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连测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5/5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全过。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7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系统形态：一个网页操作台，19 个 API&lt;/Text&gt;&#13;&#10;        &lt;Text style={{ fontSize: 16, color: '#8B97A8', marginTop: 6 }}&gt;双击启动 → 浏览器打开 → 所有能力都能点得到，也都能通过接口调用&lt;/Text&gt;&#13;&#10;    &lt;/Box&gt;&#13;&#10;&#13;&#10;    {/* 左：截图 */}&#13;&#10;    &lt;Box style={{ position: 'absolute', top: 116, left: 40, width: 730 }}&gt;&#13;&#10;        &lt;Box style={{ border: '1px solid #D6DCE5', background: '#F7F9FC', padding: 8 }}&gt;&#13;&#10;            &lt;Image src='assets/ui-top.png' style={{ width: 714, height: 295, objectFit: 'cover' }} /&gt;&#13;&#10;        &lt;/Box&gt;&#13;&#10;        &lt;Box style={{ flexDirection: 'row', justifyContent: 'space-between', marginTop: 8 }}&gt;&#13;&#10;            &lt;Text style={{ fontSize: 13, color: '#8B97A8' }}&gt;操作台真实界面（本机 8000 端口截取）&lt;/Text&gt;&#13;&#10;            &lt;Text style={{ fontSize: 13, color: '#8B97A8' }}&gt;顶栏：指南 / 历史 / 仓库 / 识别入库 / 表格填写&lt;/Text&gt;&#13;&#10;        &lt;/Box&gt;&#13;&#10;&#13;&#10;        &lt;Box style={{ marginTop: 16, background: '#F7F9FC', border: '1px solid #E5E7EB', padding: '14px 18px' }}&gt;&#13;&#10;            &lt;Text style={{ fontSize: 16, color: '#1A2230', fontWeight: 'bold' }}&gt;部署方式&lt;/Text&gt;&#13;&#10;            &lt;Text style={{ fontSize: 15, color: '#4A5568', lineHeight: 1.7, marginTop: 6 }}&gt;&#13;&#10;                根目录双击「启动操作台.bat」即起服务并自动开浏览器；也可命令行 python pipeline.py 直接跑填表。服务端 FastAPI，前端单文件零依赖。&#13;&#10;            &lt;/Text&gt;&#13;&#10;            &lt;Box style={{ flexDirection: 'row', gap: 16, marginTop: 8, paddingTop: 8, borderTop: '1px solid #E5E7EB' }}&gt;&#13;&#10;                &lt;Text style={{ fontSize: 14, color: '#4A5568' }}&gt;服务状态：&lt;span style={{ color: '#1E7A4B', fontWeight: 'bold' }}&gt;ok&lt;/span&gt;&lt;/Text&gt;&#13;&#10;                &lt;Text style={{ fontSize: 14, color: '#4A5568' }}&gt;文档：18 份&lt;/Text&gt;&#13;&#10;                &lt;Text style={{ fontSize: 14, color: '#4A5568' }}&gt;模板：10 张&lt;/Text&gt;&#13;&#10;                &lt;Text style={{ fontSize: 14, color: '#4A5568' }}&gt;数据库：ok&lt;/Text&gt;&#13;&#10;            &lt;/Box&gt;&#13;&#10;        &lt;/Box&gt;&#13;&#10;    &lt;/Box&gt;&#13;&#10;&#13;&#10;    {/* 右：三块 */}&#13;&#10;    &lt;Box style={{ position: 'absolute', top: 116, left: 800, width: 440 }}&gt;&#13;&#10;        &lt;Box style={{ borderLeft: '3px solid #1E4FA8', paddingLeft: 14 }}&gt;&#13;&#10;            &lt;Text style={{ fontSize: 13, color: '#8B97A8', letterSpacing: 1 }}&gt;形态&lt;/Text&gt;&#13;&#10;            &lt;Text style={{ fontSize: 20, color: '#1A2230', fontWeight: 'bold', marginTop: 2 }}&gt;Web 网站 + CLI 双入口&lt;/Text&gt;&#13;&#10;            &lt;Text style={{ fontSize: 14, color: '#4A5568', lineHeight: 1.6, marginTop: 4 }}&gt;&#13;&#10;                满足赛题&quot;程序形态不限&quot;，同时保留脚本入口便于批量测试&#13;&#10;            &lt;/Text&gt;&#13;&#10;        &lt;/Box&gt;&#13;&#10;&#13;&#10;        &lt;Box style={{ borderLeft: '3px solid #1E4FA8', paddingLeft: 14, marginTop: 20 }}&gt;&#13;&#10;            &lt;Text style={{ fontSize: 13, color: '#8B97A8', letterSpacing: 1 }}&gt;接口&lt;/Text&gt;&#13;&#10;            &lt;Text style={{ fontSize: 20, color: '#1A2230', fontWeight: 'bold', marginTop: 2 }}&gt;19 个 API 端点&lt;/Text&gt;&#13;&#10;            &lt;Text style={{ fontSize: 14, color: '#4A5568', lineHeight: 1.6, marginTop: 4 }}&gt;&#13;&#10;                /api/command 指令 · /api/recognize 识别 · /api/fill 填写 · 仓库查询 5 个 · 上传与状态&#13;&#10;            &lt;/Text&gt;&#13;&#10;        &lt;/Box&gt;&#13;&#10;&#13;&#10;        &lt;Box style={{ borderLeft: '3px solid #1E4FA8', paddingLeft: 14, marginTop: 20 }}&gt;&#13;&#10;            &lt;Text style={{ fontSize: 13, color: '#8B97A8', letterSpacing: 1 }}&gt;异步&lt;/Text&gt;&#13;&#10;            &lt;Text style={{ fontSize: 20, color: '#1A2230', fontWeight: 'bold', marginTop: 2 }}&gt;提交即返回，轮询取结果&lt;/Text&gt;&#13;&#10;            &lt;Box style={{ flexDirection: 'row', alignItems: 'center', gap: 6, marginTop: 8 }}&gt;&#13;&#10;                &lt;Box style={{ background: '#E8EFF8', padding: '6px 8px' }}&gt;&lt;Text style={{ fontSize: 12, color: '#0E3F8C' }}&gt;POST&lt;/Text&gt;&lt;/Box&gt;&#13;&#10;                &lt;Text style={{ fontSize: 12, color: '#8B97A8' }}&gt;→&lt;/Text&gt;&#13;&#10;                &lt;Box style={{ background: '#E8EFF8', padding: '6px 8px' }}&gt;&lt;Text style={{ fontSize: 12, color: '#0E3F8C' }}&gt;job_id&lt;/Text&gt;&lt;/Box&gt;&#13;&#10;                &lt;Text style={{ fontSize: 12, color: '#8B97A8' }}&gt;→&lt;/Text&gt;&#13;&#10;                &lt;Box style={{ background: '#E8EFF8', padding: '6px 8px' }}&gt;&lt;Text style={{ fontSize: 12, color: '#0E3F8C' }}&gt;轮询&lt;/Text&gt;&lt;/Box&gt;&#13;&#10;            &lt;/Box&gt;&#13;&#10;            &lt;Text style={{ fontSize: 14, color: '#4A5568', lineHeight: 1.6, marginTop: 4 }}&gt;&#13;&#10;                三线提取实测 19.15 秒，提交 0.00 秒返回——页面不干等&#13;&#10;            &lt;/Text&gt;&#13;&#10;        &lt;/Box&gt;&#13;&#10;&#13;&#10;        &lt;Box style={{ marginTop: 22, background: '#FFF8E1', border: '1px solid #F0DCA8', padding: '14px 16px' }}&gt;&#13;&#10;            &lt;Text style={{ fontSize: 15, color: '#8A6D1F', lineHeight: 1.6 }}&gt;&#13;&#10;                赛题明确要求&quot;识别分类模块提供 API、支持异步调用&quot;，这条是硬指标，专门做了独立端点与任务类型。&#13;&#10;            &lt;/Text&gt;&#13;&#10;        &lt;/Box&gt;&#13;&#10;    &lt;/Box&gt;&#13;&#10;&#13;&#10;    &lt;Box style={{ position: 'absolute', left: 40, bottom: 52, width: 1200, background: '#F7F9FC', border: '1px solid #E5E7EB', padding: '12px 20px' }}&gt;&#13;&#10;        &lt;Text style={{ fontSize: 15, color: '#4A5568' }}&gt;&#13;&#10;            19 个端点覆盖指令 / 识别 / 填写 / 仓库查询 / 上传 / 状态；每个端点都有参数说明，可直接用于技术文档。&#13;&#10;        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5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系统形态：一个网页操作台，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19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个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双击启动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浏览器打开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所有能力都能点得到，也都能通过接口调用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381000" y="1104900"/>
            <a:ext cx="6953250" cy="2962275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53" name=""/>
          <p:cNvPicPr>
            <a:picLocks noChangeAspect="1"/>
          </p:cNvPicPr>
          <p:nvPr/>
        </p:nvPicPr>
        <p:blipFill>
          <a:blip r:embed="rId1"/>
          <a:srcRect l="0" t="20" r="0" b="20"/>
          <a:stretch>
            <a:fillRect/>
          </a:stretch>
        </p:blipFill>
        <p:spPr>
          <a:xfrm rot="0" flipH="0" flipV="0">
            <a:off x="457200" y="1181100"/>
            <a:ext cx="6800850" cy="2809875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81000" y="414337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操作台真实界面（本机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8000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端口截取）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724400" y="4143375"/>
            <a:ext cx="2609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顶栏：指南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历史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仓库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识别入库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表格填写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81000" y="4448175"/>
            <a:ext cx="6953250" cy="14287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52450" y="4581525"/>
            <a:ext cx="661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部署方式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52450" y="4829175"/>
            <a:ext cx="661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根目录双击「启动操作台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.bat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」即起服务并自动开浏览器；也可命令行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python pipeline.py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直接跑填表。服务端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FastAPI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，前端单文件零依赖。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552450" y="5495925"/>
            <a:ext cx="6610350" cy="257175"/>
          </a:xfrm>
          <a:custGeom>
            <a:pathLst>
              <a:path w="694" h="27">
                <a:moveTo>
                  <a:pt x="0" y="0"/>
                </a:moveTo>
                <a:lnTo>
                  <a:pt x="694" y="0"/>
                </a:lnTo>
                <a:lnTo>
                  <a:pt x="694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52450" y="558165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服务状态：</a:t>
            </a:r>
            <a:r>
              <a:rPr lang="en-US" sz="1050" b="1">
                <a:solidFill>
                  <a:srgbClr val="1E7A4B"/>
                </a:solidFill>
                <a:latin typeface="Microsoft YaHei"/>
                <a:ea typeface="Microsoft YaHei"/>
              </a:rPr>
              <a:t>ok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543050" y="5581650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文档：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18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份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2428875" y="5581650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模板：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10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314700" y="5581650"/>
            <a:ext cx="695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数据库：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ok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620000" y="1104900"/>
            <a:ext cx="4219575" cy="695325"/>
          </a:xfrm>
          <a:custGeom>
            <a:pathLst>
              <a:path w="443" h="73">
                <a:moveTo>
                  <a:pt x="0" y="0"/>
                </a:moveTo>
                <a:lnTo>
                  <a:pt x="3" y="0"/>
                </a:lnTo>
                <a:lnTo>
                  <a:pt x="3" y="73"/>
                </a:lnTo>
                <a:lnTo>
                  <a:pt x="0" y="73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781925" y="110490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形态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781925" y="1276350"/>
            <a:ext cx="402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Web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网站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+ CLI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双入口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781925" y="1543050"/>
            <a:ext cx="40290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满足赛题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程序形态不限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，同时保留脚本入口便于批量测试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620000" y="1990725"/>
            <a:ext cx="4219575" cy="952500"/>
          </a:xfrm>
          <a:custGeom>
            <a:pathLst>
              <a:path w="443" h="100">
                <a:moveTo>
                  <a:pt x="0" y="0"/>
                </a:moveTo>
                <a:lnTo>
                  <a:pt x="3" y="0"/>
                </a:lnTo>
                <a:lnTo>
                  <a:pt x="3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781925" y="19907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接口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781925" y="2162175"/>
            <a:ext cx="402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19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API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端点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781925" y="2428875"/>
            <a:ext cx="4029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/api/command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指令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/api/recognize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识别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/api/fill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填写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仓库查询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上传与状态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620000" y="3133725"/>
            <a:ext cx="4219575" cy="1028700"/>
          </a:xfrm>
          <a:custGeom>
            <a:pathLst>
              <a:path w="443" h="108">
                <a:moveTo>
                  <a:pt x="0" y="0"/>
                </a:moveTo>
                <a:lnTo>
                  <a:pt x="3" y="0"/>
                </a:lnTo>
                <a:lnTo>
                  <a:pt x="3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781925" y="3133725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B97A8"/>
                </a:solidFill>
                <a:latin typeface="Microsoft YaHei"/>
                <a:ea typeface="Microsoft YaHei"/>
              </a:rPr>
              <a:t>异步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781925" y="3305175"/>
            <a:ext cx="402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提交即返回，轮询取结果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7781925" y="3609975"/>
            <a:ext cx="447675" cy="2571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58125" y="36671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3F8C"/>
                </a:solidFill>
                <a:latin typeface="Microsoft YaHei"/>
                <a:ea typeface="Microsoft YaHei"/>
              </a:rPr>
              <a:t>POST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86750" y="36671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8458200" y="3609975"/>
            <a:ext cx="485775" cy="2571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534400" y="3667125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E3F8C"/>
                </a:solidFill>
                <a:latin typeface="Microsoft YaHei"/>
                <a:ea typeface="Microsoft YaHei"/>
              </a:rPr>
              <a:t>job_id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001125" y="36671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8B97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9172575" y="3609975"/>
            <a:ext cx="381000" cy="2571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248775" y="36671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E3F8C"/>
                </a:solidFill>
                <a:latin typeface="Microsoft YaHei"/>
                <a:ea typeface="Microsoft YaHei"/>
              </a:rPr>
              <a:t>轮询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781925" y="3905250"/>
            <a:ext cx="40290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三线提取实测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19.15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秒，提交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0.00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秒返回——页面不干等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620000" y="4371975"/>
            <a:ext cx="4191000" cy="819150"/>
          </a:xfrm>
          <a:prstGeom prst="rect">
            <a:avLst/>
          </a:prstGeom>
          <a:solidFill>
            <a:srgbClr val="FFF8E1"/>
          </a:solidFill>
          <a:ln w="12700">
            <a:solidFill>
              <a:srgbClr val="F0DCA8"/>
            </a:solidFill>
            <a:prstDash val="solid"/>
          </a:ln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772400" y="4505325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8A6D1F"/>
                </a:solidFill>
                <a:latin typeface="Microsoft YaHei"/>
                <a:ea typeface="Microsoft YaHei"/>
              </a:rPr>
              <a:t>赛题明确要求</a:t>
            </a:r>
            <a:r>
              <a:rPr lang="en-US" sz="1125">
                <a:solidFill>
                  <a:srgbClr val="8A6D1F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A6D1F"/>
                </a:solidFill>
                <a:latin typeface="Microsoft YaHei"/>
                <a:ea typeface="Microsoft YaHei"/>
              </a:rPr>
              <a:t>识别分类模块提供</a:t>
            </a:r>
            <a:r>
              <a:rPr lang="en-US" sz="1125">
                <a:solidFill>
                  <a:srgbClr val="8A6D1F"/>
                </a:solidFill>
                <a:latin typeface="Microsoft YaHei"/>
                <a:ea typeface="Microsoft YaHei"/>
              </a:rPr>
              <a:t> API</a:t>
            </a:r>
            <a:r>
              <a:rPr lang="zh-CN" sz="1125">
                <a:solidFill>
                  <a:srgbClr val="8A6D1F"/>
                </a:solidFill>
                <a:latin typeface="Microsoft YaHei"/>
                <a:ea typeface="Microsoft YaHei"/>
              </a:rPr>
              <a:t>、支持异步调用</a:t>
            </a:r>
            <a:r>
              <a:rPr lang="en-US" sz="1125">
                <a:solidFill>
                  <a:srgbClr val="8A6D1F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8A6D1F"/>
                </a:solidFill>
                <a:latin typeface="Microsoft YaHei"/>
                <a:ea typeface="Microsoft YaHei"/>
              </a:rPr>
              <a:t>，这条是硬指标，专门做了独立端点与任务类型。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381000" y="5962650"/>
            <a:ext cx="11430000" cy="4000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71500" y="607695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19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个端点覆盖指令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识别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填写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仓库查询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上传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状态；每个端点都有参数说明，可直接用于技术文档。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15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90" name="" descr="&lt;Slide style={{ width: 1280, height: 720, position: 'relative', background: '#FFFFFF', padding: 0, fontFamily: 'Microsoft YaHei' }}&gt;&#10;    &lt;Box style={{ position: 'absolute', top: 0, left: 0, width: 1280, height: 8, background: '#1E4FA8' }} /&gt;&#10;    &lt;Box style={{ position: 'absolute', top: 8, right: 0, width: 320, height: 652, background: '#F0F5FC' }} /&gt;&#10;&#10;    &lt;Box style={{ position: 'absolute', top: 120, left: 72, width: 800 }}&gt;&#10;        &lt;Text style={{ fontSize: 200, color: '#1E4FA8', fontWeight: 'bold', lineHeight: 1 }}&gt;03&lt;/Text&gt;&#10;        &lt;Box style={{ width: 80, height: 5, background: '#FFC107', marginTop: 8 }} /&gt;&#10;        &lt;Text style={{ fontSize: 46, color: '#0E3F8C', fontWeight: 'bold', marginTop: 22 }}&gt;&#10;            验证与计划：做到哪一步&#10;        &lt;/Text&gt;&#10;        &lt;Box style={{ marginTop: 22, gap: 12 }}&gt;&#10;            &lt;Box style={{ flexDirection: 'row', alignItems: 'center', gap: 12 }}&gt;&#10;                &lt;Box style={{ width: 7, height: 7, background: '#1E4FA8' }} /&gt;&#10;                &lt;Text style={{ fontSize: 19, color: '#4A5568' }}&gt;硬指标实测 —— 按比赛当天口径&lt;/Text&gt;&#10;            &lt;/Box&gt;&#10;            &lt;Box style={{ flexDirection: 'row', alignItems: 'center', gap: 12 }}&gt;&#10;                &lt;Box style={{ width: 7, height: 7, background: '#1E4FA8' }} /&gt;&#10;                &lt;Text style={{ fontSize: 19, color: '#4A5568' }}&gt;自动化验收 —— 73 项可复跑&lt;/Text&gt;&#10;            &lt;/Box&gt;&#10;            &lt;Box style={{ flexDirection: 'row', alignItems: 'center', gap: 12 }}&gt;&#10;                &lt;Box style={{ width: 7, height: 7, background: '#1E4FA8' }} /&gt;&#10;                &lt;Text style={{ fontSize: 19, color: '#4A5568' }}&gt;进度盘点 —— 已完成什么、还差什么&lt;/Text&gt;&#10;            &lt;/Box&gt;&#10;        &lt;/Box&gt;&#10;    &lt;/Box&gt;&#10;&#10;    &lt;Box style={{ position: 'absolute', left: 40, bottom: 20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16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9144000" y="76200"/>
            <a:ext cx="3048000" cy="62103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76200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85800" y="35052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76200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0E3F8C"/>
                </a:solidFill>
                <a:latin typeface="Microsoft YaHei"/>
                <a:ea typeface="Microsoft YaHei"/>
              </a:rPr>
              <a:t>验证与计划：做到哪一步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85800" y="4581525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66775" y="4505325"/>
            <a:ext cx="2676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硬指标实测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按比赛当天口径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85800" y="4914900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66775" y="4838700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自动化验收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73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项可复跑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85800" y="5248275"/>
            <a:ext cx="66675" cy="666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66775" y="5172075"/>
            <a:ext cx="3038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进度盘点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——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已完成什么、还差什么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c="http://schemas.openxmlformats.org/drawingml/2006/chart" xmlns:a16="http://schemas.microsoft.com/office/drawing/2014/main" xmlns:mc="http://schemas.openxmlformats.org/markup-compatibility/2006" mc:Ignorable="asvg a16">
  <p:cSld>
    <p:spTree>
      <p:nvGrpSpPr>
        <p:cNvPr id="305" name="" descr="&lt;Slide style={{ width: 1280, height: 720, position: 'relative', background: '#FFFFFF', padding: 0, fontFamily: 'Microsoft YaHei' }}&gt;&#10;    &lt;Box style={{ position: 'absolute', top: 0, left: 0, width: 1280, height: 8, background: '#1E4FA8' }} /&gt;&#10;&#10;    &lt;Box style={{ position: 'absolute', top: 32, left: 40, width: 1200 }}&gt;&#10;        &lt;Text style={{ fontSize: 34, color: '#0E3F8C', fontWeight: 'bold' }}&gt;硬指标实测：四项全部达标，最差仍有 2 倍余量&lt;/Text&gt;&#10;        &lt;Text style={{ fontSize: 16, color: '#8B97A8', marginTop: 6 }}&gt;口径照赛题【评价方法】：16 份规格样本 + 5 张模板，逐张计时、逐格对分&lt;/Text&gt;&#10;    &lt;/Box&gt;&#10;&#10;    {/* 左：表格 */}&#10;    &lt;Box style={{ position: 'absolute', top: 112, left: 40, width: 700 }}&gt;&#10;        &lt;Table&#10;            style={{ width: '100%', height: 470 }}&#10;            defaultTextStyle={{ fontSize: 15, textAlign: 'left', color: '#1A2230' }}&#10;            defaultCellStyle={{&#10;                border: {&#10;                    left: { width: 0, color: '#FFFFFF' },&#10;                    right: { width: 0, color: '#FFFFFF' },&#10;                    top: { width: 0, color: '#FFFFFF' },&#10;                    bottom: { width: 1, color: '#D6DCE5' },&#10;                },&#10;            }}&#10;            cells={[&#10;                [&#10;                    { text: '考核项', textStyle: { bold: true, color: '#FFFFFF', fontSize: 15 }, cellStyle: { background: { color: '#0E3F8C' } } },&#10;                    { text: '赛题阈值', textStyle: { bold: true, color: '#FFFFFF', fontSize: 15 }, cellStyle: { background: { color: '#0E3F8C' } } },&#10;                    { text: '我们的实测', textStyle: { bold: true, color: '#FFFFFF', fontSize: 15 }, cellStyle: { background: { color: '#0E3F8C' } } },&#10;                ],&#10;                [&#10;                    { text: '样本规格', textStyle: { bold: true } },&#10;                    '16 份（5+5+3+3）',&#10;                    { text: '16/16 全部达标', textStyle: { color: '#0E3F8C', bold: true } },&#10;                ],&#10;                [&#10;                    { text: '单表准确率', textStyle: { bold: true }, cellStyle: { background: { color: '#F7F9FC' } } },&#10;                    { text: '≥ 80%', textStyle: { color: '#B04A45', bold: true }, cellStyle: { background: { color: '#F7F9FC' } } },&#10;                    { text: '严格 85.7% ｜ 宽松 100%', cellStyle: { background: { color: '#F7F9FC' } } },&#10;                ],&#10;                [&#10;                    { text: '单表响应', textStyle: { bold: true } },&#10;                    { text: '≤ 90 秒', textStyle: { color: '#B04A45', bold: true } },&#10;                    '10.19 ~ 43.68 秒',&#10;                ],&#10;                [&#10;                    { text: '平均响应', textStyle: { bold: true }, cellStyle: { background: { color: '#F7F9FC' } } },&#10;                    '5 张取平均',&#10;                    { text: '30.34 s / 16.30 s', cellStyle: { background: { color: '#F7F9FC' } } },&#10;                ],&#10;                [&#10;                    { text: '模板形态', textStyle: { bold: true } },&#10;                    'word 或 excel',&#10;                    { text: 'Excel 5/5 ｜ Word 5/5', textStyle: { color: '#0E3F8C', bold: true } },&#10;                ],&#10;            ]}&#10;        /&gt;&#10;        &lt;Box style={{ flexDirection: 'row', gap: 10, marginTop: 10 }}&gt;&#10;            &lt;FAIcon name='check-circle' fill='#1E7A4B' style={{ width: 20, height: 20 }} /&gt;&#10;            &lt;Text style={{ fontSize: 15, color: '#1E7A4B', fontWeight: 'bold' }}&gt;五项全部达标（准确率、响应时间、样本、模板、形态）&lt;/Text&gt;&#10;        &lt;/Box&gt;&#10;    &lt;/Box&gt;&#10;&#10;    {/* 右：图表 */}&#10;    &lt;Box style={{ position: 'absolute', top: 112, left: 784, width: 456 }}&gt;&#10;        &lt;Text style={{ fontSize: 15, color: '#4A5568', fontWeight: 'bold' }}&gt;5 张模板的单表响应（大文档池）&lt;/Text&gt;&#10;        &lt;Chart&#10;            style={{ width: 456, height: 330, marginTop: 6 }}&#10;            chartType='barChart'&#10;            barDirection='bar'&#10;            showLegend={false}&#10;            showDataLabels={true}&#10;            dataLabelColor='#1A2230'&#10;            axisColor='#8B97A8'&#10;            colors={['#1E4FA8']}&#10;            background='#FFFFFF'&#10;            data={[&#10;                ['模板', '秒'],&#10;                ['模板1', 29.14],&#10;                ['模板2', 26.99],&#10;                ['模板3', 18.47],&#10;                ['模板4', 33.44],&#10;                ['模板5', 43.68],&#10;            ]}&#10;        /&gt;&#10;        &lt;Box style={{ flexDirection: 'row', alignItems: 'center', gap: 8 }}&gt;&#10;            &lt;Box style={{ width: 24, height: 3, background: '#D9534F' }} /&gt;&#10;            &lt;Text style={{ fontSize: 13, color: '#B04A45' }}&gt;赛题红线：单表 ≤ 90 秒（图中最慢 43.68 秒）&lt;/Text&gt;&#10;        &lt;/Box&gt;&#10;&#10;        &lt;Box style={{ marginTop: 12, background: '#F0F5FC', border: '1px solid #C9D8EC', padding: '14px 16px' }}&gt;&#10;            &lt;Text style={{ fontSize: 16, color: '#0E3F8C', fontWeight: 'bold' }}&gt;判断&lt;/Text&gt;&#10;            &lt;Text style={{ fontSize: 15, color: '#4A5568', lineHeight: 1.7, marginTop: 4 }}&gt;&#10;                最慢一张距红线还有约一倍空间；准确率按最严口径也高于 80%。&#10;            &lt;/Text&gt;&#10;        &lt;/Box&gt;&#10;    &lt;/Box&gt;&#10;&#10;    &lt;Box style={{ position: 'absolute', left: 40, bottom: 16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17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3048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硬指标实测：四项全部达标，最差仍有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2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倍余量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1000" y="752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口径照赛题【评价方法】：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16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份规格样本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+ 5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张模板，逐张计时、逐格对分</a:t>
            </a:r>
            <a:endParaRPr/>
          </a:p>
        </p:txBody>
      </p:sp>
      <p:graphicFrame>
        <p:nvGraphicFramePr>
          <p:cNvPr id="310" name=""/>
          <p:cNvGraphicFramePr/>
          <p:nvPr/>
        </p:nvGraphicFramePr>
        <p:xfrm rot="0" flipH="0" flipV="0">
          <a:off x="381000" y="1066800"/>
          <a:ext cx="6667500" cy="4476750"/>
        </p:xfrm>
        <a:graphic>
          <a:graphicData uri="http://schemas.openxmlformats.org/drawingml/2006/table">
            <a:tbl>
              <a:tblGrid>
                <a:gridCol w="1356591">
                  <a:extLst>
                    <a:ext uri="{9D8B030D-6E8A-4147-A177-3AD203B41FA5}">
                      <a16:colId val="1"/>
                    </a:ext>
                  </a:extLst>
                </a:gridCol>
                <a:gridCol w="2334747">
                  <a:extLst>
                    <a:ext uri="{9D8B030D-6E8A-4147-A177-3AD203B41FA5}">
                      <a16:colId val="2"/>
                    </a:ext>
                  </a:extLst>
                </a:gridCol>
                <a:gridCol w="29761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考核项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赛题阈值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我们的实测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样本规格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16 份（5+5+3+3）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16/16 全部达标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单表准确率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B04A45"/>
                          </a:solidFill>
                          <a:latin typeface="Microsoft YaHei"/>
                          <a:ea typeface="Microsoft YaHei"/>
                        </a:rPr>
                        <a:t>≥ 80%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严格 85.7% ｜ 宽松 100%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单表响应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B04A45"/>
                          </a:solidFill>
                          <a:latin typeface="Microsoft YaHei"/>
                          <a:ea typeface="Microsoft YaHei"/>
                        </a:rPr>
                        <a:t>≤ 90 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10.19 ~ 43.68 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平均响应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 张取平均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30.34 s / 16.30 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461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模板形态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word 或 excel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Excel 5/5 ｜ Word 5/5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pic>
        <p:nvPicPr>
          <p:cNvPr id="3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81000" y="5638800"/>
            <a:ext cx="190500" cy="190500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66750" y="5638800"/>
            <a:ext cx="3571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7A4B"/>
                </a:solidFill>
                <a:latin typeface="Microsoft YaHei"/>
                <a:ea typeface="Microsoft YaHei"/>
              </a:rPr>
              <a:t>五项全部达标（准确率、响应时间、样本、模板、形态）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467600" y="1066800"/>
            <a:ext cx="434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5 </a:t>
            </a:r>
            <a:r>
              <a:rPr lang="zh-CN" sz="1125" b="1">
                <a:solidFill>
                  <a:srgbClr val="4A5568"/>
                </a:solidFill>
                <a:latin typeface="Microsoft YaHei"/>
                <a:ea typeface="Microsoft YaHei"/>
              </a:rPr>
              <a:t>张模板的单表响应（大文档池）</a:t>
            </a:r>
            <a:endParaRPr/>
          </a:p>
        </p:txBody>
      </p:sp>
      <p:graphicFrame>
        <p:nvGraphicFramePr>
          <p:cNvPr id="314" name="314"/>
          <p:cNvGraphicFramePr/>
          <p:nvPr/>
        </p:nvGraphicFramePr>
        <p:xfrm rot="0" flipH="0" flipV="0">
          <a:off x="7467600" y="1295400"/>
          <a:ext cx="4343400" cy="31432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315" name=""/>
          <p:cNvSpPr/>
          <p:nvPr/>
        </p:nvSpPr>
        <p:spPr>
          <a:xfrm rot="0" flipH="0" flipV="0">
            <a:off x="7467600" y="4505325"/>
            <a:ext cx="228600" cy="28575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772400" y="4438650"/>
            <a:ext cx="2600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04A45"/>
                </a:solidFill>
                <a:latin typeface="Microsoft YaHei"/>
                <a:ea typeface="Microsoft YaHei"/>
              </a:rPr>
              <a:t>赛题红线：单表</a:t>
            </a:r>
            <a:r>
              <a:rPr lang="en-US" sz="975">
                <a:solidFill>
                  <a:srgbClr val="B04A45"/>
                </a:solidFill>
                <a:latin typeface="Microsoft YaHei"/>
                <a:ea typeface="Microsoft YaHei"/>
              </a:rPr>
              <a:t> ≤ 90 </a:t>
            </a:r>
            <a:r>
              <a:rPr lang="zh-CN" sz="975">
                <a:solidFill>
                  <a:srgbClr val="B04A45"/>
                </a:solidFill>
                <a:latin typeface="Microsoft YaHei"/>
                <a:ea typeface="Microsoft YaHei"/>
              </a:rPr>
              <a:t>秒（图中最慢</a:t>
            </a:r>
            <a:r>
              <a:rPr lang="en-US" sz="975">
                <a:solidFill>
                  <a:srgbClr val="B04A45"/>
                </a:solidFill>
                <a:latin typeface="Microsoft YaHei"/>
                <a:ea typeface="Microsoft YaHei"/>
              </a:rPr>
              <a:t> 43.68 </a:t>
            </a:r>
            <a:r>
              <a:rPr lang="zh-CN" sz="975">
                <a:solidFill>
                  <a:srgbClr val="B04A45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7467600" y="4705350"/>
            <a:ext cx="4343400" cy="1085850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620000" y="483870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620000" y="5067300"/>
            <a:ext cx="4038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最慢一张距红线还有约一倍空间；准确率按最严口径也高于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80%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1372850" y="65532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17 / 22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22" name="" descr="&lt;Slide style={{ width: 1280, height: 720, position: 'relative', background: '#FFFFFF', padding: 0, fontFamily: 'Microsoft YaHei' }}&gt;&#10;    &lt;Box style={{ position: 'absolute', top: 0, left: 0, width: 1280, height: 8, background: '#1E4FA8' }} /&gt;&#10;&#10;    &lt;Box style={{ position: 'absolute', top: 32, left: 40, width: 1200 }}&gt;&#10;        &lt;Text style={{ fontSize: 34, color: '#0E3F8C', fontWeight: 'bold' }}&gt;验收体系：四份成绩单，合计 73 项，全部可复跑&lt;/Text&gt;&#10;        &lt;Text style={{ fontSize: 16, color: '#8B97A8', marginTop: 6 }}&gt;检查脚本不调用模型 —— 结果确定、重跑一致，换人换机器也能得到同一个结论&lt;/Text&gt;&#10;    &lt;/Box&gt;&#10;&#10;    {/* 四张成绩单 */}&#10;    &lt;Box style={{ position: 'absolute', top: 112, left: 40, width: 830 }}&gt;&#10;        &lt;Box style={{ flexDirection: 'row', gap: 14 }}&gt;&#10;            &lt;Box style={{ flex: 1, height: 226, background: '#F7F9FC', border: '1px solid #D6DCE5', padding: '18px 20px' }}&gt;&#10;                &lt;Text style={{ fontSize: 13, color: '#8B97A8' }}&gt;对照件 01&lt;/Text&gt;&#10;                &lt;Text style={{ fontSize: 44, color: '#1E4FA8', fontWeight: 'bold', marginTop: 2 }}&gt;17 / 17&lt;/Text&gt;&#10;                &lt;Text style={{ fontSize: 18, color: '#1A2230', fontWeight: 'bold', marginTop: 4 }}&gt;作品要求对照&lt;/Text&gt;&#10;                &lt;Text style={{ fontSize: 14, color: '#4A5568', lineHeight: 1.6, marginTop: 6 }}&gt;&#10;                    赛题 §5 用户期望 3 条 + §6 技术要求 4 条，逐条翻译成硬检查&#10;                &lt;/Text&gt;&#10;            &lt;/Box&gt;&#10;            &lt;Box style={{ flex: 1, height: 226, background: '#F7F9FC', border: '1px solid #D6DCE5', padding: '18px 20px' }}&gt;&#10;                &lt;Text style={{ fontSize: 13, color: '#8B97A8' }}&gt;对照件 02&lt;/Text&gt;&#10;                &lt;Text style={{ fontSize: 44, color: '#1E4FA8', fontWeight: 'bold', marginTop: 2 }}&gt;22 / 22&lt;/Text&gt;&#10;                &lt;Text style={{ fontSize: 18, color: '#1A2230', fontWeight: 'bold', marginTop: 4 }}&gt;模块二收口总检&lt;/Text&gt;&#10;                &lt;Text style={{ fontSize: 14, color: '#4A5568', lineHeight: 1.6, marginTop: 6 }}&gt;&#10;                    模块原文 8 项 + 技术指标 5 项 + 工程件 5 项 + 数据一致性 4 项&#10;                &lt;/Text&gt;&#10;            &lt;/Box&gt;&#10;        &lt;/Box&gt;&#10;&#10;        &lt;Box style={{ flexDirection: 'row', gap: 14, marginTop: 14 }}&gt;&#10;            &lt;Box style={{ flex: 1, height: 226, background: '#F7F9FC', border: '1px solid #D6DCE5', padding: '18px 20px' }}&gt;&#10;                &lt;Text style={{ fontSize: 13, color: '#8B97A8' }}&gt;对照件 03&lt;/Text&gt;&#10;                &lt;Text style={{ fontSize: 44, color: '#1E4FA8', fontWeight: 'bold', marginTop: 2 }}&gt;26 / 26&lt;/Text&gt;&#10;                &lt;Text style={{ fontSize: 18, color: '#1A2230', fontWeight: 'bold', marginTop: 4 }}&gt;模块三收口总检&lt;/Text&gt;&#10;                &lt;Text style={{ fontSize: 14, color: '#4A5568', lineHeight: 1.6, marginTop: 6 }}&gt;&#10;                    赛题原文逐句对齐：脚本 / 模板 / 检索 / 填写 / 格式&#10;                &lt;/Text&gt;&#10;            &lt;/Box&gt;&#10;            &lt;Box style={{ flex: 1, height: 226, background: '#F7F9FC', border: '1px solid #D6DCE5', padding: '18px 20px' }}&gt;&#10;                &lt;Text style={{ fontSize: 13, color: '#8B97A8' }}&gt;对照件 04&lt;/Text&gt;&#10;                &lt;Text style={{ fontSize: 44, color: '#1E4FA8', fontWeight: 'bold', marginTop: 2 }}&gt;8 / 8&lt;/Text&gt;&#10;                &lt;Text style={{ fontSize: 18, color: '#1A2230', fontWeight: 'bold', marginTop: 4 }}&gt;模块一覆盖矩阵&lt;/Text&gt;&#10;                &lt;Text style={{ fontSize: 14, color: '#4A5568', lineHeight: 1.6, marginTop: 6 }}&gt;&#10;                    四类操作 × 四种格式的关键组合，逐一真跑（含模型解析）&#10;                &lt;/Text&gt;&#10;            &lt;/Box&gt;&#10;        &lt;/Box&gt;&#10;    &lt;/Box&gt;&#10;&#10;    {/* 右：合计 */}&#10;    &lt;Box style={{ position: 'absolute', top: 112, left: 894, width: 346, height: 466, background: '#0E3F8C', padding: '26px 28px', justifyContent: 'space-between' }}&gt;&#10;        &lt;Box&gt;&#10;            &lt;Text style={{ fontSize: 14, color: '#A9C2E8', letterSpacing: 1 }}&gt;TOTAL&lt;/Text&gt;&#10;            &lt;Text style={{ fontSize: 84, color: '#FFFFFF', fontWeight: 'bold', lineHeight: 1.1, marginTop: 4 }}&gt;73&lt;/Text&gt;&#10;            &lt;Text style={{ fontSize: 20, color: '#FFFFFF', fontWeight: 'bold', marginTop: 2 }}&gt;项检查&lt;/Text&gt;&#10;            &lt;Box style={{ width: 48, height: 3, background: '#FFC107', marginTop: 16 }} /&gt;&#10;            &lt;Text style={{ fontSize: 16, color: '#D5E2F5', lineHeight: 1.8, marginTop: 16 }}&gt;&#10;                2026-10-15 现场复核&lt;br /&gt;四份总检 + 服务健康&lt;br /&gt;全部一次通过&#10;            &lt;/Text&gt;&#10;        &lt;/Box&gt;&#10;        &lt;Text style={{ fontSize: 14, color: '#A9C2E8', lineHeight: 1.6 }}&gt;&#10;            验收件本身也是资产：&lt;br /&gt;随时可重跑，不必相信口头结论。&#10;        &lt;/Text&gt;&#10;    &lt;/Box&gt;&#10;&#10;    &lt;Box style={{ position: 'absolute', left: 40, bottom: 16, width: 1200, flexDirection: 'row', justifyContent: 'space-between', alignItems: 'center' }}&gt;&#10;        &lt;Text style={{ fontSize: 13, color: '#8B97A8' }}&gt;A-23 基于大语言模型的文档理解与多源数据融合系统&lt;/Text&gt;&#10;        &lt;Text style={{ fontSize: 13, color: '#1E4FA8', fontWeight: 'bold' }}&gt;18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381000" y="3048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验收体系：四份成绩单，合计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 73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项，全部可复跑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81000" y="75247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检查脚本不调用模型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结果确定、重跑一致，换人换机器也能得到同一个结论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81000" y="1066800"/>
            <a:ext cx="3886200" cy="21526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71500" y="123825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对照件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01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71500" y="1409700"/>
            <a:ext cx="3505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17 / 17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71500" y="195262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作品要求对照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71500" y="22193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赛题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§5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用户期望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条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§6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技术要求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条，逐条翻译成硬检查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400550" y="1066800"/>
            <a:ext cx="3886200" cy="21526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591050" y="123825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对照件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02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591050" y="1409700"/>
            <a:ext cx="3505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22 / 22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91050" y="195262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模块二收口总检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591050" y="22193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模块原文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技术指标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工程件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数据一致性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81000" y="3352800"/>
            <a:ext cx="3886200" cy="21526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71500" y="352425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对照件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03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71500" y="3695700"/>
            <a:ext cx="3505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71500" y="423862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模块三收口总检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71500" y="4505325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赛题原文逐句对齐：脚本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模板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检索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填写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格式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400550" y="3352800"/>
            <a:ext cx="3886200" cy="21526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591050" y="3524250"/>
            <a:ext cx="3505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对照件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04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591050" y="3695700"/>
            <a:ext cx="3505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8 / 8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591050" y="4238625"/>
            <a:ext cx="3505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模块一覆盖矩阵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591050" y="4505325"/>
            <a:ext cx="3505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四类操作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×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四种格式的关键组合，逐一真跑（含模型解析）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8515350" y="1066800"/>
            <a:ext cx="3295650" cy="44386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782050" y="1314450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A9C2E8"/>
                </a:solidFill>
                <a:latin typeface="Microsoft YaHei"/>
                <a:ea typeface="Microsoft YaHei"/>
              </a:rPr>
              <a:t>TOTAL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8782050" y="1514475"/>
            <a:ext cx="2762250" cy="10572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6300" b="1">
                <a:solidFill>
                  <a:srgbClr val="FFFFFF"/>
                </a:solidFill>
                <a:latin typeface="Microsoft YaHei"/>
                <a:ea typeface="Microsoft YaHei"/>
              </a:rPr>
              <a:t>73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782050" y="2590800"/>
            <a:ext cx="2762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项检查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8782050" y="2971800"/>
            <a:ext cx="45720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782050" y="3152775"/>
            <a:ext cx="2762250" cy="990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200">
                <a:solidFill>
                  <a:srgbClr val="D5E2F5"/>
                </a:solidFill>
                <a:latin typeface="Microsoft YaHei"/>
                <a:ea typeface="Microsoft YaHei"/>
              </a:rPr>
              <a:t>2026-10-15 </a:t>
            </a: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现场复核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四份总检</a:t>
            </a:r>
            <a:r>
              <a:rPr lang="en-US" sz="1200">
                <a:solidFill>
                  <a:srgbClr val="D5E2F5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服务健康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D5E2F5"/>
                </a:solidFill>
                <a:latin typeface="Microsoft YaHei"/>
                <a:ea typeface="Microsoft YaHei"/>
              </a:rPr>
              <a:t>全部一次通过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782050" y="4743450"/>
            <a:ext cx="276225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验收件本身也是资产：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随时可重跑，不必相信口头结论。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81000" y="65532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1372850" y="65532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56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三个创新点：不是&quot;用了大模型&quot;，是给模型套上工程约束&lt;/Text&gt;&#13;&#10;        &lt;Text style={{ fontSize: 16, color: '#8B97A8', marginTop: 6 }}&gt;按赛题要求&quot;不超过 3 个&quot;整理 —— 每个都能落到具体机制，也能落到实测数字&lt;/Text&gt;&#13;&#10;    &lt;/Box&gt;&#13;&#10;&#13;&#10;    {/* 左：三点 */}&#13;&#10;    &lt;Box style={{ position: 'absolute', top: 120, left: 40, width: 800 }}&gt;&#13;&#10;        &lt;Box style={{ flexDirection: 'row', gap: 16, paddingBottom: 24, borderBottom: '1px solid #E5E7EB' }}&gt;&#13;&#10;            &lt;Box style={{ width: 52, height: 52, background: '#1E4FA8', justifyContent: 'center', alignItems: 'center' }}&gt;&#13;&#10;                &lt;Text style={{ fontSize: 22, color: '#FFFFFF', fontWeight: 'bold' }}&gt;01&lt;/Text&gt;&#13;&#10;            &lt;/Box&gt;&#13;&#10;            &lt;Box style={{ flex: 1 }}&gt;&#13;&#10;                &lt;Text style={{ fontSize: 23, color: '#1A2230', fontWeight: 'bold' }}&gt;自然语言文档操作：意图与执行分离&lt;/Text&gt;&#13;&#10;                &lt;Text style={{ fontSize: 16, color: '#4A5568', lineHeight: 1.75, marginTop: 6 }}&gt;&#13;&#10;                    一句话解析成结构化意图，再由格式操作库执行；改文字时按 Word 的 run 边界切分，只替换目标片段，前后格式不受影响。支持&quot;它&quot;指代与一句话多操作。&#13;&#10;                &lt;/Text&gt;&#13;&#10;                &lt;Text style={{ fontSize: 14, color: '#0E3F8C', marginTop: 6, fontWeight: 'bold' }}&gt;实测：26 条指令 × 4 种格式，覆盖矩阵 8/8&lt;/Text&gt;&#13;&#10;            &lt;/Box&gt;&#13;&#10;        &lt;/Box&gt;&#13;&#10;&#13;&#10;        &lt;Box style={{ flexDirection: 'row', gap: 16, paddingTop: 26, paddingBottom: 26, borderBottom: '1px solid #E5E7EB' }}&gt;&#13;&#10;            &lt;Box style={{ width: 52, height: 52, background: '#1E4FA8', justifyContent: 'center', alignItems: 'center' }}&gt;&#13;&#10;                &lt;Text style={{ fontSize: 22, color: '#FFFFFF', fontWeight: 'bold' }}&gt;02&lt;/Text&gt;&#13;&#10;            &lt;/Box&gt;&#13;&#10;            &lt;Box style={{ flex: 1 }}&gt;&#13;&#10;                &lt;Text style={{ fontSize: 23, color: '#1A2230', fontWeight: 'bold' }}&gt;保真提取：出处定位 + 一致性重审 + 诚实留空&lt;/Text&gt;&#13;&#10;                &lt;Text style={{ fontSize: 16, color: '#4A5568', lineHeight: 1.75, marginTop: 6 }}&gt;&#13;&#10;                    模型只输出&quot;值 + 原文摘抄&quot;，程序拿摘抄回原文定位并记录坐标；跨块引用（整行/整列）单独处理；定位失败或前后矛盾的数据不写库。&#13;&#10;                &lt;/Text&gt;&#13;&#10;                &lt;Text style={{ fontSize: 14, color: '#0E3F8C', marginTop: 6, fontWeight: 'bold' }}&gt;实测：266 条入库数据，100% 可回溯原文&lt;/Text&gt;&#13;&#10;            &lt;/Box&gt;&#13;&#10;        &lt;/Box&gt;&#13;&#10;&#13;&#10;        &lt;Box style={{ flexDirection: 'row', gap: 16, paddingTop: 26 }}&gt;&#13;&#10;            &lt;Box style={{ width: 52, height: 52, background: '#1E4FA8', justifyContent: 'center', alignItems: 'center' }}&gt;&#13;&#10;                &lt;Text style={{ fontSize: 22, color: '#FFFFFF', fontWeight: 'bold' }}&gt;03&lt;/Text&gt;&#13;&#10;            &lt;/Box&gt;&#13;&#10;            &lt;Box style={{ flex: 1 }}&gt;&#13;&#10;                &lt;Text style={{ fontSize: 23, color: '#1A2230', fontWeight: 'bold' }}&gt;零格式损失填表：懂模板、会检索、只写值&lt;/Text&gt;&#13;&#10;                &lt;Text style={{ fontSize: 16, color: '#4A5568', lineHeight: 1.75, marginTop: 6 }}&gt;&#13;&#10;                    自动识别陌生模板的表头行与待填区；按列名检索候选证据；写回只改单元格值，字体、边框、合并、公式一律不动，输出永远是新副本。&#13;&#10;                &lt;/Text&gt;&#13;&#10;                &lt;Text style={{ fontSize: 14, color: '#0E3F8C', marginTop: 6, fontWeight: 'bold' }}&gt;实测：10 份验收报告格式差异 0 处，值一致 100%&lt;/Text&gt;&#13;&#10;            &lt;/Box&gt;&#13;&#10;        &lt;/Box&gt;&#13;&#10;    &lt;/Box&gt;&#13;&#10;&#13;&#10;    {/* 右：判断 */}&#13;&#10;    &lt;Box style={{ position: 'absolute', top: 120, left: 872, width: 368 }}&gt;&#13;&#10;        &lt;Box style={{ background: '#0E3F8C', padding: '22px 24px' }}&gt;&#13;&#10;            &lt;Text style={{ fontSize: 14, color: '#A9C2E8', letterSpacing: 1 }}&gt;与常见做法的差别&lt;/Text&gt;&#13;&#10;            &lt;Text style={{ fontSize: 17, color: '#FFFFFF', lineHeight: 1.8, marginTop: 10 }}&gt;&#13;&#10;                常见做法是&quot;把文档丢给模型，让模型直接给答案&quot;。我们的做法是把模型限制在&quot;判断&quot;这一环，其余交给可验证的代码。&#13;&#10;            &lt;/Text&gt;&#13;&#10;        &lt;/Box&gt;&#13;&#10;        &lt;Box style={{ marginTop: 16, gap: 12 }}&gt;&#13;&#10;            &lt;Box style={{ flexDirection: 'row', gap: 10, alignItems: 'flex-start' }}&gt;&#13;&#10;                &lt;Box style={{ width: 8, height: 8, background: '#1E4FA8', marginTop: 7 }} /&gt;&#13;&#10;                &lt;Text style={{ fontSize: 15, color: '#4A5568', lineHeight: 1.65 }}&gt;模型输出可被程序复核，错误不会静默通过&lt;/Text&gt;&#13;&#10;            &lt;/Box&gt;&#13;&#10;            &lt;Box style={{ flexDirection: 'row', gap: 10, alignItems: 'flex-start' }}&gt;&#13;&#10;                &lt;Box style={{ width: 8, height: 8, background: '#1E4FA8', marginTop: 7 }} /&gt;&#13;&#10;                &lt;Text style={{ fontSize: 15, color: '#4A5568', lineHeight: 1.65 }}&gt;同一输入重复执行，结果稳定可复现&lt;/Text&gt;&#13;&#10;            &lt;/Box&gt;&#13;&#10;            &lt;Box style={{ flexDirection: 'row', gap: 10, alignItems: 'flex-start' }}&gt;&#13;&#10;                &lt;Box style={{ width: 8, height: 8, background: '#1E4FA8', marginTop: 7 }} /&gt;&#13;&#10;                &lt;Text style={{ fontSize: 15, color: '#4A5568', lineHeight: 1.65 }}&gt;换一批文档或模板，机制不用重写&lt;/Text&gt;&#13;&#10;            &lt;/Box&gt;&#13;&#10;        &lt;/Box&gt;&#13;&#10;    &lt;/Box&gt;&#13;&#10;&#13;&#10;    &lt;Box style={{ position: 'absolute', left: 40, bottom: 54, width: 1200, background: '#F0F5FC', borderLeft: '4px solid #1E4FA8', padding: '12px 20px' }}&gt;&#13;&#10;        &lt;Text style={{ fontSize: 16, color: '#0E3F8C', fontWeight: 'bold' }}&gt;&#13;&#10;            三个创新点共同指向一件事：让模型的输出可以被程序验收。&#13;&#10;        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19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三个创新点：不是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用了大模型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，是给模型套上工程约束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按赛题要求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不超过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个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整理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每个都能落到具体机制，也能落到实测数字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381000" y="1143000"/>
            <a:ext cx="7620000" cy="1438275"/>
          </a:xfrm>
          <a:custGeom>
            <a:pathLst>
              <a:path w="800" h="151">
                <a:moveTo>
                  <a:pt x="0" y="150"/>
                </a:moveTo>
                <a:lnTo>
                  <a:pt x="800" y="150"/>
                </a:lnTo>
                <a:lnTo>
                  <a:pt x="800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381000" y="114300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95300" y="12668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28700" y="1143000"/>
            <a:ext cx="697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自然语言文档操作：意图与执行分离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28700" y="1466850"/>
            <a:ext cx="69723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一句话解析成结构化意图，再由格式操作库执行；改文字时按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Word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run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边界切分，只替换目标片段，前后格式不受影响。支持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它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指代与一句话多操作。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28700" y="2171700"/>
            <a:ext cx="697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实测：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26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条指令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× 4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种格式，覆盖矩阵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8/8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381000" y="2571750"/>
            <a:ext cx="7620000" cy="1704975"/>
          </a:xfrm>
          <a:custGeom>
            <a:pathLst>
              <a:path w="800" h="179">
                <a:moveTo>
                  <a:pt x="0" y="178"/>
                </a:moveTo>
                <a:lnTo>
                  <a:pt x="800" y="178"/>
                </a:lnTo>
                <a:lnTo>
                  <a:pt x="800" y="179"/>
                </a:lnTo>
                <a:lnTo>
                  <a:pt x="0" y="179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381000" y="281940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95300" y="294322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28700" y="2819400"/>
            <a:ext cx="697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保真提取：出处定位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一致性重审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诚实留空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028700" y="3143250"/>
            <a:ext cx="69723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模型只输出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值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原文摘抄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，程序拿摘抄回原文定位并记录坐标；跨块引用（整行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整列）单独处理；定位失败或前后矛盾的数据不写库。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028700" y="3848100"/>
            <a:ext cx="697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实测：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266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条入库数据，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100%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可回溯原文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381000" y="4514850"/>
            <a:ext cx="495300" cy="4953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95300" y="4638675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28700" y="4514850"/>
            <a:ext cx="697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零格式损失填表：懂模板、会检索、只写值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28700" y="4838700"/>
            <a:ext cx="69723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自动识别陌生模板的表头行与待填区；按列名检索候选证据；写回只改单元格值，字体、边框、合并、公式一律不动，输出永远是新副本。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028700" y="5543550"/>
            <a:ext cx="697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实测：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10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份验收报告格式差异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0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处，值一致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100%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305800" y="1143000"/>
            <a:ext cx="3505200" cy="173355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534400" y="135255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9C2E8"/>
                </a:solidFill>
                <a:latin typeface="Microsoft YaHei"/>
                <a:ea typeface="Microsoft YaHei"/>
              </a:rPr>
              <a:t>与常见做法的差别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534400" y="1609725"/>
            <a:ext cx="30480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常见做法是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把文档丢给模型，让模型直接给答案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。我们的做法是把模型限制在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这一环，其余交给可验证的代码。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305800" y="30956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477250" y="3028950"/>
            <a:ext cx="27146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模型输出可被程序复核，错误不会静默通过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8305800" y="349567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477250" y="3429000"/>
            <a:ext cx="22860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同一输入重复执行，结果稳定可复现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8305800" y="38957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477250" y="3829050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换一批文档或模板，机制不用重写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19100" y="5924550"/>
            <a:ext cx="11391900" cy="419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381000" y="5924550"/>
            <a:ext cx="11430000" cy="419100"/>
          </a:xfrm>
          <a:custGeom>
            <a:pathLst>
              <a:path w="1200" h="44">
                <a:moveTo>
                  <a:pt x="0" y="0"/>
                </a:moveTo>
                <a:lnTo>
                  <a:pt x="4" y="0"/>
                </a:lnTo>
                <a:lnTo>
                  <a:pt x="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101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三个创新点共同指向一件事：让模型的输出可以被程序验收。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18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进度盘点：系统已闭环，剩下的是&quot;把材料写出来&quot;&lt;/Text&gt;&#13;&#10;        &lt;Text style={{ fontSize: 16, color: '#8B97A8', marginTop: 6 }}&gt;这一页想讲清楚一个判断：后续不需要再开发新功能&lt;/Text&gt;&#13;&#10;    &lt;/Box&gt;&#13;&#10;&#13;&#10;    {/* 左：已完成 */}&#13;&#10;    &lt;Box style={{ position: 'absolute', top: 120, left: 40, width: 620 }}&gt;&#13;&#10;        &lt;Box style={{ flexDirection: 'row', alignItems: 'center', gap: 10 }}&gt;&#13;&#10;            &lt;FAIcon name='check-circle' fill='#1E7A4B' style={{ width: 24, height: 24 }} /&gt;&#13;&#10;            &lt;Text style={{ fontSize: 22, color: '#1A2230', fontWeight: 'bold' }}&gt;已完成&lt;/Text&gt;&#13;&#10;            &lt;Text style={{ fontSize: 14, color: '#8B97A8' }}&gt;可运行、可复跑&lt;/Text&gt;&#13;&#10;        &lt;/Box&gt;&#13;&#10;        &lt;Box style={{ marginTop: 14, gap: 10 }}&gt;&#13;&#10;            &lt;Box style={{ background: '#F7F9FC', border: '1px solid #E5E7EB', padding: '17px 18px' }}&gt;&#13;&#10;                &lt;Text style={{ fontSize: 17, color: '#1A2230', fontWeight: 'bold' }}&gt;三个必须模块全部落地&lt;/Text&gt;&#13;&#10;                &lt;Text style={{ fontSize: 14, color: '#4A5568', marginTop: 3 }}&gt;文档操作 / 信息提取入库 / 表格填写，共 20 项功能&lt;/Text&gt;&#13;&#10;            &lt;/Box&gt;&#13;&#10;            &lt;Box style={{ background: '#F7F9FC', border: '1px solid #E5E7EB', padding: '17px 18px' }}&gt;&#13;&#10;                &lt;Text style={{ fontSize: 17, color: '#1A2230', fontWeight: 'bold' }}&gt;赛题 7 条要求 17/17 对照通过&lt;/Text&gt;&#13;&#10;                &lt;Text style={{ fontSize: 14, color: '#4A5568', marginTop: 3 }}&gt;含识别专属异步 API 与填表 API&lt;/Text&gt;&#13;&#10;            &lt;/Box&gt;&#13;&#10;            &lt;Box style={{ background: '#F7F9FC', border: '1px solid #E5E7EB', padding: '17px 18px' }}&gt;&#13;&#10;                &lt;Text style={{ fontSize: 17, color: '#1A2230', fontWeight: 'bold' }}&gt;73 项现场复核全过&lt;/Text&gt;&#13;&#10;                &lt;Text style={{ fontSize: 14, color: '#4A5568', marginTop: 3 }}&gt;2026-10-15 复跑，四份总检 + 服务健康&lt;/Text&gt;&#13;&#10;            &lt;/Box&gt;&#13;&#10;            &lt;Box style={{ background: '#F7F9FC', border: '1px solid #E5E7EB', padding: '17px 18px' }}&gt;&#13;&#10;                &lt;Text style={{ fontSize: 17, color: '#1A2230', fontWeight: 'bold' }}&gt;可运行 Demo 已具备&lt;/Text&gt;&#13;&#10;                &lt;Text style={{ fontSize: 14, color: '#4A5568', marginTop: 3 }}&gt;双击启动操作台 ｜ 一键全链路演示 ｜ 命令行入口&lt;/Text&gt;&#13;&#10;            &lt;/Box&gt;&#13;&#10;            &lt;Box style={{ background: '#F7F9FC', border: '1px solid #E5E7EB', padding: '17px 18px' }}&gt;&#13;&#10;                &lt;Text style={{ fontSize: 17, color: '#1A2230', fontWeight: 'bold' }}&gt;4 份总检 + 13 份验收脚本&lt;/Text&gt;&#13;&#10;                &lt;Text style={{ fontSize: 14, color: '#4A5568', marginTop: 3 }}&gt;零模型或可重跑，不依赖人工记忆&lt;/Text&gt;&#13;&#10;            &lt;/Box&gt;&#13;&#10;        &lt;/Box&gt;&#13;&#10;    &lt;/Box&gt;&#13;&#10;&#13;&#10;    {/* 分隔线 */}&#13;&#10;    &lt;Box style={{ position: 'absolute', top: 130, left: 690, width: 1, height: 480, background: '#D6DCE5' }} /&gt;&#13;&#10;&#13;&#10;    {/* 右：待完成 */}&#13;&#10;    &lt;Box style={{ position: 'absolute', top: 120, left: 728, width: 512 }}&gt;&#13;&#10;        &lt;Box style={{ flexDirection: 'row', alignItems: 'center', gap: 10 }}&gt;&#13;&#10;            &lt;FAIcon name='clock' fill='#B8860B' style={{ width: 24, height: 24 }} /&gt;&#13;&#10;            &lt;Text style={{ fontSize: 22, color: '#1A2230', fontWeight: 'bold' }}&gt;待完成&lt;/Text&gt;&#13;&#10;            &lt;Text style={{ fontSize: 14, color: '#8B97A8' }}&gt;全部是&quot;汇编成稿&quot;&lt;/Text&gt;&#13;&#10;        &lt;/Box&gt;&#13;&#10;        &lt;Box style={{ marginTop: 14, gap: 8 }}&gt;&#13;&#10;            &lt;Box style={{ flexDirection: 'row', justifyContent: 'space-between', alignItems: 'center', background: '#FFF8E1', padding: '11px 16px' }}&gt;&#13;&#10;                &lt;Text style={{ fontSize: 16, color: '#1A2230' }}&gt;项目详细方案&lt;/Text&gt;&#13;&#10;                &lt;Text style={{ fontSize: 13, color: '#8A6D1F' }}&gt;素材最全&lt;/Text&gt;&#13;&#10;            &lt;/Box&gt;&#13;&#10;            &lt;Box style={{ flexDirection: 'row', justifyContent: 'space-between', alignItems: 'center', background: '#FFF8E1', padding: '11px 16px' }}&gt;&#13;&#10;                &lt;Text style={{ fontSize: 16, color: '#1A2230' }}&gt;项目概要介绍&lt;/Text&gt;&#13;&#10;                &lt;Text style={{ fontSize: 13, color: '#8A6D1F' }}&gt;可由方案截取&lt;/Text&gt;&#13;&#10;            &lt;/Box&gt;&#13;&#10;            &lt;Box style={{ flexDirection: 'row', justifyContent: 'space-between', alignItems: 'center', background: '#FFF8E1', padding: '11px 16px' }}&gt;&#13;&#10;                &lt;Text style={{ fontSize: 16, color: '#1A2230' }}&gt;关键模块说明（≤3 创新点）&lt;/Text&gt;&#13;&#10;                &lt;Text style={{ fontSize: 13, color: '#8A6D1F' }}&gt;创新点已定&lt;/Text&gt;&#13;&#10;            &lt;/Box&gt;&#13;&#10;            &lt;Box style={{ flexDirection: 'row', justifyContent: 'space-between', alignItems: 'center', background: '#FFF8E1', padding: '11px 16px' }}&gt;&#13;&#10;                &lt;Text style={{ fontSize: 16, color: '#1A2230' }}&gt;项目简介 PPT&lt;/Text&gt;&#13;&#10;                &lt;Text style={{ fontSize: 13, color: '#8A6D1F' }}&gt;即本次汇报&lt;/Text&gt;&#13;&#10;            &lt;/Box&gt;&#13;&#10;            &lt;Box style={{ flexDirection: 'row', justifyContent: 'space-between', alignItems: 'center', background: '#FFF8E1', padding: '11px 16px' }}&gt;&#13;&#10;                &lt;Text style={{ fontSize: 16, color: '#1A2230' }}&gt;项目演示视频&lt;/Text&gt;&#13;&#10;                &lt;Text style={{ fontSize: 13, color: '#8A6D1F' }}&gt;链路现成，最后录&lt;/Text&gt;&#13;&#10;            &lt;/Box&gt;&#13;&#10;            &lt;Box style={{ flexDirection: 'row', justifyContent: 'space-between', alignItems: 'center', background: '#F7F9FC', border: '1px solid #E5E7EB', padding: '11px 16px' }}&gt;&#13;&#10;                &lt;Text style={{ fontSize: 16, color: '#1A2230' }}&gt;素材来源说明（一页）&lt;/Text&gt;&#13;&#10;                &lt;Text style={{ fontSize: 13, color: '#8B97A8' }}&gt;未用训练素材，易写&lt;/Text&gt;&#13;&#10;            &lt;/Box&gt;&#13;&#10;            &lt;Box style={{ flexDirection: 'row', justifyContent: 'space-between', alignItems: 'center', background: '#F7F9FC', border: '1px solid #E5E7EB', padding: '11px 16px' }}&gt;&#13;&#10;                &lt;Text style={{ fontSize: 16, color: '#1A2230' }}&gt;团队补充材料（可选）&lt;/Text&gt;&#13;&#10;                &lt;Text style={{ fontSize: 13, color: '#8B97A8' }}&gt;13 份报告可选送&lt;/Text&gt;&#13;&#10;            &lt;/Box&gt;&#13;&#10;        &lt;/Box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20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进度盘点：系统已闭环，剩下的是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把材料写出来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这一页想讲清楚一个判断：后续不需要再开发新功能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162050"/>
            <a:ext cx="228600" cy="228600"/>
          </a:xfrm>
          <a:prstGeom prst="rect">
            <a:avLst/>
          </a:prstGeom>
          <a:ln/>
        </p:spPr>
      </p:pic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04850" y="11430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428750" y="11906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可运行、可复跑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381000" y="1533525"/>
            <a:ext cx="5905500" cy="7143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52450" y="16954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三个必须模块全部落地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52450" y="1924050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文档操作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信息提取入库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表格填写，共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20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项功能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381000" y="2343150"/>
            <a:ext cx="5905500" cy="7143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52450" y="2505075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赛题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7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条要求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17/17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对照通过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52450" y="2733675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含识别专属异步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API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与填表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381000" y="3152775"/>
            <a:ext cx="5905500" cy="7143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52450" y="331470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73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项现场复核全过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52450" y="3543300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2026-10-15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复跑，四份总检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服务健康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381000" y="3962400"/>
            <a:ext cx="5905500" cy="7143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52450" y="4124325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可运行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Demo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已具备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52450" y="4352925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双击启动操作台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一键全链路演示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命令行入口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381000" y="4772025"/>
            <a:ext cx="5905500" cy="714375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552450" y="49339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4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份总检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+ 13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份验收脚本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552450" y="5162550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零模型或可重跑，不依赖人工记忆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572250" y="1238250"/>
            <a:ext cx="9525" cy="45720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pic>
        <p:nvPicPr>
          <p:cNvPr id="4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34200" y="1162050"/>
            <a:ext cx="228600" cy="228600"/>
          </a:xfrm>
          <a:prstGeom prst="rect">
            <a:avLst/>
          </a:prstGeom>
          <a:ln/>
        </p:spPr>
      </p:pic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258050" y="11430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待完成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7981950" y="1190625"/>
            <a:ext cx="1057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全部是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汇编成稿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934200" y="1533525"/>
            <a:ext cx="4876800" cy="4000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086600" y="1638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项目详细方案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1163300" y="16573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6D1F"/>
                </a:solidFill>
                <a:latin typeface="Microsoft YaHei"/>
                <a:ea typeface="Microsoft YaHei"/>
              </a:rPr>
              <a:t>素材最全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934200" y="2009775"/>
            <a:ext cx="4876800" cy="4000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086600" y="21145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项目概要介绍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0915650" y="21336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6D1F"/>
                </a:solidFill>
                <a:latin typeface="Microsoft YaHei"/>
                <a:ea typeface="Microsoft YaHei"/>
              </a:rPr>
              <a:t>可由方案截取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934200" y="2486025"/>
            <a:ext cx="4876800" cy="4000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086600" y="2590800"/>
            <a:ext cx="192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关键模块说明（≤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3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创新点）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11039475" y="26098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6D1F"/>
                </a:solidFill>
                <a:latin typeface="Microsoft YaHei"/>
                <a:ea typeface="Microsoft YaHei"/>
              </a:rPr>
              <a:t>创新点已定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934200" y="2962275"/>
            <a:ext cx="4876800" cy="4000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086600" y="3067050"/>
            <a:ext cx="93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项目简介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PPT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039475" y="30861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6D1F"/>
                </a:solidFill>
                <a:latin typeface="Microsoft YaHei"/>
                <a:ea typeface="Microsoft YaHei"/>
              </a:rPr>
              <a:t>即本次汇报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934200" y="3438525"/>
            <a:ext cx="4876800" cy="4000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7086600" y="3543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项目演示视频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0668000" y="35623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6D1F"/>
                </a:solidFill>
                <a:latin typeface="Microsoft YaHei"/>
                <a:ea typeface="Microsoft YaHei"/>
              </a:rPr>
              <a:t>链路现成，最后录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934200" y="3914775"/>
            <a:ext cx="4876800" cy="4000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086600" y="40195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素材来源说明（一页）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0544175" y="40386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未用训练素材，易写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934200" y="4391025"/>
            <a:ext cx="4876800" cy="4000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086600" y="44958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团队补充材料（可选）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0725150" y="451485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13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份报告可选送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68" name="" descr="&lt;Slide style={{ width: 1280, height: 720, position: 'relative', background: '#FFFFFF', padding: 0, fontFamily: 'Microsoft YaHei' }}&gt;&#13;&#10;    &lt;Box style={{ position: 'absolute', top: 0, left: 0, width: 1280, height: 8, background: '#1E4FA8' }} /&gt;&#13;&#10;&#13;&#10;    &lt;Box style={{ position: 'absolute', top: 34, left: 40, width: 1200 }}&gt;&#13;&#10;        &lt;Text style={{ fontSize: 34, color: '#0E3F8C', fontWeight: 'bold' }}&gt;下一步：按&quot;素材密度&quot;排，不按文档编号排&lt;/Text&gt;&#13;&#10;        &lt;Text style={{ fontSize: 16, color: '#8B97A8', marginTop: 6 }}&gt;先把最厚的写完，后面的都是截取与录制 —— 顺序错了会反复返工&lt;/Text&gt;&#13;&#10;    &lt;/Box&gt;&#13;&#10;&#13;&#10;    &lt;Box style={{ position: 'absolute', top: 138, left: 40, width: 1200 }}&gt;&#13;&#10;        &lt;Box style={{ flexDirection: 'row', alignItems: 'flex-start', gap: 8 }}&gt;&#13;&#10;            &lt;Box style={{ flex: 1 }}&gt;&#13;&#10;                &lt;Box style={{ flexDirection: 'row', alignItems: 'center', gap: 8 }}&gt;&#13;&#10;                    &lt;Box style={{ width: 40, height: 40, background: '#0E3F8C', justifyContent: 'center', alignItems: 'center' }}&gt;&#13;&#10;                        &lt;Text style={{ fontSize: 17, color: '#FFFFFF', fontWeight: 'bold' }}&gt;1&lt;/Text&gt;&#13;&#10;                    &lt;/Box&gt;&#13;&#10;                    &lt;Box style={{ flex: 1, height: 2, background: '#1E4FA8' }} /&gt;&#13;&#10;                &lt;/Box&gt;&#13;&#10;                &lt;Text style={{ fontSize: 20, color: '#1A2230', fontWeight: 'bold', marginTop: 12 }}&gt;项目详细方案&lt;/Text&gt;&#13;&#10;                &lt;Text style={{ fontSize: 14, color: '#4A5568', lineHeight: 1.6, marginTop: 6 }}&gt;&#13;&#10;                    五层管线 + 三模块 + 全部实测数据。素材最多，先写它，后面几份都从这份截。&#13;&#10;                &lt;/Text&gt;&#13;&#10;                &lt;Text style={{ fontSize: 13, color: '#8B97A8', marginTop: 8 }}&gt;预计篇幅最大&lt;/Text&gt;&#13;&#10;            &lt;/Box&gt;&#13;&#10;            &lt;Box style={{ flex: 1 }}&gt;&#13;&#10;                &lt;Box style={{ flexDirection: 'row', alignItems: 'center', gap: 8 }}&gt;&#13;&#10;                    &lt;Box style={{ width: 40, height: 40, background: '#1E4FA8', justifyContent: 'center', alignItems: 'center' }}&gt;&#13;&#10;                        &lt;Text style={{ fontSize: 17, color: '#FFFFFF', fontWeight: 'bold' }}&gt;2&lt;/Text&gt;&#13;&#10;                    &lt;/Box&gt;&#13;&#10;                    &lt;Box style={{ flex: 1, height: 2, background: '#D6DCE5' }} /&gt;&#13;&#10;                &lt;/Box&gt;&#13;&#10;                &lt;Text style={{ fontSize: 20, color: '#1A2230', fontWeight: 'bold', marginTop: 12 }}&gt;项目概要介绍&lt;/Text&gt;&#13;&#10;                &lt;Text style={{ fontSize: 14, color: '#4A5568', lineHeight: 1.6, marginTop: 6 }}&gt;&#13;&#10;                    从详细方案压缩成 2~3 页：问题、方案、指标、创新点。&#13;&#10;                &lt;/Text&gt;&#13;&#10;                &lt;Text style={{ fontSize: 13, color: '#8B97A8', marginTop: 8 }}&gt;依赖第 1 步&lt;/Text&gt;&#13;&#10;            &lt;/Box&gt;&#13;&#10;            &lt;Box style={{ flex: 1 }}&gt;&#13;&#10;                &lt;Box style={{ flexDirection: 'row', alignItems: 'center', gap: 8 }}&gt;&#13;&#10;                    &lt;Box style={{ width: 40, height: 40, background: '#1E4FA8', justifyContent: 'center', alignItems: 'center' }}&gt;&#13;&#10;                        &lt;Text style={{ fontSize: 17, color: '#FFFFFF', fontWeight: 'bold' }}&gt;3&lt;/Text&gt;&#13;&#10;                    &lt;/Box&gt;&#13;&#10;                    &lt;Box style={{ flex: 1, height: 2, background: '#D6DCE5' }} /&gt;&#13;&#10;                &lt;/Box&gt;&#13;&#10;                &lt;Text style={{ fontSize: 20, color: '#1A2230', fontWeight: 'bold', marginTop: 12 }}&gt;关键模块说明&lt;/Text&gt;&#13;&#10;                &lt;Text style={{ fontSize: 14, color: '#4A5568', lineHeight: 1.6, marginTop: 6 }}&gt;&#13;&#10;                    三个创新点各一页：机制 + 为什么有效 + 实测证据。&#13;&#10;                &lt;/Text&gt;&#13;&#10;                &lt;Text style={{ fontSize: 13, color: '#8B97A8', marginTop: 8 }}&gt;≤ 3 个创新点&lt;/Text&gt;&#13;&#10;            &lt;/Box&gt;&#13;&#10;            &lt;Box style={{ flex: 1 }}&gt;&#13;&#10;                &lt;Box style={{ flexDirection: 'row', alignItems: 'center', gap: 8 }}&gt;&#13;&#10;                    &lt;Box style={{ width: 40, height: 40, background: '#1E4FA8', justifyContent: 'center', alignItems: 'center' }}&gt;&#13;&#10;                        &lt;Text style={{ fontSize: 17, color: '#FFFFFF', fontWeight: 'bold' }}&gt;4&lt;/Text&gt;&#13;&#10;                    &lt;/Box&gt;&#13;&#10;                    &lt;Box style={{ flex: 1, height: 2, background: '#D6DCE5' }} /&gt;&#13;&#10;                &lt;/Box&gt;&#13;&#10;                &lt;Text style={{ fontSize: 20, color: '#1A2230', fontWeight: 'bold', marginTop: 12 }}&gt;项目简介 PPT&lt;/Text&gt;&#13;&#10;                &lt;Text style={{ fontSize: 14, color: '#4A5568', lineHeight: 1.6, marginTop: 6 }}&gt;&#13;&#10;                    本次组会这版就是雏形，补截图与演示录屏即可定稿。&#13;&#10;                &lt;/Text&gt;&#13;&#10;                &lt;Text style={{ fontSize: 13, color: '#8B97A8', marginTop: 8 }}&gt;已有雏形&lt;/Text&gt;&#13;&#10;            &lt;/Box&gt;&#13;&#10;            &lt;Box style={{ flex: 1 }}&gt;&#13;&#10;                &lt;Box style={{ flexDirection: 'row', alignItems: 'center', gap: 8 }}&gt;&#13;&#10;                    &lt;Box style={{ width: 40, height: 40, background: '#0E3F8C', justifyContent: 'center', alignItems: 'center' }}&gt;&#13;&#10;                        &lt;Text style={{ fontSize: 17, color: '#FFFFFF', fontWeight: 'bold' }}&gt;5&lt;/Text&gt;&#13;&#10;                    &lt;/Box&gt;&#13;&#10;                &lt;/Box&gt;&#13;&#10;                &lt;Text style={{ fontSize: 20, color: '#1A2230', fontWeight: 'bold', marginTop: 12 }}&gt;演示视频&lt;/Text&gt;&#13;&#10;                &lt;Text style={{ fontSize: 14, color: '#4A5568', lineHeight: 1.6, marginTop: 6 }}&gt;&#13;&#10;                    演示链路现成：导入 → 三线提取 → 入库 → 填表 → 下载。录屏 + 剪辑。&#13;&#10;                &lt;/Text&gt;&#13;&#10;                &lt;Text style={{ fontSize: 13, color: '#8B97A8', marginTop: 8 }}&gt;最后做&lt;/Text&gt;&#13;&#10;            &lt;/Box&gt;&#13;&#10;        &lt;/Box&gt;&#13;&#10;    &lt;/Box&gt;&#13;&#10;&#13;&#10;    &lt;Box style={{ position: 'absolute', top: 400, left: 40, width: 1200 }}&gt;&#13;&#10;        &lt;Box style={{ background: '#F0F5FC', border: '1px solid #C9D8EC', padding: '26px 28px' }}&gt;&#13;&#10;            &lt;Text style={{ fontSize: 18, color: '#0E3F8C', fontWeight: 'bold' }}&gt;时间安排（按组会后启动）&lt;/Text&gt;&#13;&#10;            &lt;Box style={{ flexDirection: 'row', gap: 24, marginTop: 12 }}&gt;&#13;&#10;                &lt;Box style={{ flex: 1 }}&gt;&#13;&#10;                    &lt;Text style={{ fontSize: 14, color: '#8B97A8' }}&gt;阶段一&lt;/Text&gt;&#13;&#10;                    &lt;Text style={{ fontSize: 17, color: '#1A2230', fontWeight: 'bold', marginTop: 2 }}&gt;详细方案 + 概要介绍&lt;/Text&gt;&#13;&#10;                &lt;/Box&gt;&#13;&#10;                &lt;Box style={{ flex: 1 }}&gt;&#13;&#10;                    &lt;Text style={{ fontSize: 14, color: '#8B97A8' }}&gt;阶段二&lt;/Text&gt;&#13;&#10;                    &lt;Text style={{ fontSize: 17, color: '#1A2230', fontWeight: 'bold', marginTop: 2 }}&gt;关键模块说明 + PPT 定稿&lt;/Text&gt;&#13;&#10;                &lt;/Box&gt;&#13;&#10;                &lt;Box style={{ flex: 1 }}&gt;&#13;&#10;                    &lt;Text style={{ fontSize: 14, color: '#8B97A8' }}&gt;阶段三&lt;/Text&gt;&#13;&#10;                    &lt;Text style={{ fontSize: 17, color: '#1A2230', fontWeight: 'bold', marginTop: 2 }}&gt;演示视频录制 + 打包提交&lt;/Text&gt;&#13;&#10;                &lt;/Box&gt;&#13;&#10;            &lt;/Box&gt;&#13;&#10;        &lt;/Box&gt;&#13;&#10;&#13;&#10;        &lt;Box style={{ marginTop: 18, borderLeft: '4px solid #1E4FA8', paddingLeft: 16 }}&gt;&#13;&#10;            &lt;Text style={{ fontSize: 17, color: '#1A2230', lineHeight: 1.7 }}&gt;&#13;&#10;                需要导师拍板的两件事：&lt;span style={{ fontWeight: 'bold', color: '#0E3F8C' }}&gt;① 创新点选哪三个最站得住；② 演示视频重点演示哪条链路。&lt;/span&gt;&#13;&#10;            &lt;/Text&gt;&#13;&#10;        &lt;/Box&gt;&#13;&#10;    &lt;/Box&gt;&#13;&#10;&#13;&#10;    &lt;Box style={{ position: 'absolute', left: 40, bottom: 56, width: 1200, background: '#FFF8E1', border: '1px solid #F0DCA8', padding: '12px 20px' }}&gt;&#13;&#10;        &lt;Text style={{ fontSize: 15, color: '#8A6D1F' }}&gt;&#13;&#10;            风险提示：演示视频依赖稳定的录屏环境，建议定稿前先试录一遍；PPT 里的截图取自本机真实运行界面，比赛前可再更新一版。&#13;&#10;        &lt;/Text&gt;&#13;&#10;    &lt;/Box&gt;&#13;&#10;&#13;&#10;    &lt;Box style={{ position: 'absolute', left: 40, bottom: 20, width: 1200, flexDirection: 'row', justifyContent: 'space-between', alignItems: 'center' }}&gt;&#13;&#10;        &lt;Text style={{ fontSize: 13, color: '#8B97A8' }}&gt;A-23 基于大语言模型的文档理解与多源数据融合系统&lt;/Text&gt;&#13;&#10;        &lt;Text style={{ fontSize: 13, color: '#1E4FA8', fontWeight: 'bold' }}&gt;21 / 22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381000" y="32385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下一步：按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素材密度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排，不按文档编号排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381000" y="7715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先把最厚的写完，后面的都是截取与录制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顺序错了会反复返工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81000" y="13144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23875" y="14097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838200" y="1495425"/>
            <a:ext cx="1771650" cy="190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81000" y="1809750"/>
            <a:ext cx="222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项目详细方案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81000" y="2095500"/>
            <a:ext cx="22288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五层管线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三模块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全部实测数据。素材最多，先写它，后面几份都从这份截。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81000" y="294322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预计篇幅最大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2686050" y="13144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2828925" y="14097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3143250" y="1495425"/>
            <a:ext cx="1762125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2686050" y="180975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项目概要介绍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2686050" y="2095500"/>
            <a:ext cx="2219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从详细方案压缩成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2~3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页：问题、方案、指标、创新点。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2686050" y="2686050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依赖第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4981575" y="13144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124450" y="14097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5438775" y="1495425"/>
            <a:ext cx="177165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4981575" y="1809750"/>
            <a:ext cx="222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关键模块说明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4981575" y="2095500"/>
            <a:ext cx="2228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三个创新点各一页：机制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为什么有效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实测证据。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4981575" y="268605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≤ 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个创新点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7286625" y="13144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429500" y="14097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7743825" y="1495425"/>
            <a:ext cx="1762125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286625" y="1809750"/>
            <a:ext cx="2219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项目简介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PPT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286625" y="2095500"/>
            <a:ext cx="2219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本次组会这版就是雏形，补截图与演示录屏即可定稿。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286625" y="2686050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已有雏形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9582150" y="13144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9725025" y="1409700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9582150" y="1809750"/>
            <a:ext cx="222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演示视频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9582150" y="2095500"/>
            <a:ext cx="22288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演示链路现成：导入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三线提取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入库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填表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下载。录屏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剪辑。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9582150" y="268605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最后做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381000" y="3810000"/>
            <a:ext cx="11430000" cy="1200150"/>
          </a:xfrm>
          <a:prstGeom prst="rect">
            <a:avLst/>
          </a:prstGeom>
          <a:solidFill>
            <a:srgbClr val="F0F5FC"/>
          </a:solidFill>
          <a:ln w="12700">
            <a:solidFill>
              <a:srgbClr val="C9D8EC"/>
            </a:solidFill>
            <a:prstDash val="solid"/>
          </a:ln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47700" y="4057650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时间安排（按组会后启动）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47700" y="4381500"/>
            <a:ext cx="3476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阶段一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647700" y="4562475"/>
            <a:ext cx="3476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详细方案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概要介绍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4352925" y="4381500"/>
            <a:ext cx="3486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阶段二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4352925" y="4562475"/>
            <a:ext cx="3486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关键模块说明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+ PPT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定稿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067675" y="4381500"/>
            <a:ext cx="3476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阶段三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067675" y="4562475"/>
            <a:ext cx="3476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演示视频录制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打包提交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81000" y="5181600"/>
            <a:ext cx="11468100" cy="333375"/>
          </a:xfrm>
          <a:custGeom>
            <a:pathLst>
              <a:path w="1204" h="35">
                <a:moveTo>
                  <a:pt x="0" y="0"/>
                </a:moveTo>
                <a:lnTo>
                  <a:pt x="4" y="0"/>
                </a:lnTo>
                <a:lnTo>
                  <a:pt x="4" y="35"/>
                </a:lnTo>
                <a:lnTo>
                  <a:pt x="0" y="3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71500" y="5181600"/>
            <a:ext cx="112395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需要导师拍板的两件事：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①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创新点选哪三个最站得住；②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演示视频重点演示哪条链路。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381000" y="5924550"/>
            <a:ext cx="11430000" cy="400050"/>
          </a:xfrm>
          <a:prstGeom prst="rect">
            <a:avLst/>
          </a:prstGeom>
          <a:solidFill>
            <a:srgbClr val="FFF8E1"/>
          </a:solidFill>
          <a:ln w="12700">
            <a:solidFill>
              <a:srgbClr val="F0DCA8"/>
            </a:solidFill>
            <a:prstDash val="solid"/>
          </a:ln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71500" y="603885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6D1F"/>
                </a:solidFill>
                <a:latin typeface="Microsoft YaHei"/>
                <a:ea typeface="Microsoft YaHei"/>
              </a:rPr>
              <a:t>风险提示：演示视频依赖稳定的录屏环境，建议定稿前先试录一遍；</a:t>
            </a:r>
            <a:r>
              <a:rPr lang="en-US" sz="1125">
                <a:solidFill>
                  <a:srgbClr val="8A6D1F"/>
                </a:solidFill>
                <a:latin typeface="Microsoft YaHei"/>
                <a:ea typeface="Microsoft YaHei"/>
              </a:rPr>
              <a:t>PPT </a:t>
            </a:r>
            <a:r>
              <a:rPr lang="zh-CN" sz="1125">
                <a:solidFill>
                  <a:srgbClr val="8A6D1F"/>
                </a:solidFill>
                <a:latin typeface="Microsoft YaHei"/>
                <a:ea typeface="Microsoft YaHei"/>
              </a:rPr>
              <a:t>里的截图取自本机真实运行界面，比赛前可再更新一版。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1372850" y="6515100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16" name="" descr="&lt;Slide style={{ width: 1280, height: 720, position: 'relative', background: '#0E3F8C', padding: 0, fontFamily: 'Microsoft YaHei' }}&gt;&#10;    &lt;Box style={{ position: 'absolute', top: 0, left: 0, width: 1280, height: 8, background: '#FFC107' }} /&gt;&#10;&#10;    &lt;Box style={{ position: 'absolute', top: 118, left: 80, width: 1120 }}&gt;&#10;        &lt;Text style={{ fontSize: 15, color: '#A9C2E8', letterSpacing: 2 }}&gt;SUMMARY&lt;/Text&gt;&#10;        &lt;Text style={{ fontSize: 44, color: '#FFFFFF', fontWeight: 'bold', lineHeight: 1.35, marginTop: 16 }}&gt;&#10;            文档进，表格出。&lt;br /&gt;全链路已经跑通，而且每一步都能复跑。&#10;        &lt;/Text&gt;&#10;        &lt;Box style={{ width: 72, height: 4, background: '#FFC107', marginTop: 26 }} /&gt;&#10;        &lt;Text style={{ fontSize: 18, color: '#D5E2F5', lineHeight: 1.8, marginTop: 22 }}&gt;&#10;            三个必须模块全部落地，赛题 7 条要求逐条对照通过，&lt;br /&gt;四项硬指标实测达标。剩下的是把材料写出来，不是把功能再做一遍。&#10;        &lt;/Text&gt;&#10;    &lt;/Box&gt;&#10;&#10;    &lt;Box style={{ position: 'absolute', top: 470, left: 80, width: 1120, flexDirection: 'row', gap: 60 }}&gt;&#10;        &lt;Box&gt;&#10;            &lt;Text style={{ fontSize: 54, color: '#FFFFFF', fontWeight: 'bold', lineHeight: 1 }}&gt;266&lt;/Text&gt;&#10;            &lt;Text style={{ fontSize: 15, color: '#A9C2E8', marginTop: 6 }}&gt;条结构化数据 · 100% 可溯&lt;/Text&gt;&#10;        &lt;/Box&gt;&#10;        &lt;Box&gt;&#10;            &lt;Text style={{ fontSize: 54, color: '#FFFFFF', fontWeight: 'bold', lineHeight: 1 }}&gt;96.8%&lt;/Text&gt;&#10;            &lt;Text style={{ fontSize: 15, color: '#A9C2E8', marginTop: 6 }}&gt;泛化准确率（严格口径）&lt;/Text&gt;&#10;        &lt;/Box&gt;&#10;        &lt;Box&gt;&#10;            &lt;Text style={{ fontSize: 54, color: '#FFFFFF', fontWeight: 'bold', lineHeight: 1 }}&gt;73&lt;/Text&gt;&#10;            &lt;Text style={{ fontSize: 15, color: '#A9C2E8', marginTop: 6 }}&gt;项验收 · 现场复跑全过&lt;/Text&gt;&#10;        &lt;/Box&gt;&#10;        &lt;Box style={{ flex: 1, alignItems: 'flex-end', justifyContent: 'flex-end' }}&gt;&#10;            &lt;Text style={{ fontSize: 17, color: '#D5E2F5' }}&gt;请老师和同门指正&lt;/Text&gt;&#10;            &lt;Text style={{ fontSize: 14, color: '#A9C2E8', marginTop: 6 }}&gt;覃敬涛 ｜ 2026-10-22&lt;/Text&gt;&#10;        &lt;/Box&gt;&#10;    &lt;/Box&gt;&#10;&#10;    &lt;Box style={{ position: 'absolute', left: 80, bottom: 26, width: 1120, flexDirection: 'row', justifyContent: 'space-between' }}&gt;&#10;        &lt;Text style={{ fontSize: 13, color: '#7E9CC9' }}&gt;A-23 基于大语言模型的文档理解与多源数据融合系统&lt;/Text&gt;&#10;        &lt;Text style={{ fontSize: 13, color: '#A9C2E8' }}&gt;22 / 22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1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62000" y="1123950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2E8"/>
                </a:solidFill>
                <a:latin typeface="Microsoft YaHei"/>
                <a:ea typeface="Microsoft YaHei"/>
              </a:rPr>
              <a:t>SUMMARY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10668000" cy="1362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文档进，表格出。</a:t>
            </a:r>
            <a:endParaRPr/>
          </a:p>
          <a:p>
            <a:pPr>
              <a:lnSpc>
                <a:spcPct val="135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全链路已经跑通，而且每一步都能复跑。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762000" y="3057525"/>
            <a:ext cx="6858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62000" y="3305175"/>
            <a:ext cx="106680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D5E2F5"/>
                </a:solidFill>
                <a:latin typeface="Microsoft YaHei"/>
                <a:ea typeface="Microsoft YaHei"/>
              </a:rPr>
              <a:t>三个必须模块全部落地，赛题</a:t>
            </a:r>
            <a:r>
              <a:rPr lang="en-US" sz="1350">
                <a:solidFill>
                  <a:srgbClr val="D5E2F5"/>
                </a:solidFill>
                <a:latin typeface="Microsoft YaHei"/>
                <a:ea typeface="Microsoft YaHei"/>
              </a:rPr>
              <a:t> 7 </a:t>
            </a:r>
            <a:r>
              <a:rPr lang="zh-CN" sz="1350">
                <a:solidFill>
                  <a:srgbClr val="D5E2F5"/>
                </a:solidFill>
                <a:latin typeface="Microsoft YaHei"/>
                <a:ea typeface="Microsoft YaHei"/>
              </a:rPr>
              <a:t>条要求逐条对照通过，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D5E2F5"/>
                </a:solidFill>
                <a:latin typeface="Microsoft YaHei"/>
                <a:ea typeface="Microsoft YaHei"/>
              </a:rPr>
              <a:t>四项硬指标实测达标。剩下的是把材料写出来，不是把功能再做一遍。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62000" y="4476750"/>
            <a:ext cx="168592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FFFFFF"/>
                </a:solidFill>
                <a:latin typeface="Microsoft YaHei"/>
                <a:ea typeface="Microsoft YaHei"/>
              </a:rPr>
              <a:t>266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62000" y="51530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条结构化数据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 · 100%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可溯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3019425" y="4476750"/>
            <a:ext cx="158115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FFFFFF"/>
                </a:solidFill>
                <a:latin typeface="Microsoft YaHei"/>
                <a:ea typeface="Microsoft YaHei"/>
              </a:rPr>
              <a:t>96.8%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3019425" y="515302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泛化准确率（严格口径）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172075" y="4476750"/>
            <a:ext cx="14097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FFFFFF"/>
                </a:solidFill>
                <a:latin typeface="Microsoft YaHei"/>
                <a:ea typeface="Microsoft YaHei"/>
              </a:rPr>
              <a:t>73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172075" y="5153025"/>
            <a:ext cx="140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项验收</a:t>
            </a:r>
            <a:r>
              <a:rPr lang="en-US" sz="1125">
                <a:solidFill>
                  <a:srgbClr val="A9C2E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A9C2E8"/>
                </a:solidFill>
                <a:latin typeface="Microsoft YaHei"/>
                <a:ea typeface="Microsoft YaHei"/>
              </a:rPr>
              <a:t>现场复跑全过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0134600" y="49053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5E2F5"/>
                </a:solidFill>
                <a:latin typeface="Microsoft YaHei"/>
                <a:ea typeface="Microsoft YaHei"/>
              </a:rPr>
              <a:t>请老师和同门指正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067925" y="5162550"/>
            <a:ext cx="136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覃敬涛</a:t>
            </a:r>
            <a:r>
              <a:rPr lang="en-US" sz="1050">
                <a:solidFill>
                  <a:srgbClr val="A9C2E8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9C2E8"/>
                </a:solidFill>
                <a:latin typeface="Microsoft YaHei"/>
                <a:ea typeface="Microsoft YaHei"/>
              </a:rPr>
              <a:t>｜</a:t>
            </a:r>
            <a:r>
              <a:rPr lang="en-US" sz="1050">
                <a:solidFill>
                  <a:srgbClr val="A9C2E8"/>
                </a:solidFill>
                <a:latin typeface="Microsoft YaHei"/>
                <a:ea typeface="Microsoft YaHei"/>
              </a:rPr>
              <a:t> 2026-10-22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62000" y="6457950"/>
            <a:ext cx="2924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9CC9"/>
                </a:solidFill>
                <a:latin typeface="Microsoft YaHei"/>
                <a:ea typeface="Microsoft YaHei"/>
              </a:rPr>
              <a:t>A-23 </a:t>
            </a:r>
            <a:r>
              <a:rPr lang="zh-CN" sz="975">
                <a:solidFill>
                  <a:srgbClr val="7E9CC9"/>
                </a:solidFill>
                <a:latin typeface="Microsoft YaHei"/>
                <a:ea typeface="Microsoft YaHei"/>
              </a:rPr>
              <a:t>基于大语言模型的文档理解与多源数据融合系统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1010900" y="64579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9C2E8"/>
                </a:solidFill>
                <a:latin typeface="Microsoft YaHei"/>
                <a:ea typeface="Microsoft YaHei"/>
              </a:rPr>
              <a:t>22 / 22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2026-10-19T20:13:14Z</dcterms:created>
  <dcterms:modified xsi:type="dcterms:W3CDTF">2026-10-19T20:13:14Z</dcterms:modified>
</cp:coreProperties>
</file>