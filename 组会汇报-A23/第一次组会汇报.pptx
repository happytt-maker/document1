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5" Type="http://schemas.openxmlformats.org/officeDocument/2006/relationships/slide" Target="slides/slide5.xml" /><Relationship Id="rId0" Type="http://schemas.openxmlformats.org/officeDocument/2006/relationships/slideMaster" Target="slideMasters/slideMaster1.xml" /><Relationship Id="rId12" Type="http://schemas.openxmlformats.org/officeDocument/2006/relationships/slide" Target="slides/slide12.xml" /><Relationship Id="rId1" Type="http://schemas.openxmlformats.org/officeDocument/2006/relationships/slide" Target="slides/slide1.xml" /><Relationship Id="rId14" Type="http://schemas.openxmlformats.org/officeDocument/2006/relationships/presProps" Target="presProps.xml" /><Relationship Id="rId10" Type="http://schemas.openxmlformats.org/officeDocument/2006/relationships/slide" Target="slides/slide10.xml" /><Relationship Id="rId15" Type="http://schemas.openxmlformats.org/officeDocument/2006/relationships/tableStyles" Target="tableStyles.xml" /><Relationship Id="rId11" Type="http://schemas.openxmlformats.org/officeDocument/2006/relationships/slide" Target="slides/slide11.xml" /><Relationship Id="rId13" Type="http://schemas.openxmlformats.org/officeDocument/2006/relationships/notesMaster" Target="notesMasters/notesMaster1.xml" /><Relationship Id="rId16" Type="http://schemas.openxmlformats.org/officeDocument/2006/relationships/viewProps" Target="viewProps.xml" /><Relationship Id="rId2" Type="http://schemas.openxmlformats.org/officeDocument/2006/relationships/slide" Target="slides/slide2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pn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position: 'relative', background: '#FFFFFF', padding: 0, fontFamily: 'Microsoft YaHei' }}&gt;&#10;    &lt;Box style={{ position: 'absolute', left: 90, top: 96, width: 820 }}&gt;&#10;        &lt;Text style={{ fontSize: 14, color: '#8A3B2A', letterSpacing: 2 }}&gt;第一次组会 · 阶段性进展&lt;/Text&gt;&#10;        &lt;Text style={{ fontSize: 42, color: '#1F1F1F', fontWeight: 'bold', lineHeight: 1.35, marginTop: 22 }}&gt;&#10;            基于大语言模型的{'\n'}文档理解与多源数据融合系统&#10;        &lt;/Text&gt;&#10;        &lt;Box style={{ width: 64, height: 3, background: '#8A3B2A', marginTop: 28 }} /&gt;&#10;        &lt;Text style={{ fontSize: 17, color: '#5A5A5A', marginTop: 26, lineHeight: 1.8 }}&gt;&#10;            A23 赛题 · 三个关键模块的实现与自测情况&#10;        &lt;/Text&gt;&#10;    &lt;/Box&gt;&#10;&#10;    &lt;Box style={{ position: 'absolute', left: 90, bottom: 90, width: 820 }}&gt;&#10;        &lt;Text style={{ fontSize: 15, color: '#3A3A3A' }}&gt;汇报人：覃敬涛　｜　软件工程 研一&lt;/Text&gt;&#10;        &lt;Text style={{ fontSize: 14, color: '#8A8A8A', marginTop: 8 }}&gt;2026 年 10 月 22 日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857250" y="914400"/>
            <a:ext cx="7810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8A3B2A"/>
                </a:solidFill>
                <a:latin typeface="Microsoft YaHei"/>
                <a:ea typeface="Microsoft YaHei"/>
              </a:rPr>
              <a:t>第一次组会</a:t>
            </a:r>
            <a:r>
              <a:rPr lang="en-US" sz="1050" spc="150">
                <a:solidFill>
                  <a:srgbClr val="8A3B2A"/>
                </a:solidFill>
                <a:latin typeface="Microsoft YaHei"/>
                <a:ea typeface="Microsoft YaHei"/>
              </a:rPr>
              <a:t> · </a:t>
            </a:r>
            <a:r>
              <a:rPr lang="zh-CN" sz="1050" spc="150">
                <a:solidFill>
                  <a:srgbClr val="8A3B2A"/>
                </a:solidFill>
                <a:latin typeface="Microsoft YaHei"/>
                <a:ea typeface="Microsoft YaHei"/>
              </a:rPr>
              <a:t>阶段性进展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857250" y="1285875"/>
            <a:ext cx="7810500" cy="1304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3150" b="1">
                <a:solidFill>
                  <a:srgbClr val="1F1F1F"/>
                </a:solidFill>
                <a:latin typeface="Microsoft YaHei"/>
                <a:ea typeface="Microsoft YaHei"/>
              </a:rPr>
              <a:t>基于大语言模型的</a:t>
            </a:r>
            <a:endParaRPr/>
          </a:p>
          <a:p>
            <a:pPr>
              <a:lnSpc>
                <a:spcPct val="135000"/>
              </a:lnSpc>
            </a:pPr>
            <a:r>
              <a:rPr lang="zh-CN" sz="3150" b="1">
                <a:solidFill>
                  <a:srgbClr val="1F1F1F"/>
                </a:solidFill>
                <a:latin typeface="Microsoft YaHei"/>
                <a:ea typeface="Microsoft YaHei"/>
              </a:rPr>
              <a:t>文档理解与多源数据融合系统</a:t>
            </a:r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857250" y="2857500"/>
            <a:ext cx="609600" cy="28575"/>
          </a:xfrm>
          <a:prstGeom prst="rect">
            <a:avLst/>
          </a:prstGeom>
          <a:solidFill>
            <a:srgbClr val="8A3B2A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857250" y="3133725"/>
            <a:ext cx="7810500" cy="3524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275">
                <a:solidFill>
                  <a:srgbClr val="5A5A5A"/>
                </a:solidFill>
                <a:latin typeface="Microsoft YaHei"/>
                <a:ea typeface="Microsoft YaHei"/>
              </a:rPr>
              <a:t>A23 </a:t>
            </a:r>
            <a:r>
              <a:rPr lang="zh-CN" sz="1275">
                <a:solidFill>
                  <a:srgbClr val="5A5A5A"/>
                </a:solidFill>
                <a:latin typeface="Microsoft YaHei"/>
                <a:ea typeface="Microsoft YaHei"/>
              </a:rPr>
              <a:t>赛题</a:t>
            </a:r>
            <a:r>
              <a:rPr lang="en-US" sz="1275">
                <a:solidFill>
                  <a:srgbClr val="5A5A5A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5A5A5A"/>
                </a:solidFill>
                <a:latin typeface="Microsoft YaHei"/>
                <a:ea typeface="Microsoft YaHei"/>
              </a:rPr>
              <a:t>三个关键模块的实现与自测情况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857250" y="5591175"/>
            <a:ext cx="7810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A3A3A"/>
                </a:solidFill>
                <a:latin typeface="Microsoft YaHei"/>
                <a:ea typeface="Microsoft YaHei"/>
              </a:rPr>
              <a:t>汇报人：覃敬涛　｜　软件工程</a:t>
            </a:r>
            <a:r>
              <a:rPr lang="en-US" sz="1125">
                <a:solidFill>
                  <a:srgbClr val="3A3A3A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3A3A3A"/>
                </a:solidFill>
                <a:latin typeface="Microsoft YaHei"/>
                <a:ea typeface="Microsoft YaHei"/>
              </a:rPr>
              <a:t>研一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857250" y="5838825"/>
            <a:ext cx="7810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A8A"/>
                </a:solidFill>
                <a:latin typeface="Microsoft YaHei"/>
                <a:ea typeface="Microsoft YaHei"/>
              </a:rPr>
              <a:t>2026 </a:t>
            </a:r>
            <a:r>
              <a:rPr lang="zh-CN" sz="1050">
                <a:solidFill>
                  <a:srgbClr val="8A8A8A"/>
                </a:solidFill>
                <a:latin typeface="Microsoft YaHei"/>
                <a:ea typeface="Microsoft YaHei"/>
              </a:rPr>
              <a:t>年</a:t>
            </a:r>
            <a:r>
              <a:rPr lang="en-US" sz="1050">
                <a:solidFill>
                  <a:srgbClr val="8A8A8A"/>
                </a:solidFill>
                <a:latin typeface="Microsoft YaHei"/>
                <a:ea typeface="Microsoft YaHei"/>
              </a:rPr>
              <a:t> 10 </a:t>
            </a:r>
            <a:r>
              <a:rPr lang="zh-CN" sz="1050">
                <a:solidFill>
                  <a:srgbClr val="8A8A8A"/>
                </a:solidFill>
                <a:latin typeface="Microsoft YaHei"/>
                <a:ea typeface="Microsoft YaHei"/>
              </a:rPr>
              <a:t>月</a:t>
            </a:r>
            <a:r>
              <a:rPr lang="en-US" sz="1050">
                <a:solidFill>
                  <a:srgbClr val="8A8A8A"/>
                </a:solidFill>
                <a:latin typeface="Microsoft YaHei"/>
                <a:ea typeface="Microsoft YaHei"/>
              </a:rPr>
              <a:t> 22 </a:t>
            </a:r>
            <a:r>
              <a:rPr lang="zh-CN" sz="1050">
                <a:solidFill>
                  <a:srgbClr val="8A8A8A"/>
                </a:solidFill>
                <a:latin typeface="Microsoft YaHei"/>
                <a:ea typeface="Microsoft YaHei"/>
              </a:rPr>
              <a:t>日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80" name="" descr="&lt;Slide style={{ width: 1280, height: 720, position: 'relative', background: '#FFFFFF', padding: 0, fontFamily: 'Microsoft YaHei' }}&gt;&#13;&#10;    &lt;Box style={{ position: 'absolute', left: 90, top: 60, width: 1100 }}&gt;&#13;&#10;        &lt;Text style={{ fontSize: 30, color: '#1F1F1F', fontWeight: 'bold' }}&gt;赛题要解决的问题&lt;/Text&gt;&#13;&#10;        &lt;Text style={{ fontSize: 17, color: '#6E6E6E', marginTop: 10 }}&gt;赛题原文的说法：把人力从这种低价值的重复劳动中解放出来&lt;/Text&gt;&#13;&#10;    &lt;/Box&gt;&#13;&#10;&#13;&#10;    &lt;Box style={{ position: 'absolute', left: 90, top: 218, width: 490 }}&gt;&#13;&#10;        &lt;Text style={{ fontSize: 20, color: '#2B2B2B', lineHeight: 1.95 }}&gt;&#13;&#10;            文档格式不一、结构松散，关键信息只能靠人读、人找，再手工汇总到表格或数据库。&#13;&#10;        &lt;/Text&gt;&#13;&#10;        &lt;Text style={{ fontSize: 20, color: '#2B2B2B', lineHeight: 1.95, marginTop: 28 }}&gt;&#13;&#10;            重复、繁琐，疲劳时容易漏、容易错。&#13;&#10;        &lt;/Text&gt;&#13;&#10;        &lt;Text style={{ fontSize: 20, color: '#2B2B2B', lineHeight: 1.95, marginTop: 28 }}&gt;&#13;&#10;            占掉的，是本该用来思考和做核心业务的时间。&#13;&#10;        &lt;/Text&gt;&#13;&#10;&#13;&#10;        &lt;Box style={{ marginTop: 44, borderLeft: '3px solid #8A3B2A', paddingLeft: 18 }}&gt;&#13;&#10;            &lt;Text style={{ fontSize: 19, color: '#8A3B2A', lineHeight: 1.9 }}&gt;&#13;&#10;                所以要的是一套能自动理解、提取、结构化的方案。&#13;&#10;            &lt;/Text&gt;&#13;&#10;        &lt;/Box&gt;&#13;&#10;    &lt;/Box&gt;&#13;&#10;&#13;&#10;    &lt;Box style={{ position: 'absolute', left: 640, top: 212, width: 550 }}&gt;&#13;&#10;        &lt;Text style={{ fontSize: 15, color: '#8A3B2A', letterSpacing: 1 }}&gt;赛题要求必须包含的三个模块&lt;/Text&gt;&#13;&#10;&#13;&#10;        &lt;Box style={{ marginTop: 26, borderLeft: '3px solid #C9C9C9', paddingLeft: 20 }}&gt;&#13;&#10;            &lt;Text style={{ fontSize: 25, color: '#1F1F1F', fontWeight: 'bold' }}&gt;一、文档智能操作&lt;/Text&gt;&#13;&#10;            &lt;Text style={{ fontSize: 18, color: '#5A5A5A', marginTop: 10 }}&gt;一句话完成改字、排版、格式、提取&lt;/Text&gt;&#13;&#10;        &lt;/Box&gt;&#13;&#10;        &lt;Box style={{ marginTop: 42, borderLeft: '3px solid #C9C9C9', paddingLeft: 20 }}&gt;&#13;&#10;            &lt;Text style={{ fontSize: 25, color: '#1F1F1F', fontWeight: 'bold' }}&gt;二、非结构化信息提取&lt;/Text&gt;&#13;&#10;            &lt;Text style={{ fontSize: 18, color: '#5A5A5A', marginTop: 10 }}&gt;自动读文档，抽关键信息和实体入库&lt;/Text&gt;&#13;&#10;        &lt;/Box&gt;&#13;&#10;        &lt;Box style={{ marginTop: 42, borderLeft: '3px solid #C9C9C9', paddingLeft: 20 }}&gt;&#13;&#10;            &lt;Text style={{ fontSize: 25, color: '#1F1F1F', fontWeight: 'bold' }}&gt;三、表格自定义填写&lt;/Text&gt;&#13;&#10;            &lt;Text style={{ fontSize: 18, color: '#5A5A5A', marginTop: 10 }}&gt;按 Word / Excel 模板找数填进去&lt;/Text&gt;&#13;&#10;        &lt;/Box&gt;&#13;&#10;    &lt;/Box&gt;&#13;&#10;&#13;&#10;    &lt;Box style={{ position: 'absolute', left: 90, top: 606, width: 1100, background: '#F6F6F4', padding: '16px 22px' }}&gt;&#13;&#10;        &lt;Text style={{ fontSize: 16, color: '#3A3A3A' }}&gt;&#13;&#10;            硬指标：准确率 &amp;gt; 80%　·　单表响应 &amp;lt; 90 秒　·　识别模块提供 API、支持异步&#13;&#10;        &lt;/Text&gt;&#13;&#10;    &lt;/Box&gt;&#13;&#10;&#13;&#10;    &lt;Box style={{ position: 'absolute', left: 1120, top: 678, width: 70 }}&gt;&#13;&#10;        &lt;Text style={{ fontSize: 12, color: '#BFBFBF', textAlign: 'right' }}&gt;2 / 12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857250" y="571500"/>
            <a:ext cx="10477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F1F1F"/>
                </a:solidFill>
                <a:latin typeface="Microsoft YaHei"/>
                <a:ea typeface="Microsoft YaHei"/>
              </a:rPr>
              <a:t>赛题要解决的问题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857250" y="1009650"/>
            <a:ext cx="1047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E6E6E"/>
                </a:solidFill>
                <a:latin typeface="Microsoft YaHei"/>
                <a:ea typeface="Microsoft YaHei"/>
              </a:rPr>
              <a:t>赛题原文的说法：把人力从这种低价值的重复劳动中解放出来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857250" y="2076450"/>
            <a:ext cx="4667250" cy="895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5000"/>
              </a:lnSpc>
            </a:pPr>
            <a:r>
              <a:rPr lang="zh-CN" sz="1500">
                <a:solidFill>
                  <a:srgbClr val="2B2B2B"/>
                </a:solidFill>
                <a:latin typeface="Microsoft YaHei"/>
                <a:ea typeface="Microsoft YaHei"/>
              </a:rPr>
              <a:t>文档格式不一、结构松散，关键信息只能靠人读、人找，再手工汇总到表格或数据库。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857250" y="3238500"/>
            <a:ext cx="4667250" cy="447675"/>
          </a:xfrm>
          <a:prstGeom prst="rect"/>
        </p:spPr>
        <p:txBody>
          <a:bodyPr wrap="none" lIns="0" tIns="0" rIns="0" bIns="0"/>
          <a:p>
            <a:pPr>
              <a:lnSpc>
                <a:spcPct val="195000"/>
              </a:lnSpc>
            </a:pPr>
            <a:r>
              <a:rPr lang="zh-CN" sz="1500">
                <a:solidFill>
                  <a:srgbClr val="2B2B2B"/>
                </a:solidFill>
                <a:latin typeface="Microsoft YaHei"/>
                <a:ea typeface="Microsoft YaHei"/>
              </a:rPr>
              <a:t>重复、繁琐，疲劳时容易漏、容易错。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857250" y="3952875"/>
            <a:ext cx="4667250" cy="447675"/>
          </a:xfrm>
          <a:prstGeom prst="rect"/>
        </p:spPr>
        <p:txBody>
          <a:bodyPr wrap="none" lIns="0" tIns="0" rIns="0" bIns="0"/>
          <a:p>
            <a:pPr>
              <a:lnSpc>
                <a:spcPct val="195000"/>
              </a:lnSpc>
            </a:pPr>
            <a:r>
              <a:rPr lang="zh-CN" sz="1500">
                <a:solidFill>
                  <a:srgbClr val="2B2B2B"/>
                </a:solidFill>
                <a:latin typeface="Microsoft YaHei"/>
                <a:ea typeface="Microsoft YaHei"/>
              </a:rPr>
              <a:t>占掉的，是本该用来思考和做核心业务的时间。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857250" y="4819650"/>
            <a:ext cx="4695825" cy="419100"/>
          </a:xfrm>
          <a:custGeom>
            <a:pathLst>
              <a:path w="493" h="44">
                <a:moveTo>
                  <a:pt x="0" y="0"/>
                </a:moveTo>
                <a:lnTo>
                  <a:pt x="3" y="0"/>
                </a:lnTo>
                <a:lnTo>
                  <a:pt x="3" y="44"/>
                </a:lnTo>
                <a:lnTo>
                  <a:pt x="0" y="44"/>
                </a:lnTo>
                <a:close/>
              </a:path>
            </a:pathLst>
          </a:custGeom>
          <a:solidFill>
            <a:srgbClr val="8A3B2A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1057275" y="4819650"/>
            <a:ext cx="4467225" cy="4191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425">
                <a:solidFill>
                  <a:srgbClr val="8A3B2A"/>
                </a:solidFill>
                <a:latin typeface="Microsoft YaHei"/>
                <a:ea typeface="Microsoft YaHei"/>
              </a:rPr>
              <a:t>所以要的是一套能自动理解、提取、结构化的方案。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096000" y="2019300"/>
            <a:ext cx="523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75">
                <a:solidFill>
                  <a:srgbClr val="8A3B2A"/>
                </a:solidFill>
                <a:latin typeface="Microsoft YaHei"/>
                <a:ea typeface="Microsoft YaHei"/>
              </a:rPr>
              <a:t>赛题要求必须包含的三个模块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6096000" y="2438400"/>
            <a:ext cx="5267325" cy="590550"/>
          </a:xfrm>
          <a:custGeom>
            <a:pathLst>
              <a:path w="553" h="62">
                <a:moveTo>
                  <a:pt x="0" y="0"/>
                </a:moveTo>
                <a:lnTo>
                  <a:pt x="3" y="0"/>
                </a:lnTo>
                <a:lnTo>
                  <a:pt x="3" y="62"/>
                </a:lnTo>
                <a:lnTo>
                  <a:pt x="0" y="62"/>
                </a:lnTo>
                <a:close/>
              </a:path>
            </a:pathLst>
          </a:custGeom>
          <a:solidFill>
            <a:srgbClr val="C9C9C9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315075" y="2438400"/>
            <a:ext cx="501967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F1F1F"/>
                </a:solidFill>
                <a:latin typeface="Microsoft YaHei"/>
                <a:ea typeface="Microsoft YaHei"/>
              </a:rPr>
              <a:t>一、文档智能操作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6315075" y="2819400"/>
            <a:ext cx="5019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A5A5A"/>
                </a:solidFill>
                <a:latin typeface="Microsoft YaHei"/>
                <a:ea typeface="Microsoft YaHei"/>
              </a:rPr>
              <a:t>一句话完成改字、排版、格式、提取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6096000" y="3429000"/>
            <a:ext cx="5267325" cy="590550"/>
          </a:xfrm>
          <a:custGeom>
            <a:pathLst>
              <a:path w="553" h="62">
                <a:moveTo>
                  <a:pt x="0" y="0"/>
                </a:moveTo>
                <a:lnTo>
                  <a:pt x="3" y="0"/>
                </a:lnTo>
                <a:lnTo>
                  <a:pt x="3" y="62"/>
                </a:lnTo>
                <a:lnTo>
                  <a:pt x="0" y="62"/>
                </a:lnTo>
                <a:close/>
              </a:path>
            </a:pathLst>
          </a:custGeom>
          <a:solidFill>
            <a:srgbClr val="C9C9C9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6315075" y="3429000"/>
            <a:ext cx="501967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F1F1F"/>
                </a:solidFill>
                <a:latin typeface="Microsoft YaHei"/>
                <a:ea typeface="Microsoft YaHei"/>
              </a:rPr>
              <a:t>二、非结构化信息提取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6315075" y="3810000"/>
            <a:ext cx="5019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A5A5A"/>
                </a:solidFill>
                <a:latin typeface="Microsoft YaHei"/>
                <a:ea typeface="Microsoft YaHei"/>
              </a:rPr>
              <a:t>自动读文档，抽关键信息和实体入库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6096000" y="4419600"/>
            <a:ext cx="5267325" cy="590550"/>
          </a:xfrm>
          <a:custGeom>
            <a:pathLst>
              <a:path w="553" h="62">
                <a:moveTo>
                  <a:pt x="0" y="0"/>
                </a:moveTo>
                <a:lnTo>
                  <a:pt x="3" y="0"/>
                </a:lnTo>
                <a:lnTo>
                  <a:pt x="3" y="62"/>
                </a:lnTo>
                <a:lnTo>
                  <a:pt x="0" y="62"/>
                </a:lnTo>
                <a:close/>
              </a:path>
            </a:pathLst>
          </a:custGeom>
          <a:solidFill>
            <a:srgbClr val="C9C9C9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315075" y="4419600"/>
            <a:ext cx="501967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F1F1F"/>
                </a:solidFill>
                <a:latin typeface="Microsoft YaHei"/>
                <a:ea typeface="Microsoft YaHei"/>
              </a:rPr>
              <a:t>三、表格自定义填写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6315075" y="4800600"/>
            <a:ext cx="5019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A5A5A"/>
                </a:solidFill>
                <a:latin typeface="Microsoft YaHei"/>
                <a:ea typeface="Microsoft YaHei"/>
              </a:rPr>
              <a:t>按</a:t>
            </a:r>
            <a:r>
              <a:rPr lang="en-US" sz="1350">
                <a:solidFill>
                  <a:srgbClr val="5A5A5A"/>
                </a:solidFill>
                <a:latin typeface="Microsoft YaHei"/>
                <a:ea typeface="Microsoft YaHei"/>
              </a:rPr>
              <a:t> Word / Excel </a:t>
            </a:r>
            <a:r>
              <a:rPr lang="zh-CN" sz="1350">
                <a:solidFill>
                  <a:srgbClr val="5A5A5A"/>
                </a:solidFill>
                <a:latin typeface="Microsoft YaHei"/>
                <a:ea typeface="Microsoft YaHei"/>
              </a:rPr>
              <a:t>模板找数填进去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857250" y="5772150"/>
            <a:ext cx="10477500" cy="495300"/>
          </a:xfrm>
          <a:prstGeom prst="rect">
            <a:avLst/>
          </a:prstGeom>
          <a:solidFill>
            <a:srgbClr val="F6F6F4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1066800" y="5924550"/>
            <a:ext cx="10058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A3A3A"/>
                </a:solidFill>
                <a:latin typeface="Microsoft YaHei"/>
                <a:ea typeface="Microsoft YaHei"/>
              </a:rPr>
              <a:t>硬指标：准确率</a:t>
            </a:r>
            <a:r>
              <a:rPr lang="en-US" sz="1200">
                <a:solidFill>
                  <a:srgbClr val="3A3A3A"/>
                </a:solidFill>
                <a:latin typeface="Microsoft YaHei"/>
                <a:ea typeface="Microsoft YaHei"/>
              </a:rPr>
              <a:t> &gt; 80%</a:t>
            </a:r>
            <a:r>
              <a:rPr lang="zh-CN" sz="1200">
                <a:solidFill>
                  <a:srgbClr val="3A3A3A"/>
                </a:solidFill>
                <a:latin typeface="Microsoft YaHei"/>
                <a:ea typeface="Microsoft YaHei"/>
              </a:rPr>
              <a:t>　·　单表响应</a:t>
            </a:r>
            <a:r>
              <a:rPr lang="en-US" sz="1200">
                <a:solidFill>
                  <a:srgbClr val="3A3A3A"/>
                </a:solidFill>
                <a:latin typeface="Microsoft YaHei"/>
                <a:ea typeface="Microsoft YaHei"/>
              </a:rPr>
              <a:t> &lt; 90 </a:t>
            </a:r>
            <a:r>
              <a:rPr lang="zh-CN" sz="1200">
                <a:solidFill>
                  <a:srgbClr val="3A3A3A"/>
                </a:solidFill>
                <a:latin typeface="Microsoft YaHei"/>
                <a:ea typeface="Microsoft YaHei"/>
              </a:rPr>
              <a:t>秒　·　识别模块提供</a:t>
            </a:r>
            <a:r>
              <a:rPr lang="en-US" sz="1200">
                <a:solidFill>
                  <a:srgbClr val="3A3A3A"/>
                </a:solidFill>
                <a:latin typeface="Microsoft YaHei"/>
                <a:ea typeface="Microsoft YaHei"/>
              </a:rPr>
              <a:t> API</a:t>
            </a:r>
            <a:r>
              <a:rPr lang="zh-CN" sz="1200">
                <a:solidFill>
                  <a:srgbClr val="3A3A3A"/>
                </a:solidFill>
                <a:latin typeface="Microsoft YaHei"/>
                <a:ea typeface="Microsoft YaHei"/>
              </a:rPr>
              <a:t>、支持异步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10668000" y="6457950"/>
            <a:ext cx="66675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00">
                <a:solidFill>
                  <a:srgbClr val="BFBFBF"/>
                </a:solidFill>
                <a:latin typeface="Microsoft YaHei"/>
                <a:ea typeface="Microsoft YaHei"/>
              </a:rPr>
              <a:t>2 / 12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02" name="" descr="&lt;Slide style={{ width: 1280, height: 720, position: 'relative', background: '#FFFFFF', padding: 0, fontFamily: 'Microsoft YaHei' }}&gt;&#13;&#10;    &lt;Box style={{ position: 'absolute', left: 90, top: 60, width: 1100 }}&gt;&#13;&#10;        &lt;Text style={{ fontSize: 30, color: '#1F1F1F', fontWeight: 'bold' }}&gt;这道题还能怎么变&lt;/Text&gt;&#13;&#10;        &lt;Text style={{ fontSize: 17, color: '#6E6E6E', marginTop: 10 }}&gt;明年赛题出来，先看它落在哪个维度，再决定改哪里、改多少&lt;/Text&gt;&#13;&#10;    &lt;/Box&gt;&#13;&#10;&#13;&#10;    &lt;Box style={{ position: 'absolute', left: 90, top: 186, width: 1100 }}&gt;&#13;&#10;        &lt;Box style={{ flexDirection: 'row', borderBottom: '1px solid #D8D8D8', paddingBottom: 14 }}&gt;&#13;&#10;            &lt;Text style={{ fontSize: 14, color: '#8A8A8A', width: 140 }}&gt;变的方向&lt;/Text&gt;&#13;&#10;            &lt;Text style={{ fontSize: 14, color: '#8A8A8A', width: 410 }}&gt;换成什么&lt;/Text&gt;&#13;&#10;            &lt;Text style={{ fontSize: 14, color: '#8A8A8A', width: 420 }}&gt;要动的地方&lt;/Text&gt;&#13;&#10;            &lt;Text style={{ fontSize: 14, color: '#8A8A8A', width: 100 }}&gt;改动量&lt;/Text&gt;&#13;&#10;        &lt;/Box&gt;&#13;&#10;&#13;&#10;        &lt;Box style={{ flexDirection: 'row', borderBottom: '1px solid #EEEEEE', paddingTop: 32, paddingBottom: 32 }}&gt;&#13;&#10;            &lt;Text style={{ fontSize: 17, color: '#1F1F1F', fontWeight: 'bold', width: 140 }}&gt;换行业&lt;/Text&gt;&#13;&#10;            &lt;Text style={{ fontSize: 16, color: '#2B2B2B', width: 410, lineHeight: 1.6 }}&gt;合同台账 → 病历首页、招投标文件、科研文献&lt;/Text&gt;&#13;&#10;            &lt;Text style={{ fontSize: 16, color: '#5A5A5A', width: 420, lineHeight: 1.6 }}&gt;字段表、术语和别名，都在配置里&lt;/Text&gt;&#13;&#10;            &lt;Text style={{ fontSize: 16, color: '#5A5A5A', width: 100 }}&gt;小&lt;/Text&gt;&#13;&#10;        &lt;/Box&gt;&#13;&#10;&#13;&#10;        &lt;Box style={{ flexDirection: 'row', borderBottom: '1px solid #EEEEEE', paddingTop: 32, paddingBottom: 32 }}&gt;&#13;&#10;            &lt;Text style={{ fontSize: 17, color: '#1F1F1F', fontWeight: 'bold', width: 140 }}&gt;换输入&lt;/Text&gt;&#13;&#10;            &lt;Text style={{ fontSize: 16, color: '#2B2B2B', width: 410, lineHeight: 1.6 }}&gt;电子文档 → 扫描件、手机拍照、带水印的 PDF&lt;/Text&gt;&#13;&#10;            &lt;Text style={{ fontSize: 16, color: '#5A5A5A', width: 420, lineHeight: 1.6 }}&gt;最前面加一层 OCR 和错字纠正&lt;/Text&gt;&#13;&#10;            &lt;Text style={{ fontSize: 16, color: '#5A5A5A', width: 100 }}&gt;中&lt;/Text&gt;&#13;&#10;        &lt;/Box&gt;&#13;&#10;&#13;&#10;        &lt;Box style={{ flexDirection: 'row', paddingTop: 32, paddingBottom: 32 }}&gt;&#13;&#10;            &lt;Text style={{ fontSize: 17, color: '#1F1F1F', fontWeight: 'bold', width: 140 }}&gt;换输出&lt;/Text&gt;&#13;&#10;            &lt;Text style={{ fontSize: 16, color: '#2B2B2B', width: 410, lineHeight: 1.6 }}&gt;填一张表 → 建领域知识库、做成问答&lt;/Text&gt;&#13;&#10;            &lt;Text style={{ fontSize: 16, color: '#5A5A5A', width: 420, lineHeight: 1.6 }}&gt;输出层换接口，提取和入库不动&lt;/Text&gt;&#13;&#10;            &lt;Text style={{ fontSize: 16, color: '#5A5A5A', width: 100 }}&gt;小&lt;/Text&gt;&#13;&#10;        &lt;/Box&gt;&#13;&#10;    &lt;/Box&gt;&#13;&#10;&#13;&#10;    &lt;Box style={{ position: 'absolute', left: 90, top: 566, width: 1100, height: 104, background: '#F6F6F4' }} /&gt;&#13;&#10;    &lt;Box style={{ position: 'absolute', left: 114, top: 584, width: 1060 }}&gt;&#13;&#10;        &lt;Text style={{ fontSize: 21, color: '#1F1F1F' }}&gt;简单说：换行业只改配置，换输入加一层，换输出只换接口。&lt;/Text&gt;&#13;&#10;    &lt;/Box&gt;&#13;&#10;    &lt;Box style={{ position: 'absolute', left: 114, top: 624, width: 1060 }}&gt;&#13;&#10;        &lt;Text style={{ fontSize: 17, color: '#5A5A5A' }}&gt;底下读取、定位、判值、写回这四步，不用重写。&lt;/Text&gt;&#13;&#10;    &lt;/Box&gt;&#13;&#10;&#13;&#10;    &lt;Box style={{ position: 'absolute', left: 1120, top: 678, width: 70 }}&gt;&#13;&#10;        &lt;Text style={{ fontSize: 12, color: '#BFBFBF', textAlign: 'right' }}&gt;3 / 12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857250" y="571500"/>
            <a:ext cx="10477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F1F1F"/>
                </a:solidFill>
                <a:latin typeface="Microsoft YaHei"/>
                <a:ea typeface="Microsoft YaHei"/>
              </a:rPr>
              <a:t>这道题还能怎么变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857250" y="1009650"/>
            <a:ext cx="1047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E6E6E"/>
                </a:solidFill>
                <a:latin typeface="Microsoft YaHei"/>
                <a:ea typeface="Microsoft YaHei"/>
              </a:rPr>
              <a:t>明年赛题出来，先看它落在哪个维度，再决定改哪里、改多少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857250" y="1771650"/>
            <a:ext cx="10477500" cy="314325"/>
          </a:xfrm>
          <a:custGeom>
            <a:pathLst>
              <a:path w="1100" h="33">
                <a:moveTo>
                  <a:pt x="0" y="32"/>
                </a:moveTo>
                <a:lnTo>
                  <a:pt x="1100" y="32"/>
                </a:lnTo>
                <a:lnTo>
                  <a:pt x="1100" y="33"/>
                </a:lnTo>
                <a:lnTo>
                  <a:pt x="0" y="33"/>
                </a:lnTo>
                <a:close/>
              </a:path>
            </a:pathLst>
          </a:custGeom>
          <a:solidFill>
            <a:srgbClr val="D8D8D8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857250" y="177165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A8A"/>
                </a:solidFill>
                <a:latin typeface="Microsoft YaHei"/>
                <a:ea typeface="Microsoft YaHei"/>
              </a:rPr>
              <a:t>变的方向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2190750" y="1771650"/>
            <a:ext cx="3905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A8A"/>
                </a:solidFill>
                <a:latin typeface="Microsoft YaHei"/>
                <a:ea typeface="Microsoft YaHei"/>
              </a:rPr>
              <a:t>换成什么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6096000" y="1771650"/>
            <a:ext cx="4000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A8A"/>
                </a:solidFill>
                <a:latin typeface="Microsoft YaHei"/>
                <a:ea typeface="Microsoft YaHei"/>
              </a:rPr>
              <a:t>要动的地方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10096500" y="1771650"/>
            <a:ext cx="95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A8A"/>
                </a:solidFill>
                <a:latin typeface="Microsoft YaHei"/>
                <a:ea typeface="Microsoft YaHei"/>
              </a:rPr>
              <a:t>改动量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857250" y="2076450"/>
            <a:ext cx="10477500" cy="923925"/>
          </a:xfrm>
          <a:custGeom>
            <a:pathLst>
              <a:path w="1100" h="97">
                <a:moveTo>
                  <a:pt x="0" y="96"/>
                </a:moveTo>
                <a:lnTo>
                  <a:pt x="1100" y="96"/>
                </a:lnTo>
                <a:lnTo>
                  <a:pt x="1100" y="97"/>
                </a:lnTo>
                <a:lnTo>
                  <a:pt x="0" y="97"/>
                </a:lnTo>
                <a:close/>
              </a:path>
            </a:pathLst>
          </a:custGeom>
          <a:solidFill>
            <a:srgbClr val="EEEEEE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857250" y="2381250"/>
            <a:ext cx="1333500" cy="295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1F1F"/>
                </a:solidFill>
                <a:latin typeface="Microsoft YaHei"/>
                <a:ea typeface="Microsoft YaHei"/>
              </a:rPr>
              <a:t>换行业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2190750" y="2381250"/>
            <a:ext cx="39052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B2B2B"/>
                </a:solidFill>
                <a:latin typeface="Microsoft YaHei"/>
                <a:ea typeface="Microsoft YaHei"/>
              </a:rPr>
              <a:t>合同台账</a:t>
            </a:r>
            <a:r>
              <a:rPr lang="en-US" sz="1200">
                <a:solidFill>
                  <a:srgbClr val="2B2B2B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2B2B2B"/>
                </a:solidFill>
                <a:latin typeface="Microsoft YaHei"/>
                <a:ea typeface="Microsoft YaHei"/>
              </a:rPr>
              <a:t>病历首页、招投标文件、科研文献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6096000" y="2381250"/>
            <a:ext cx="40005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A5A5A"/>
                </a:solidFill>
                <a:latin typeface="Microsoft YaHei"/>
                <a:ea typeface="Microsoft YaHei"/>
              </a:rPr>
              <a:t>字段表、术语和别名，都在配置里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0096500" y="2381250"/>
            <a:ext cx="952500" cy="295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A5A5A"/>
                </a:solidFill>
                <a:latin typeface="Microsoft YaHei"/>
                <a:ea typeface="Microsoft YaHei"/>
              </a:rPr>
              <a:t>小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857250" y="2990850"/>
            <a:ext cx="10477500" cy="923925"/>
          </a:xfrm>
          <a:custGeom>
            <a:pathLst>
              <a:path w="1100" h="97">
                <a:moveTo>
                  <a:pt x="0" y="96"/>
                </a:moveTo>
                <a:lnTo>
                  <a:pt x="1100" y="96"/>
                </a:lnTo>
                <a:lnTo>
                  <a:pt x="1100" y="97"/>
                </a:lnTo>
                <a:lnTo>
                  <a:pt x="0" y="97"/>
                </a:lnTo>
                <a:close/>
              </a:path>
            </a:pathLst>
          </a:custGeom>
          <a:solidFill>
            <a:srgbClr val="EEEEEE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857250" y="3295650"/>
            <a:ext cx="1333500" cy="295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1F1F"/>
                </a:solidFill>
                <a:latin typeface="Microsoft YaHei"/>
                <a:ea typeface="Microsoft YaHei"/>
              </a:rPr>
              <a:t>换输入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2190750" y="3295650"/>
            <a:ext cx="39052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B2B2B"/>
                </a:solidFill>
                <a:latin typeface="Microsoft YaHei"/>
                <a:ea typeface="Microsoft YaHei"/>
              </a:rPr>
              <a:t>电子文档</a:t>
            </a:r>
            <a:r>
              <a:rPr lang="en-US" sz="1200">
                <a:solidFill>
                  <a:srgbClr val="2B2B2B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2B2B2B"/>
                </a:solidFill>
                <a:latin typeface="Microsoft YaHei"/>
                <a:ea typeface="Microsoft YaHei"/>
              </a:rPr>
              <a:t>扫描件、手机拍照、带水印的</a:t>
            </a:r>
            <a:r>
              <a:rPr lang="en-US" sz="1200">
                <a:solidFill>
                  <a:srgbClr val="2B2B2B"/>
                </a:solidFill>
                <a:latin typeface="Microsoft YaHei"/>
                <a:ea typeface="Microsoft YaHei"/>
              </a:rPr>
              <a:t> PDF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096000" y="3295650"/>
            <a:ext cx="40005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A5A5A"/>
                </a:solidFill>
                <a:latin typeface="Microsoft YaHei"/>
                <a:ea typeface="Microsoft YaHei"/>
              </a:rPr>
              <a:t>最前面加一层</a:t>
            </a:r>
            <a:r>
              <a:rPr lang="en-US" sz="1200">
                <a:solidFill>
                  <a:srgbClr val="5A5A5A"/>
                </a:solidFill>
                <a:latin typeface="Microsoft YaHei"/>
                <a:ea typeface="Microsoft YaHei"/>
              </a:rPr>
              <a:t> OCR </a:t>
            </a:r>
            <a:r>
              <a:rPr lang="zh-CN" sz="1200">
                <a:solidFill>
                  <a:srgbClr val="5A5A5A"/>
                </a:solidFill>
                <a:latin typeface="Microsoft YaHei"/>
                <a:ea typeface="Microsoft YaHei"/>
              </a:rPr>
              <a:t>和错字纠正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0096500" y="3295650"/>
            <a:ext cx="952500" cy="295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A5A5A"/>
                </a:solidFill>
                <a:latin typeface="Microsoft YaHei"/>
                <a:ea typeface="Microsoft YaHei"/>
              </a:rPr>
              <a:t>中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857250" y="4210050"/>
            <a:ext cx="1333500" cy="295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1F1F"/>
                </a:solidFill>
                <a:latin typeface="Microsoft YaHei"/>
                <a:ea typeface="Microsoft YaHei"/>
              </a:rPr>
              <a:t>换输出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2190750" y="4210050"/>
            <a:ext cx="39052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B2B2B"/>
                </a:solidFill>
                <a:latin typeface="Microsoft YaHei"/>
                <a:ea typeface="Microsoft YaHei"/>
              </a:rPr>
              <a:t>填一张表</a:t>
            </a:r>
            <a:r>
              <a:rPr lang="en-US" sz="1200">
                <a:solidFill>
                  <a:srgbClr val="2B2B2B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2B2B2B"/>
                </a:solidFill>
                <a:latin typeface="Microsoft YaHei"/>
                <a:ea typeface="Microsoft YaHei"/>
              </a:rPr>
              <a:t>建领域知识库、做成问答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6096000" y="4210050"/>
            <a:ext cx="40005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A5A5A"/>
                </a:solidFill>
                <a:latin typeface="Microsoft YaHei"/>
                <a:ea typeface="Microsoft YaHei"/>
              </a:rPr>
              <a:t>输出层换接口，提取和入库不动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10096500" y="4210050"/>
            <a:ext cx="952500" cy="295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A5A5A"/>
                </a:solidFill>
                <a:latin typeface="Microsoft YaHei"/>
                <a:ea typeface="Microsoft YaHei"/>
              </a:rPr>
              <a:t>小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857250" y="5391150"/>
            <a:ext cx="10477500" cy="990600"/>
          </a:xfrm>
          <a:prstGeom prst="rect">
            <a:avLst/>
          </a:prstGeom>
          <a:solidFill>
            <a:srgbClr val="F6F6F4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1085850" y="5562600"/>
            <a:ext cx="100965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1F1F1F"/>
                </a:solidFill>
                <a:latin typeface="Microsoft YaHei"/>
                <a:ea typeface="Microsoft YaHei"/>
              </a:rPr>
              <a:t>简单说：换行业只改配置，换输入加一层，换输出只换接口。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1085850" y="5943600"/>
            <a:ext cx="1009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A5A5A"/>
                </a:solidFill>
                <a:latin typeface="Microsoft YaHei"/>
                <a:ea typeface="Microsoft YaHei"/>
              </a:rPr>
              <a:t>底下读取、定位、判值、写回这四步，不用重写。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10668000" y="6457950"/>
            <a:ext cx="66675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00">
                <a:solidFill>
                  <a:srgbClr val="BFBFBF"/>
                </a:solidFill>
                <a:latin typeface="Microsoft YaHei"/>
                <a:ea typeface="Microsoft YaHei"/>
              </a:rPr>
              <a:t>3 / 12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29" name="" descr="&lt;Slide style={{ width: 1280, height: 720, position: 'relative', background: '#FFFFFF', padding: 0, fontFamily: 'Microsoft YaHei' }}&gt;&#13;&#10;    &lt;Box style={{ position: 'absolute', left: 90, top: 58, width: 1100 }}&gt;&#13;&#10;        &lt;Text style={{ fontSize: 28, color: '#1F1F1F', fontWeight: 'bold' }}&gt;整体怎么走：一条五段的流水线&lt;/Text&gt;&#13;&#10;        &lt;Text style={{ fontSize: 15, color: '#6E6E6E', marginTop: 8 }}&gt;输入是格式不一的文档，输出是一张格式没变、单元格已经填好的表&lt;/Text&gt;&#13;&#10;    &lt;/Box&gt;&#13;&#10;&#13;&#10;    &lt;Box style={{ position: 'absolute', left: 90, top: 158, width: 1100, flexDirection: 'row', alignItems: 'flex-start' }}&gt;&#13;&#10;        &lt;Box style={{ width: 180 }}&gt;&#13;&#10;            &lt;Text style={{ fontSize: 12, color: '#A0A0A0' }}&gt;01&lt;/Text&gt;&#13;&#10;            &lt;Text style={{ fontSize: 19, color: '#1F1F1F', fontWeight: 'bold', marginTop: 6 }}&gt;读取&lt;/Text&gt;&#13;&#10;            &lt;Text style={{ fontSize: 13, color: '#6A6A6A', lineHeight: 1.7, marginTop: 6 }}&gt;docx / xlsx /{'\n'}md / txt 统一解析&lt;/Text&gt;&#13;&#10;        &lt;/Box&gt;&#13;&#10;        &lt;Text style={{ fontSize: 22, color: '#B8B8B8', width: 30, textAlign: 'center', marginTop: 20 }}&gt;→&lt;/Text&gt;&#13;&#10;        &lt;Box style={{ width: 180 }}&gt;&#13;&#10;            &lt;Text style={{ fontSize: 12, color: '#A0A0A0' }}&gt;02&lt;/Text&gt;&#13;&#10;            &lt;Text style={{ fontSize: 19, color: '#1F1F1F', fontWeight: 'bold', marginTop: 6 }}&gt;分块定位&lt;/Text&gt;&#13;&#10;            &lt;Text style={{ fontSize: 13, color: '#6A6A6A', lineHeight: 1.7, marginTop: 6 }}&gt;每块带行号、段号{'\n'}或单元格坐标&lt;/Text&gt;&#13;&#10;        &lt;/Box&gt;&#13;&#10;        &lt;Text style={{ fontSize: 22, color: '#B8B8B8', width: 30, textAlign: 'center', marginTop: 20 }}&gt;→&lt;/Text&gt;&#13;&#10;        &lt;Box style={{ width: 180 }}&gt;&#13;&#10;            &lt;Text style={{ fontSize: 12, color: '#A0A0A0' }}&gt;03&lt;/Text&gt;&#13;&#10;            &lt;Text style={{ fontSize: 19, color: '#1F1F1F', fontWeight: 'bold', marginTop: 6 }}&gt;读模板&lt;/Text&gt;&#13;&#10;            &lt;Text style={{ fontSize: 13, color: '#6A6A6A', lineHeight: 1.7, marginTop: 6 }}&gt;自动找表头行{'\n'}和待填区域&lt;/Text&gt;&#13;&#10;        &lt;/Box&gt;&#13;&#10;        &lt;Text style={{ fontSize: 22, color: '#B8B8B8', width: 30, textAlign: 'center', marginTop: 20 }}&gt;→&lt;/Text&gt;&#13;&#10;        &lt;Box style={{ width: 190 }}&gt;&#13;&#10;            &lt;Text style={{ fontSize: 12, color: '#8A3B2A' }}&gt;04　大模型在这里&lt;/Text&gt;&#13;&#10;            &lt;Text style={{ fontSize: 19, color: '#8A3B2A', fontWeight: 'bold', marginTop: 6 }}&gt;判值&lt;/Text&gt;&#13;&#10;            &lt;Text style={{ fontSize: 13, color: '#6A6A6A', lineHeight: 1.7, marginTop: 6 }}&gt;先筛候选段落，{'\n'}再让模型给值&lt;/Text&gt;&#13;&#10;        &lt;/Box&gt;&#13;&#10;        &lt;Text style={{ fontSize: 22, color: '#B8B8B8', width: 30, textAlign: 'center', marginTop: 20 }}&gt;→&lt;/Text&gt;&#13;&#10;        &lt;Box style={{ width: 180 }}&gt;&#13;&#10;            &lt;Text style={{ fontSize: 12, color: '#A0A0A0' }}&gt;05&lt;/Text&gt;&#13;&#10;            &lt;Text style={{ fontSize: 19, color: '#1F1F1F', fontWeight: 'bold', marginTop: 6 }}&gt;写回&lt;/Text&gt;&#13;&#10;            &lt;Text style={{ fontSize: 13, color: '#6A6A6A', lineHeight: 1.7, marginTop: 6 }}&gt;只写值，不动样式，{'\n'}输出新文件&lt;/Text&gt;&#13;&#10;        &lt;/Box&gt;&#13;&#10;    &lt;/Box&gt;&#13;&#10;&#13;&#10;    &lt;Box style={{ position: 'absolute', left: 90, top: 352, width: 1100 }}&gt;&#13;&#10;        &lt;Text style={{ fontSize: 14, color: '#8A8A8A' }}&gt;用到的技术&lt;/Text&gt;&#13;&#10;&#13;&#10;        &lt;Box style={{ flexDirection: 'row', borderBottom: '1px solid #E2E2E2', paddingTop: 12, paddingBottom: 11 }}&gt;&#13;&#10;            &lt;Text style={{ fontSize: 14, color: '#8A8A8A', width: 150 }}&gt;环节&lt;/Text&gt;&#13;&#10;            &lt;Text style={{ fontSize: 14, color: '#8A8A8A', width: 300 }}&gt;用什么&lt;/Text&gt;&#13;&#10;            &lt;Text style={{ fontSize: 14, color: '#8A8A8A', flex: 1 }}&gt;为什么&lt;/Text&gt;&#13;&#10;        &lt;/Box&gt;&#13;&#10;        &lt;Box style={{ flexDirection: 'row', borderBottom: '1px solid #EEEEEE', paddingTop: 15, paddingBottom: 15 }}&gt;&#13;&#10;            &lt;Text style={{ fontSize: 15, color: '#2B2B2B', width: 150 }}&gt;文档读写&lt;/Text&gt;&#13;&#10;            &lt;Text style={{ fontSize: 15, color: '#2B2B2B', width: 300 }}&gt;python-docx / openpyxl&lt;/Text&gt;&#13;&#10;            &lt;Text style={{ fontSize: 15, color: '#5A5A5A', flex: 1 }}&gt;能拿到 run 级格式和合并单元格，保住原样式&lt;/Text&gt;&#13;&#10;        &lt;/Box&gt;&#13;&#10;        &lt;Box style={{ flexDirection: 'row', borderBottom: '1px solid #EEEEEE', paddingTop: 15, paddingBottom: 15 }}&gt;&#13;&#10;            &lt;Text style={{ fontSize: 15, color: '#2B2B2B', width: 150 }}&gt;语义理解&lt;/Text&gt;&#13;&#10;            &lt;Text style={{ fontSize: 15, color: '#2B2B2B', width: 300 }}&gt;DeepSeek API（大模型）&lt;/Text&gt;&#13;&#10;            &lt;Text style={{ fontSize: 15, color: '#5A5A5A', flex: 1 }}&gt;只让它判断「这个格子该填什么」，不让它定位&lt;/Text&gt;&#13;&#10;        &lt;/Box&gt;&#13;&#10;        &lt;Box style={{ flexDirection: 'row', borderBottom: '1px solid #EEEEEE', paddingTop: 15, paddingBottom: 15 }}&gt;&#13;&#10;            &lt;Text style={{ fontSize: 15, color: '#2B2B2B', width: 150 }}&gt;对外服务&lt;/Text&gt;&#13;&#10;            &lt;Text style={{ fontSize: 15, color: '#2B2B2B', width: 300 }}&gt;FastAPI + 线程池任务&lt;/Text&gt;&#13;&#10;            &lt;Text style={{ fontSize: 15, color: '#5A5A5A', flex: 1 }}&gt;识别和填表耗时较长，改成提交后轮询&lt;/Text&gt;&#13;&#10;        &lt;/Box&gt;&#13;&#10;        &lt;Box style={{ flexDirection: 'row', borderBottom: '1px solid #EEEEEE', paddingTop: 15, paddingBottom: 15 }}&gt;&#13;&#10;            &lt;Text style={{ fontSize: 15, color: '#2B2B2B', width: 150 }}&gt;数据存储&lt;/Text&gt;&#13;&#10;            &lt;Text style={{ fontSize: 15, color: '#2B2B2B', width: 300 }}&gt;MySQL（文档 / 实体 / 画像 / 字段）&lt;/Text&gt;&#13;&#10;            &lt;Text style={{ fontSize: 15, color: '#5A5A5A', flex: 1 }}&gt;每条记录留存原文摘抄和位置，可以反查&lt;/Text&gt;&#13;&#10;        &lt;/Box&gt;&#13;&#10;        &lt;Box style={{ flexDirection: 'row', paddingTop: 15 }}&gt;&#13;&#10;            &lt;Text style={{ fontSize: 15, color: '#2B2B2B', width: 150 }}&gt;质量校验&lt;/Text&gt;&#13;&#10;            &lt;Text style={{ fontSize: 15, color: '#2B2B2B', width: 300 }}&gt;纯 Python，正则 + 原文回查&lt;/Text&gt;&#13;&#10;            &lt;Text style={{ fontSize: 15, color: '#5A5A5A', flex: 1 }}&gt;不拿模型给自己打分，结果才可信&lt;/Text&gt;&#13;&#10;        &lt;/Box&gt;&#13;&#10;    &lt;/Box&gt;&#13;&#10;&#13;&#10;    &lt;Box style={{ position: 'absolute', left: 1120, top: 678, width: 70 }}&gt;&#13;&#10;        &lt;Text style={{ fontSize: 12, color: '#BFBFBF', textAlign: 'right' }}&gt;4 / 12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857250" y="552450"/>
            <a:ext cx="10477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F1F1F"/>
                </a:solidFill>
                <a:latin typeface="Microsoft YaHei"/>
                <a:ea typeface="Microsoft YaHei"/>
              </a:rPr>
              <a:t>整体怎么走：一条五段的流水线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857250" y="952500"/>
            <a:ext cx="1047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E6E6E"/>
                </a:solidFill>
                <a:latin typeface="Microsoft YaHei"/>
                <a:ea typeface="Microsoft YaHei"/>
              </a:rPr>
              <a:t>输入是格式不一的文档，输出是一张格式没变、单元格已经填好的表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857250" y="1504950"/>
            <a:ext cx="1714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A0A0A0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857250" y="1704975"/>
            <a:ext cx="1714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1F1F"/>
                </a:solidFill>
                <a:latin typeface="Microsoft YaHei"/>
                <a:ea typeface="Microsoft YaHei"/>
              </a:rPr>
              <a:t>读取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857250" y="1981200"/>
            <a:ext cx="1714500" cy="5143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6A6A6A"/>
                </a:solidFill>
                <a:latin typeface="Microsoft YaHei"/>
                <a:ea typeface="Microsoft YaHei"/>
              </a:rPr>
              <a:t>docx / xlsx /</a:t>
            </a:r>
            <a:endParaRPr/>
          </a:p>
          <a:p>
            <a:pPr>
              <a:lnSpc>
                <a:spcPct val="170000"/>
              </a:lnSpc>
            </a:pPr>
            <a:r>
              <a:rPr lang="en-US" sz="975">
                <a:solidFill>
                  <a:srgbClr val="6A6A6A"/>
                </a:solidFill>
                <a:latin typeface="Microsoft YaHei"/>
                <a:ea typeface="Microsoft YaHei"/>
              </a:rPr>
              <a:t>md / txt </a:t>
            </a:r>
            <a:r>
              <a:rPr lang="zh-CN" sz="975">
                <a:solidFill>
                  <a:srgbClr val="6A6A6A"/>
                </a:solidFill>
                <a:latin typeface="Microsoft YaHei"/>
                <a:ea typeface="Microsoft YaHei"/>
              </a:rPr>
              <a:t>统一解析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2571750" y="1695450"/>
            <a:ext cx="28575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650">
                <a:solidFill>
                  <a:srgbClr val="B8B8B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2857500" y="1504950"/>
            <a:ext cx="1714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A0A0A0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2857500" y="1704975"/>
            <a:ext cx="1714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1F1F"/>
                </a:solidFill>
                <a:latin typeface="Microsoft YaHei"/>
                <a:ea typeface="Microsoft YaHei"/>
              </a:rPr>
              <a:t>分块定位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2857500" y="1981200"/>
            <a:ext cx="1714500" cy="5143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6A6A6A"/>
                </a:solidFill>
                <a:latin typeface="Microsoft YaHei"/>
                <a:ea typeface="Microsoft YaHei"/>
              </a:rPr>
              <a:t>每块带行号、段号</a:t>
            </a:r>
            <a:endParaRPr/>
          </a:p>
          <a:p>
            <a:pPr>
              <a:lnSpc>
                <a:spcPct val="170000"/>
              </a:lnSpc>
            </a:pPr>
            <a:r>
              <a:rPr lang="zh-CN" sz="975">
                <a:solidFill>
                  <a:srgbClr val="6A6A6A"/>
                </a:solidFill>
                <a:latin typeface="Microsoft YaHei"/>
                <a:ea typeface="Microsoft YaHei"/>
              </a:rPr>
              <a:t>或单元格坐标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4572000" y="1695450"/>
            <a:ext cx="28575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650">
                <a:solidFill>
                  <a:srgbClr val="B8B8B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4857750" y="1504950"/>
            <a:ext cx="1714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A0A0A0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4857750" y="1704975"/>
            <a:ext cx="1714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1F1F"/>
                </a:solidFill>
                <a:latin typeface="Microsoft YaHei"/>
                <a:ea typeface="Microsoft YaHei"/>
              </a:rPr>
              <a:t>读模板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4857750" y="1981200"/>
            <a:ext cx="1714500" cy="5143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6A6A6A"/>
                </a:solidFill>
                <a:latin typeface="Microsoft YaHei"/>
                <a:ea typeface="Microsoft YaHei"/>
              </a:rPr>
              <a:t>自动找表头行</a:t>
            </a:r>
            <a:endParaRPr/>
          </a:p>
          <a:p>
            <a:pPr>
              <a:lnSpc>
                <a:spcPct val="170000"/>
              </a:lnSpc>
            </a:pPr>
            <a:r>
              <a:rPr lang="zh-CN" sz="975">
                <a:solidFill>
                  <a:srgbClr val="6A6A6A"/>
                </a:solidFill>
                <a:latin typeface="Microsoft YaHei"/>
                <a:ea typeface="Microsoft YaHei"/>
              </a:rPr>
              <a:t>和待填区域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572250" y="1695450"/>
            <a:ext cx="28575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650">
                <a:solidFill>
                  <a:srgbClr val="B8B8B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858000" y="1504950"/>
            <a:ext cx="1809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3B2A"/>
                </a:solidFill>
                <a:latin typeface="Microsoft YaHei"/>
                <a:ea typeface="Microsoft YaHei"/>
              </a:rPr>
              <a:t>04</a:t>
            </a:r>
            <a:r>
              <a:rPr lang="zh-CN" sz="900">
                <a:solidFill>
                  <a:srgbClr val="8A3B2A"/>
                </a:solidFill>
                <a:latin typeface="Microsoft YaHei"/>
                <a:ea typeface="Microsoft YaHei"/>
              </a:rPr>
              <a:t>　大模型在这里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858000" y="1704975"/>
            <a:ext cx="1809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8A3B2A"/>
                </a:solidFill>
                <a:latin typeface="Microsoft YaHei"/>
                <a:ea typeface="Microsoft YaHei"/>
              </a:rPr>
              <a:t>判值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858000" y="1981200"/>
            <a:ext cx="1809750" cy="5143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6A6A6A"/>
                </a:solidFill>
                <a:latin typeface="Microsoft YaHei"/>
                <a:ea typeface="Microsoft YaHei"/>
              </a:rPr>
              <a:t>先筛候选段落，</a:t>
            </a:r>
            <a:endParaRPr/>
          </a:p>
          <a:p>
            <a:pPr>
              <a:lnSpc>
                <a:spcPct val="170000"/>
              </a:lnSpc>
            </a:pPr>
            <a:r>
              <a:rPr lang="zh-CN" sz="975">
                <a:solidFill>
                  <a:srgbClr val="6A6A6A"/>
                </a:solidFill>
                <a:latin typeface="Microsoft YaHei"/>
                <a:ea typeface="Microsoft YaHei"/>
              </a:rPr>
              <a:t>再让模型给值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8667750" y="1695450"/>
            <a:ext cx="28575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650">
                <a:solidFill>
                  <a:srgbClr val="B8B8B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8953500" y="1504950"/>
            <a:ext cx="1714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A0A0A0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8953500" y="1704975"/>
            <a:ext cx="1714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1F1F"/>
                </a:solidFill>
                <a:latin typeface="Microsoft YaHei"/>
                <a:ea typeface="Microsoft YaHei"/>
              </a:rPr>
              <a:t>写回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8953500" y="1981200"/>
            <a:ext cx="1714500" cy="5143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6A6A6A"/>
                </a:solidFill>
                <a:latin typeface="Microsoft YaHei"/>
                <a:ea typeface="Microsoft YaHei"/>
              </a:rPr>
              <a:t>只写值，不动样式，</a:t>
            </a:r>
            <a:endParaRPr/>
          </a:p>
          <a:p>
            <a:pPr>
              <a:lnSpc>
                <a:spcPct val="170000"/>
              </a:lnSpc>
            </a:pPr>
            <a:r>
              <a:rPr lang="zh-CN" sz="975">
                <a:solidFill>
                  <a:srgbClr val="6A6A6A"/>
                </a:solidFill>
                <a:latin typeface="Microsoft YaHei"/>
                <a:ea typeface="Microsoft YaHei"/>
              </a:rPr>
              <a:t>输出新文件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857250" y="3352800"/>
            <a:ext cx="1047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A8A"/>
                </a:solidFill>
                <a:latin typeface="Microsoft YaHei"/>
                <a:ea typeface="Microsoft YaHei"/>
              </a:rPr>
              <a:t>用到的技术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857250" y="3514725"/>
            <a:ext cx="10477500" cy="400050"/>
          </a:xfrm>
          <a:custGeom>
            <a:pathLst>
              <a:path w="1100" h="42">
                <a:moveTo>
                  <a:pt x="0" y="41"/>
                </a:moveTo>
                <a:lnTo>
                  <a:pt x="1100" y="41"/>
                </a:lnTo>
                <a:lnTo>
                  <a:pt x="1100" y="42"/>
                </a:lnTo>
                <a:lnTo>
                  <a:pt x="0" y="42"/>
                </a:lnTo>
                <a:close/>
              </a:path>
            </a:pathLst>
          </a:custGeom>
          <a:solidFill>
            <a:srgbClr val="E2E2E2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857250" y="3629025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A8A"/>
                </a:solidFill>
                <a:latin typeface="Microsoft YaHei"/>
                <a:ea typeface="Microsoft YaHei"/>
              </a:rPr>
              <a:t>环节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2286000" y="3629025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A8A"/>
                </a:solidFill>
                <a:latin typeface="Microsoft YaHei"/>
                <a:ea typeface="Microsoft YaHei"/>
              </a:rPr>
              <a:t>用什么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5143500" y="3629025"/>
            <a:ext cx="6191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A8A"/>
                </a:solidFill>
                <a:latin typeface="Microsoft YaHei"/>
                <a:ea typeface="Microsoft YaHei"/>
              </a:rPr>
              <a:t>为什么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857250" y="3905250"/>
            <a:ext cx="10477500" cy="476250"/>
          </a:xfrm>
          <a:custGeom>
            <a:pathLst>
              <a:path w="1100" h="50">
                <a:moveTo>
                  <a:pt x="0" y="49"/>
                </a:moveTo>
                <a:lnTo>
                  <a:pt x="1100" y="49"/>
                </a:lnTo>
                <a:lnTo>
                  <a:pt x="1100" y="50"/>
                </a:lnTo>
                <a:lnTo>
                  <a:pt x="0" y="50"/>
                </a:lnTo>
                <a:close/>
              </a:path>
            </a:pathLst>
          </a:custGeom>
          <a:solidFill>
            <a:srgbClr val="EEEEEE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857250" y="4048125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B2B2B"/>
                </a:solidFill>
                <a:latin typeface="Microsoft YaHei"/>
                <a:ea typeface="Microsoft YaHei"/>
              </a:rPr>
              <a:t>文档读写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2286000" y="4048125"/>
            <a:ext cx="285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B2B2B"/>
                </a:solidFill>
                <a:latin typeface="Microsoft YaHei"/>
                <a:ea typeface="Microsoft YaHei"/>
              </a:rPr>
              <a:t>python-docx / openpyxl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5143500" y="4048125"/>
            <a:ext cx="6191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A5A5A"/>
                </a:solidFill>
                <a:latin typeface="Microsoft YaHei"/>
                <a:ea typeface="Microsoft YaHei"/>
              </a:rPr>
              <a:t>能拿到</a:t>
            </a:r>
            <a:r>
              <a:rPr lang="en-US" sz="1125">
                <a:solidFill>
                  <a:srgbClr val="5A5A5A"/>
                </a:solidFill>
                <a:latin typeface="Microsoft YaHei"/>
                <a:ea typeface="Microsoft YaHei"/>
              </a:rPr>
              <a:t> run </a:t>
            </a:r>
            <a:r>
              <a:rPr lang="zh-CN" sz="1125">
                <a:solidFill>
                  <a:srgbClr val="5A5A5A"/>
                </a:solidFill>
                <a:latin typeface="Microsoft YaHei"/>
                <a:ea typeface="Microsoft YaHei"/>
              </a:rPr>
              <a:t>级格式和合并单元格，保住原样式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857250" y="4371975"/>
            <a:ext cx="10477500" cy="476250"/>
          </a:xfrm>
          <a:custGeom>
            <a:pathLst>
              <a:path w="1100" h="50">
                <a:moveTo>
                  <a:pt x="0" y="49"/>
                </a:moveTo>
                <a:lnTo>
                  <a:pt x="1100" y="49"/>
                </a:lnTo>
                <a:lnTo>
                  <a:pt x="1100" y="50"/>
                </a:lnTo>
                <a:lnTo>
                  <a:pt x="0" y="50"/>
                </a:lnTo>
                <a:close/>
              </a:path>
            </a:pathLst>
          </a:custGeom>
          <a:solidFill>
            <a:srgbClr val="EEEEEE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857250" y="4514850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B2B2B"/>
                </a:solidFill>
                <a:latin typeface="Microsoft YaHei"/>
                <a:ea typeface="Microsoft YaHei"/>
              </a:rPr>
              <a:t>语义理解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2286000" y="4514850"/>
            <a:ext cx="285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B2B2B"/>
                </a:solidFill>
                <a:latin typeface="Microsoft YaHei"/>
                <a:ea typeface="Microsoft YaHei"/>
              </a:rPr>
              <a:t>DeepSeek API</a:t>
            </a:r>
            <a:r>
              <a:rPr lang="zh-CN" sz="1125">
                <a:solidFill>
                  <a:srgbClr val="2B2B2B"/>
                </a:solidFill>
                <a:latin typeface="Microsoft YaHei"/>
                <a:ea typeface="Microsoft YaHei"/>
              </a:rPr>
              <a:t>（大模型）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5143500" y="4514850"/>
            <a:ext cx="6191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A5A5A"/>
                </a:solidFill>
                <a:latin typeface="Microsoft YaHei"/>
                <a:ea typeface="Microsoft YaHei"/>
              </a:rPr>
              <a:t>只让它判断「这个格子该填什么」，不让它定位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857250" y="4838700"/>
            <a:ext cx="10477500" cy="476250"/>
          </a:xfrm>
          <a:custGeom>
            <a:pathLst>
              <a:path w="1100" h="50">
                <a:moveTo>
                  <a:pt x="0" y="49"/>
                </a:moveTo>
                <a:lnTo>
                  <a:pt x="1100" y="49"/>
                </a:lnTo>
                <a:lnTo>
                  <a:pt x="1100" y="50"/>
                </a:lnTo>
                <a:lnTo>
                  <a:pt x="0" y="50"/>
                </a:lnTo>
                <a:close/>
              </a:path>
            </a:pathLst>
          </a:custGeom>
          <a:solidFill>
            <a:srgbClr val="EEEEEE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857250" y="4981575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B2B2B"/>
                </a:solidFill>
                <a:latin typeface="Microsoft YaHei"/>
                <a:ea typeface="Microsoft YaHei"/>
              </a:rPr>
              <a:t>对外服务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2286000" y="4981575"/>
            <a:ext cx="285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B2B2B"/>
                </a:solidFill>
                <a:latin typeface="Microsoft YaHei"/>
                <a:ea typeface="Microsoft YaHei"/>
              </a:rPr>
              <a:t>FastAPI + </a:t>
            </a:r>
            <a:r>
              <a:rPr lang="zh-CN" sz="1125">
                <a:solidFill>
                  <a:srgbClr val="2B2B2B"/>
                </a:solidFill>
                <a:latin typeface="Microsoft YaHei"/>
                <a:ea typeface="Microsoft YaHei"/>
              </a:rPr>
              <a:t>线程池任务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5143500" y="4981575"/>
            <a:ext cx="6191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A5A5A"/>
                </a:solidFill>
                <a:latin typeface="Microsoft YaHei"/>
                <a:ea typeface="Microsoft YaHei"/>
              </a:rPr>
              <a:t>识别和填表耗时较长，改成提交后轮询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857250" y="5305425"/>
            <a:ext cx="10477500" cy="476250"/>
          </a:xfrm>
          <a:custGeom>
            <a:pathLst>
              <a:path w="1100" h="50">
                <a:moveTo>
                  <a:pt x="0" y="49"/>
                </a:moveTo>
                <a:lnTo>
                  <a:pt x="1100" y="49"/>
                </a:lnTo>
                <a:lnTo>
                  <a:pt x="1100" y="50"/>
                </a:lnTo>
                <a:lnTo>
                  <a:pt x="0" y="50"/>
                </a:lnTo>
                <a:close/>
              </a:path>
            </a:pathLst>
          </a:custGeom>
          <a:solidFill>
            <a:srgbClr val="EEEEEE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857250" y="5448300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B2B2B"/>
                </a:solidFill>
                <a:latin typeface="Microsoft YaHei"/>
                <a:ea typeface="Microsoft YaHei"/>
              </a:rPr>
              <a:t>数据存储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2286000" y="5448300"/>
            <a:ext cx="285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B2B2B"/>
                </a:solidFill>
                <a:latin typeface="Microsoft YaHei"/>
                <a:ea typeface="Microsoft YaHei"/>
              </a:rPr>
              <a:t>MySQL</a:t>
            </a:r>
            <a:r>
              <a:rPr lang="zh-CN" sz="1125">
                <a:solidFill>
                  <a:srgbClr val="2B2B2B"/>
                </a:solidFill>
                <a:latin typeface="Microsoft YaHei"/>
                <a:ea typeface="Microsoft YaHei"/>
              </a:rPr>
              <a:t>（文档</a:t>
            </a:r>
            <a:r>
              <a:rPr lang="en-US" sz="1125">
                <a:solidFill>
                  <a:srgbClr val="2B2B2B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2B2B2B"/>
                </a:solidFill>
                <a:latin typeface="Microsoft YaHei"/>
                <a:ea typeface="Microsoft YaHei"/>
              </a:rPr>
              <a:t>实体</a:t>
            </a:r>
            <a:r>
              <a:rPr lang="en-US" sz="1125">
                <a:solidFill>
                  <a:srgbClr val="2B2B2B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2B2B2B"/>
                </a:solidFill>
                <a:latin typeface="Microsoft YaHei"/>
                <a:ea typeface="Microsoft YaHei"/>
              </a:rPr>
              <a:t>画像</a:t>
            </a:r>
            <a:r>
              <a:rPr lang="en-US" sz="1125">
                <a:solidFill>
                  <a:srgbClr val="2B2B2B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2B2B2B"/>
                </a:solidFill>
                <a:latin typeface="Microsoft YaHei"/>
                <a:ea typeface="Microsoft YaHei"/>
              </a:rPr>
              <a:t>字段）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5143500" y="5448300"/>
            <a:ext cx="6191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A5A5A"/>
                </a:solidFill>
                <a:latin typeface="Microsoft YaHei"/>
                <a:ea typeface="Microsoft YaHei"/>
              </a:rPr>
              <a:t>每条记录留存原文摘抄和位置，可以反查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B2B2B"/>
                </a:solidFill>
                <a:latin typeface="Microsoft YaHei"/>
                <a:ea typeface="Microsoft YaHei"/>
              </a:rPr>
              <a:t>质量校验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2286000" y="5915025"/>
            <a:ext cx="285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B2B2B"/>
                </a:solidFill>
                <a:latin typeface="Microsoft YaHei"/>
                <a:ea typeface="Microsoft YaHei"/>
              </a:rPr>
              <a:t>纯</a:t>
            </a:r>
            <a:r>
              <a:rPr lang="en-US" sz="1125">
                <a:solidFill>
                  <a:srgbClr val="2B2B2B"/>
                </a:solidFill>
                <a:latin typeface="Microsoft YaHei"/>
                <a:ea typeface="Microsoft YaHei"/>
              </a:rPr>
              <a:t> Python</a:t>
            </a:r>
            <a:r>
              <a:rPr lang="zh-CN" sz="1125">
                <a:solidFill>
                  <a:srgbClr val="2B2B2B"/>
                </a:solidFill>
                <a:latin typeface="Microsoft YaHei"/>
                <a:ea typeface="Microsoft YaHei"/>
              </a:rPr>
              <a:t>，正则</a:t>
            </a:r>
            <a:r>
              <a:rPr lang="en-US" sz="1125">
                <a:solidFill>
                  <a:srgbClr val="2B2B2B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2B2B2B"/>
                </a:solidFill>
                <a:latin typeface="Microsoft YaHei"/>
                <a:ea typeface="Microsoft YaHei"/>
              </a:rPr>
              <a:t>原文回查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5143500" y="5915025"/>
            <a:ext cx="6191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A5A5A"/>
                </a:solidFill>
                <a:latin typeface="Microsoft YaHei"/>
                <a:ea typeface="Microsoft YaHei"/>
              </a:rPr>
              <a:t>不拿模型给自己打分，结果才可信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10668000" y="6457950"/>
            <a:ext cx="66675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00">
                <a:solidFill>
                  <a:srgbClr val="BFBFBF"/>
                </a:solidFill>
                <a:latin typeface="Microsoft YaHei"/>
                <a:ea typeface="Microsoft YaHei"/>
              </a:rPr>
              <a:t>4 / 12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77" name="" descr="&lt;Slide style={{ width: 1280, height: 720, position: 'relative', background: '#FFFFFF', padding: 0, fontFamily: 'Microsoft YaHei' }}&gt;&#13;&#10;    &lt;Box style={{ position: 'absolute', left: 90, top: 60, width: 1100 }}&gt;&#13;&#10;        &lt;Text style={{ fontSize: 30, color: '#1F1F1F', fontWeight: 'bold' }}&gt;三个模块，现在都能用了&lt;/Text&gt;&#13;&#10;        &lt;Text style={{ fontSize: 16, color: '#6E6E6E', marginTop: 10 }}&gt;在网页操作台上点一下就行，也可以写代码调&lt;/Text&gt;&#13;&#10;    &lt;/Box&gt;&#13;&#10;&#13;&#10;    &lt;Box style={{ position: 'absolute', left: 90, top: 208, width: 1100, flexDirection: 'row' }}&gt;&#13;&#10;&#13;&#10;        &lt;Box style={{ width: 330, marginRight: 55, borderTop: '2px solid #1F1F1F', paddingTop: 20 }}&gt;&#13;&#10;            &lt;Text style={{ fontSize: 14, color: '#8A3B2A' }}&gt;模块一&lt;/Text&gt;&#13;&#10;            &lt;Text style={{ fontSize: 27, color: '#1F1F1F', fontWeight: 'bold', marginTop: 10 }}&gt;文档智能操作&lt;/Text&gt;&#13;&#10;            &lt;Text style={{ fontSize: 20, color: '#3A3A3A', lineHeight: 1.8, marginTop: 24 }}&gt;&#13;&#10;                说一句话，它就照着改。&#13;&#10;            &lt;/Text&gt;&#13;&#10;            &lt;Text style={{ fontSize: 18, color: '#5A5A5A', lineHeight: 2.2, marginTop: 24 }}&gt;&#13;&#10;                · 改字、改格式、调版式、抽内容{'\n'}&#13;&#10;                · Word / Excel / Markdown 都行&#13;&#10;            &lt;/Text&gt;&#13;&#10;            &lt;Text style={{ fontSize: 16, color: '#8A8A8A', marginTop: 26 }}&gt;&#13;&#10;                比如：「把标题居中并加粗」&#13;&#10;            &lt;/Text&gt;&#13;&#10;        &lt;/Box&gt;&#13;&#10;&#13;&#10;        &lt;Box style={{ width: 330, marginRight: 55, borderTop: '2px solid #1F1F1F', paddingTop: 20 }}&gt;&#13;&#10;            &lt;Text style={{ fontSize: 14, color: '#8A3B2A' }}&gt;模块二&lt;/Text&gt;&#13;&#10;            &lt;Text style={{ fontSize: 27, color: '#1F1F1F', fontWeight: 'bold', marginTop: 10 }}&gt;信息提取与入库&lt;/Text&gt;&#13;&#10;            &lt;Text style={{ fontSize: 20, color: '#3A3A3A', lineHeight: 1.8, marginTop: 24 }}&gt;&#13;&#10;                读一份文档，把关键信息挑出来。&#13;&#10;            &lt;/Text&gt;&#13;&#10;            &lt;Text style={{ fontSize: 18, color: '#5A5A5A', lineHeight: 2.2, marginTop: 24 }}&gt;&#13;&#10;                · 画像、实体、字段，三类都能抽{'\n'}&#13;&#10;                · 每条都带原文出处，能核对&#13;&#10;            &lt;/Text&gt;&#13;&#10;            &lt;Text style={{ fontSize: 16, color: '#8A8A8A', marginTop: 26 }}&gt;&#13;&#10;                比如：「识别这份纪要里的实体」&#13;&#10;            &lt;/Text&gt;&#13;&#10;        &lt;/Box&gt;&#13;&#10;&#13;&#10;        &lt;Box style={{ width: 330, borderTop: '2px solid #1F1F1F', paddingTop: 20 }}&gt;&#13;&#10;            &lt;Text style={{ fontSize: 14, color: '#8A3B2A' }}&gt;模块三&lt;/Text&gt;&#13;&#10;            &lt;Text style={{ fontSize: 27, color: '#1F1F1F', fontWeight: 'bold', marginTop: 10 }}&gt;表格自动填写&lt;/Text&gt;&#13;&#10;            &lt;Text style={{ fontSize: 20, color: '#3A3A3A', lineHeight: 1.8, marginTop: 24 }}&gt;&#13;&#10;                给一张空表，它自己去文档里找值。&#13;&#10;            &lt;/Text&gt;&#13;&#10;            &lt;Text style={{ fontSize: 18, color: '#5A5A5A', lineHeight: 2.2, marginTop: 24 }}&gt;&#13;&#10;                · Word、Excel 模板都能填{'\n'}&#13;&#10;                · 找不到就留空，不瞎猜&#13;&#10;            &lt;/Text&gt;&#13;&#10;            &lt;Text style={{ fontSize: 16, color: '#8A8A8A', marginTop: 26 }}&gt;&#13;&#10;                比如：21 格台账，从 13 份文档里找值&#13;&#10;            &lt;/Text&gt;&#13;&#10;        &lt;/Box&gt;&#13;&#10;    &lt;/Box&gt;&#13;&#10;&#13;&#10;    &lt;Box style={{ position: 'absolute', left: 90, bottom: 66, width: 1100, flexDirection: 'row' }}&gt;&#13;&#10;        &lt;Box style={{ width: 3, background: '#8A3B2A', marginRight: 14 }} /&gt;&#13;&#10;        &lt;Text style={{ fontSize: 16, color: '#5A5A5A', lineHeight: 1.7, width: 1060 }}&gt;&#13;&#10;            三个模块用的是同一套底层能力；现在还不稳的，是换一种文档、换一个行业的时候。&#13;&#10;        &lt;/Text&gt;&#13;&#10;    &lt;/Box&gt;&#13;&#10;&#13;&#10;    &lt;Box style={{ position: 'absolute', left: 1120, top: 678, width: 70 }}&gt;&#13;&#10;        &lt;Text style={{ fontSize: 12, color: '#BFBFBF', textAlign: 'right' }}&gt;5 / 12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857250" y="571500"/>
            <a:ext cx="10477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F1F1F"/>
                </a:solidFill>
                <a:latin typeface="Microsoft YaHei"/>
                <a:ea typeface="Microsoft YaHei"/>
              </a:rPr>
              <a:t>三个模块，现在都能用了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857250" y="1009650"/>
            <a:ext cx="1047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E6E6E"/>
                </a:solidFill>
                <a:latin typeface="Microsoft YaHei"/>
                <a:ea typeface="Microsoft YaHei"/>
              </a:rPr>
              <a:t>在网页操作台上点一下就行，也可以写代码调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857250" y="1981200"/>
            <a:ext cx="3143250" cy="3028950"/>
          </a:xfrm>
          <a:custGeom>
            <a:pathLst>
              <a:path w="330" h="318">
                <a:moveTo>
                  <a:pt x="0" y="0"/>
                </a:moveTo>
                <a:lnTo>
                  <a:pt x="330" y="0"/>
                </a:lnTo>
                <a:lnTo>
                  <a:pt x="330" y="2"/>
                </a:lnTo>
                <a:lnTo>
                  <a:pt x="0" y="2"/>
                </a:lnTo>
                <a:close/>
              </a:path>
            </a:pathLst>
          </a:custGeom>
          <a:solidFill>
            <a:srgbClr val="1F1F1F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857250" y="2190750"/>
            <a:ext cx="3143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3B2A"/>
                </a:solidFill>
                <a:latin typeface="Microsoft YaHei"/>
                <a:ea typeface="Microsoft YaHei"/>
              </a:rPr>
              <a:t>模块一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857250" y="2447925"/>
            <a:ext cx="314325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1F1F1F"/>
                </a:solidFill>
                <a:latin typeface="Microsoft YaHei"/>
                <a:ea typeface="Microsoft YaHei"/>
              </a:rPr>
              <a:t>文档智能操作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857250" y="2990850"/>
            <a:ext cx="3143250" cy="41910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500">
                <a:solidFill>
                  <a:srgbClr val="3A3A3A"/>
                </a:solidFill>
                <a:latin typeface="Microsoft YaHei"/>
                <a:ea typeface="Microsoft YaHei"/>
              </a:rPr>
              <a:t>说一句话，它就照着改。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857250" y="3638550"/>
            <a:ext cx="3143250" cy="914400"/>
          </a:xfrm>
          <a:prstGeom prst="rect"/>
        </p:spPr>
        <p:txBody>
          <a:bodyPr wrap="none" lIns="0" tIns="0" rIns="0" bIns="0"/>
          <a:p>
            <a:pPr>
              <a:lnSpc>
                <a:spcPct val="220000"/>
              </a:lnSpc>
            </a:pPr>
            <a:r>
              <a:rPr lang="en-US" sz="1350">
                <a:solidFill>
                  <a:srgbClr val="5A5A5A"/>
                </a:solidFill>
                <a:latin typeface="Microsoft YaHei"/>
                <a:ea typeface="Microsoft YaHei"/>
              </a:rPr>
              <a:t>· </a:t>
            </a:r>
            <a:r>
              <a:rPr lang="zh-CN" sz="1350">
                <a:solidFill>
                  <a:srgbClr val="5A5A5A"/>
                </a:solidFill>
                <a:latin typeface="Microsoft YaHei"/>
                <a:ea typeface="Microsoft YaHei"/>
              </a:rPr>
              <a:t>改字、改格式、调版式、抽内容</a:t>
            </a:r>
            <a:endParaRPr/>
          </a:p>
          <a:p>
            <a:pPr>
              <a:lnSpc>
                <a:spcPct val="220000"/>
              </a:lnSpc>
            </a:pPr>
            <a:r>
              <a:rPr lang="en-US" sz="1350">
                <a:solidFill>
                  <a:srgbClr val="5A5A5A"/>
                </a:solidFill>
                <a:latin typeface="Microsoft YaHei"/>
                <a:ea typeface="Microsoft YaHei"/>
              </a:rPr>
              <a:t>· Word / Excel / Markdown </a:t>
            </a:r>
            <a:r>
              <a:rPr lang="zh-CN" sz="1350">
                <a:solidFill>
                  <a:srgbClr val="5A5A5A"/>
                </a:solidFill>
                <a:latin typeface="Microsoft YaHei"/>
                <a:ea typeface="Microsoft YaHei"/>
              </a:rPr>
              <a:t>都行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857250" y="4800600"/>
            <a:ext cx="3143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A8A8A"/>
                </a:solidFill>
                <a:latin typeface="Microsoft YaHei"/>
                <a:ea typeface="Microsoft YaHei"/>
              </a:rPr>
              <a:t>比如：「把标题居中并加粗」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4524375" y="1981200"/>
            <a:ext cx="3143250" cy="3028950"/>
          </a:xfrm>
          <a:custGeom>
            <a:pathLst>
              <a:path w="330" h="318">
                <a:moveTo>
                  <a:pt x="0" y="0"/>
                </a:moveTo>
                <a:lnTo>
                  <a:pt x="330" y="0"/>
                </a:lnTo>
                <a:lnTo>
                  <a:pt x="330" y="2"/>
                </a:lnTo>
                <a:lnTo>
                  <a:pt x="0" y="2"/>
                </a:lnTo>
                <a:close/>
              </a:path>
            </a:pathLst>
          </a:custGeom>
          <a:solidFill>
            <a:srgbClr val="1F1F1F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4524375" y="2190750"/>
            <a:ext cx="3143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3B2A"/>
                </a:solidFill>
                <a:latin typeface="Microsoft YaHei"/>
                <a:ea typeface="Microsoft YaHei"/>
              </a:rPr>
              <a:t>模块二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4524375" y="2447925"/>
            <a:ext cx="314325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1F1F1F"/>
                </a:solidFill>
                <a:latin typeface="Microsoft YaHei"/>
                <a:ea typeface="Microsoft YaHei"/>
              </a:rPr>
              <a:t>信息提取与入库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4524375" y="2990850"/>
            <a:ext cx="3143250" cy="41910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500">
                <a:solidFill>
                  <a:srgbClr val="3A3A3A"/>
                </a:solidFill>
                <a:latin typeface="Microsoft YaHei"/>
                <a:ea typeface="Microsoft YaHei"/>
              </a:rPr>
              <a:t>读一份文档，把关键信息挑出来。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4524375" y="3638550"/>
            <a:ext cx="3143250" cy="914400"/>
          </a:xfrm>
          <a:prstGeom prst="rect"/>
        </p:spPr>
        <p:txBody>
          <a:bodyPr wrap="none" lIns="0" tIns="0" rIns="0" bIns="0"/>
          <a:p>
            <a:pPr>
              <a:lnSpc>
                <a:spcPct val="220000"/>
              </a:lnSpc>
            </a:pPr>
            <a:r>
              <a:rPr lang="en-US" sz="1350">
                <a:solidFill>
                  <a:srgbClr val="5A5A5A"/>
                </a:solidFill>
                <a:latin typeface="Microsoft YaHei"/>
                <a:ea typeface="Microsoft YaHei"/>
              </a:rPr>
              <a:t>· </a:t>
            </a:r>
            <a:r>
              <a:rPr lang="zh-CN" sz="1350">
                <a:solidFill>
                  <a:srgbClr val="5A5A5A"/>
                </a:solidFill>
                <a:latin typeface="Microsoft YaHei"/>
                <a:ea typeface="Microsoft YaHei"/>
              </a:rPr>
              <a:t>画像、实体、字段，三类都能抽</a:t>
            </a:r>
            <a:endParaRPr/>
          </a:p>
          <a:p>
            <a:pPr>
              <a:lnSpc>
                <a:spcPct val="220000"/>
              </a:lnSpc>
            </a:pPr>
            <a:r>
              <a:rPr lang="en-US" sz="1350">
                <a:solidFill>
                  <a:srgbClr val="5A5A5A"/>
                </a:solidFill>
                <a:latin typeface="Microsoft YaHei"/>
                <a:ea typeface="Microsoft YaHei"/>
              </a:rPr>
              <a:t>· </a:t>
            </a:r>
            <a:r>
              <a:rPr lang="zh-CN" sz="1350">
                <a:solidFill>
                  <a:srgbClr val="5A5A5A"/>
                </a:solidFill>
                <a:latin typeface="Microsoft YaHei"/>
                <a:ea typeface="Microsoft YaHei"/>
              </a:rPr>
              <a:t>每条都带原文出处，能核对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4524375" y="4800600"/>
            <a:ext cx="3143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A8A8A"/>
                </a:solidFill>
                <a:latin typeface="Microsoft YaHei"/>
                <a:ea typeface="Microsoft YaHei"/>
              </a:rPr>
              <a:t>比如：「识别这份纪要里的实体」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8191500" y="1981200"/>
            <a:ext cx="3143250" cy="3028950"/>
          </a:xfrm>
          <a:custGeom>
            <a:pathLst>
              <a:path w="330" h="318">
                <a:moveTo>
                  <a:pt x="0" y="0"/>
                </a:moveTo>
                <a:lnTo>
                  <a:pt x="330" y="0"/>
                </a:lnTo>
                <a:lnTo>
                  <a:pt x="330" y="2"/>
                </a:lnTo>
                <a:lnTo>
                  <a:pt x="0" y="2"/>
                </a:lnTo>
                <a:close/>
              </a:path>
            </a:pathLst>
          </a:custGeom>
          <a:solidFill>
            <a:srgbClr val="1F1F1F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8191500" y="2190750"/>
            <a:ext cx="3143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3B2A"/>
                </a:solidFill>
                <a:latin typeface="Microsoft YaHei"/>
                <a:ea typeface="Microsoft YaHei"/>
              </a:rPr>
              <a:t>模块三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8191500" y="2447925"/>
            <a:ext cx="314325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1F1F1F"/>
                </a:solidFill>
                <a:latin typeface="Microsoft YaHei"/>
                <a:ea typeface="Microsoft YaHei"/>
              </a:rPr>
              <a:t>表格自动填写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8191500" y="2990850"/>
            <a:ext cx="3143250" cy="41910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500">
                <a:solidFill>
                  <a:srgbClr val="3A3A3A"/>
                </a:solidFill>
                <a:latin typeface="Microsoft YaHei"/>
                <a:ea typeface="Microsoft YaHei"/>
              </a:rPr>
              <a:t>给一张空表，它自己去文档里找值。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8191500" y="3638550"/>
            <a:ext cx="3143250" cy="914400"/>
          </a:xfrm>
          <a:prstGeom prst="rect"/>
        </p:spPr>
        <p:txBody>
          <a:bodyPr wrap="none" lIns="0" tIns="0" rIns="0" bIns="0"/>
          <a:p>
            <a:pPr>
              <a:lnSpc>
                <a:spcPct val="220000"/>
              </a:lnSpc>
            </a:pPr>
            <a:r>
              <a:rPr lang="en-US" sz="1350">
                <a:solidFill>
                  <a:srgbClr val="5A5A5A"/>
                </a:solidFill>
                <a:latin typeface="Microsoft YaHei"/>
                <a:ea typeface="Microsoft YaHei"/>
              </a:rPr>
              <a:t>· Word</a:t>
            </a:r>
            <a:r>
              <a:rPr lang="zh-CN" sz="1350">
                <a:solidFill>
                  <a:srgbClr val="5A5A5A"/>
                </a:solidFill>
                <a:latin typeface="Microsoft YaHei"/>
                <a:ea typeface="Microsoft YaHei"/>
              </a:rPr>
              <a:t>、</a:t>
            </a:r>
            <a:r>
              <a:rPr lang="en-US" sz="1350">
                <a:solidFill>
                  <a:srgbClr val="5A5A5A"/>
                </a:solidFill>
                <a:latin typeface="Microsoft YaHei"/>
                <a:ea typeface="Microsoft YaHei"/>
              </a:rPr>
              <a:t>Excel </a:t>
            </a:r>
            <a:r>
              <a:rPr lang="zh-CN" sz="1350">
                <a:solidFill>
                  <a:srgbClr val="5A5A5A"/>
                </a:solidFill>
                <a:latin typeface="Microsoft YaHei"/>
                <a:ea typeface="Microsoft YaHei"/>
              </a:rPr>
              <a:t>模板都能填</a:t>
            </a:r>
            <a:endParaRPr/>
          </a:p>
          <a:p>
            <a:pPr>
              <a:lnSpc>
                <a:spcPct val="220000"/>
              </a:lnSpc>
            </a:pPr>
            <a:r>
              <a:rPr lang="en-US" sz="1350">
                <a:solidFill>
                  <a:srgbClr val="5A5A5A"/>
                </a:solidFill>
                <a:latin typeface="Microsoft YaHei"/>
                <a:ea typeface="Microsoft YaHei"/>
              </a:rPr>
              <a:t>· </a:t>
            </a:r>
            <a:r>
              <a:rPr lang="zh-CN" sz="1350">
                <a:solidFill>
                  <a:srgbClr val="5A5A5A"/>
                </a:solidFill>
                <a:latin typeface="Microsoft YaHei"/>
                <a:ea typeface="Microsoft YaHei"/>
              </a:rPr>
              <a:t>找不到就留空，不瞎猜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8191500" y="4800600"/>
            <a:ext cx="3143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A8A8A"/>
                </a:solidFill>
                <a:latin typeface="Microsoft YaHei"/>
                <a:ea typeface="Microsoft YaHei"/>
              </a:rPr>
              <a:t>比如：</a:t>
            </a:r>
            <a:r>
              <a:rPr lang="en-US" sz="1200">
                <a:solidFill>
                  <a:srgbClr val="8A8A8A"/>
                </a:solidFill>
                <a:latin typeface="Microsoft YaHei"/>
                <a:ea typeface="Microsoft YaHei"/>
              </a:rPr>
              <a:t>21 </a:t>
            </a:r>
            <a:r>
              <a:rPr lang="zh-CN" sz="1200">
                <a:solidFill>
                  <a:srgbClr val="8A8A8A"/>
                </a:solidFill>
                <a:latin typeface="Microsoft YaHei"/>
                <a:ea typeface="Microsoft YaHei"/>
              </a:rPr>
              <a:t>格台账，从</a:t>
            </a:r>
            <a:r>
              <a:rPr lang="en-US" sz="1200">
                <a:solidFill>
                  <a:srgbClr val="8A8A8A"/>
                </a:solidFill>
                <a:latin typeface="Microsoft YaHei"/>
                <a:ea typeface="Microsoft YaHei"/>
              </a:rPr>
              <a:t> 13 </a:t>
            </a:r>
            <a:r>
              <a:rPr lang="zh-CN" sz="1200">
                <a:solidFill>
                  <a:srgbClr val="8A8A8A"/>
                </a:solidFill>
                <a:latin typeface="Microsoft YaHei"/>
                <a:ea typeface="Microsoft YaHei"/>
              </a:rPr>
              <a:t>份文档里找值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857250" y="5915025"/>
            <a:ext cx="28575" cy="314325"/>
          </a:xfrm>
          <a:prstGeom prst="rect">
            <a:avLst/>
          </a:prstGeom>
          <a:solidFill>
            <a:srgbClr val="8A3B2A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1019175" y="5915025"/>
            <a:ext cx="1009650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5A5A5A"/>
                </a:solidFill>
                <a:latin typeface="Microsoft YaHei"/>
                <a:ea typeface="Microsoft YaHei"/>
              </a:rPr>
              <a:t>三个模块用的是同一套底层能力；现在还不稳的，是换一种文档、换一个行业的时候。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10668000" y="6457950"/>
            <a:ext cx="66675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00">
                <a:solidFill>
                  <a:srgbClr val="BFBFBF"/>
                </a:solidFill>
                <a:latin typeface="Microsoft YaHei"/>
                <a:ea typeface="Microsoft YaHei"/>
              </a:rPr>
              <a:t>5 / 12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02" name="" descr="&lt;Slide style={{ width: 1280, height: 720, position: 'relative', background: '#FFFFFF', padding: 0, fontFamily: 'Microsoft YaHei' }}&gt;&#13;&#10;    &lt;Box style={{ position: 'absolute', left: 90, top: 58, width: 800 }}&gt;&#13;&#10;        &lt;Text style={{ fontSize: 30, color: '#1F1F1F', fontWeight: 'bold' }}&gt;界面一：直接说人话&lt;/Text&gt;&#13;&#10;        &lt;Text style={{ fontSize: 17, color: '#6E6E6E', marginTop: 10 }}&gt;不用记按钮在哪，把要做的事说清楚就行&lt;/Text&gt;&#13;&#10;    &lt;/Box&gt;&#13;&#10;&#13;&#10;    &lt;Box style={{ position: 'absolute', left: 90, top: 152 }}&gt;&#13;&#10;        &lt;Image src='assets/ui-home.png' style={{ width: 700, height: 437, objectFit: 'cover', border: '1px solid #E2E2E2' }} /&gt;&#13;&#10;    &lt;/Box&gt;&#13;&#10;&#13;&#10;    &lt;Box style={{ position: 'absolute', left: 830, top: 162, width: 352 }}&gt;&#13;&#10;        &lt;Text style={{ fontSize: 13, color: '#8A3B2A' }}&gt;看这里&lt;/Text&gt;&#13;&#10;        &lt;Text style={{ fontSize: 17, color: '#3A3A3A', lineHeight: 2.0, marginTop: 16 }}&gt;&#13;&#10;            · 第二句里的「它」指上一份文档，能连着说{'\n'}&#13;&#10;            · 右边每条操作都带耗时，最慢一条 1.5 秒&#13;&#10;        &lt;/Text&gt;&#13;&#10;    &lt;/Box&gt;&#13;&#10;&#13;&#10;    &lt;Box style={{ position: 'absolute', left: 830, bottom: 64, width: 352 }}&gt;&#13;&#10;        &lt;Text style={{ fontSize: 13, color: '#9A9A9A' }}&gt;本机截图，10 月 13 日&lt;/Text&gt;&#13;&#10;    &lt;/Box&gt;&#13;&#10;&#13;&#10;    &lt;Box style={{ position: 'absolute', left: 1120, top: 678, width: 70 }}&gt;&#13;&#10;        &lt;Text style={{ fontSize: 12, color: '#BFBFBF', textAlign: 'right' }}&gt;6 / 12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857250" y="552450"/>
            <a:ext cx="7620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F1F1F"/>
                </a:solidFill>
                <a:latin typeface="Microsoft YaHei"/>
                <a:ea typeface="Microsoft YaHei"/>
              </a:rPr>
              <a:t>界面一：直接说人话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857250" y="990600"/>
            <a:ext cx="7620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E6E6E"/>
                </a:solidFill>
                <a:latin typeface="Microsoft YaHei"/>
                <a:ea typeface="Microsoft YaHei"/>
              </a:rPr>
              <a:t>不用记按钮在哪，把要做的事说清楚就行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857250" y="1447800"/>
            <a:ext cx="6667500" cy="4162425"/>
          </a:xfrm>
          <a:prstGeom prst="rect">
            <a:avLst/>
          </a:prstGeom>
          <a:ln w="12700">
            <a:solidFill>
              <a:srgbClr val="E2E2E2"/>
            </a:solidFill>
            <a:prstDash val="solid"/>
          </a:ln>
        </p:spPr>
        <p:txBody>
          <a:bodyPr/>
          <a:p/>
        </p:txBody>
      </p:sp>
      <p:pic>
        <p:nvPicPr>
          <p:cNvPr id="207" name=""/>
          <p:cNvPicPr>
            <a:picLocks noChangeAspect="1"/>
          </p:cNvPicPr>
          <p:nvPr/>
        </p:nvPicPr>
        <p:blipFill>
          <a:blip r:embed="rId1"/>
          <a:srcRect l="0" t="57" r="0" b="57"/>
          <a:stretch>
            <a:fillRect/>
          </a:stretch>
        </p:blipFill>
        <p:spPr>
          <a:xfrm rot="0" flipH="0" flipV="0">
            <a:off x="857250" y="1447800"/>
            <a:ext cx="6667500" cy="4162425"/>
          </a:xfrm>
          <a:prstGeom prst="rect">
            <a:avLst/>
          </a:prstGeom>
          <a:ln/>
        </p:spPr>
      </p:pic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7905750" y="1543050"/>
            <a:ext cx="335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3B2A"/>
                </a:solidFill>
                <a:latin typeface="Microsoft YaHei"/>
                <a:ea typeface="Microsoft YaHei"/>
              </a:rPr>
              <a:t>看这里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7905750" y="1847850"/>
            <a:ext cx="3352800" cy="78105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3A3A3A"/>
                </a:solidFill>
                <a:latin typeface="Microsoft YaHei"/>
                <a:ea typeface="Microsoft YaHei"/>
              </a:rPr>
              <a:t>· </a:t>
            </a:r>
            <a:r>
              <a:rPr lang="zh-CN" sz="1275">
                <a:solidFill>
                  <a:srgbClr val="3A3A3A"/>
                </a:solidFill>
                <a:latin typeface="Microsoft YaHei"/>
                <a:ea typeface="Microsoft YaHei"/>
              </a:rPr>
              <a:t>第二句里的「它」指上一份文档，能连着说</a:t>
            </a:r>
            <a:endParaRPr/>
          </a:p>
          <a:p>
            <a:pPr>
              <a:lnSpc>
                <a:spcPct val="200000"/>
              </a:lnSpc>
            </a:pPr>
            <a:r>
              <a:rPr lang="en-US" sz="1275">
                <a:solidFill>
                  <a:srgbClr val="3A3A3A"/>
                </a:solidFill>
                <a:latin typeface="Microsoft YaHei"/>
                <a:ea typeface="Microsoft YaHei"/>
              </a:rPr>
              <a:t>· </a:t>
            </a:r>
            <a:r>
              <a:rPr lang="zh-CN" sz="1275">
                <a:solidFill>
                  <a:srgbClr val="3A3A3A"/>
                </a:solidFill>
                <a:latin typeface="Microsoft YaHei"/>
                <a:ea typeface="Microsoft YaHei"/>
              </a:rPr>
              <a:t>右边每条操作都带耗时，最慢一条</a:t>
            </a:r>
            <a:r>
              <a:rPr lang="en-US" sz="1275">
                <a:solidFill>
                  <a:srgbClr val="3A3A3A"/>
                </a:solidFill>
                <a:latin typeface="Microsoft YaHei"/>
                <a:ea typeface="Microsoft YaHei"/>
              </a:rPr>
              <a:t> 1.5 </a:t>
            </a:r>
            <a:r>
              <a:rPr lang="zh-CN" sz="1275">
                <a:solidFill>
                  <a:srgbClr val="3A3A3A"/>
                </a:solidFill>
                <a:latin typeface="Microsoft YaHei"/>
                <a:ea typeface="Microsoft YaHei"/>
              </a:rPr>
              <a:t>秒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7905750" y="6096000"/>
            <a:ext cx="335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A9A9A"/>
                </a:solidFill>
                <a:latin typeface="Microsoft YaHei"/>
                <a:ea typeface="Microsoft YaHei"/>
              </a:rPr>
              <a:t>本机截图，</a:t>
            </a:r>
            <a:r>
              <a:rPr lang="en-US" sz="975">
                <a:solidFill>
                  <a:srgbClr val="9A9A9A"/>
                </a:solidFill>
                <a:latin typeface="Microsoft YaHei"/>
                <a:ea typeface="Microsoft YaHei"/>
              </a:rPr>
              <a:t>10 </a:t>
            </a:r>
            <a:r>
              <a:rPr lang="zh-CN" sz="975">
                <a:solidFill>
                  <a:srgbClr val="9A9A9A"/>
                </a:solidFill>
                <a:latin typeface="Microsoft YaHei"/>
                <a:ea typeface="Microsoft YaHei"/>
              </a:rPr>
              <a:t>月</a:t>
            </a:r>
            <a:r>
              <a:rPr lang="en-US" sz="975">
                <a:solidFill>
                  <a:srgbClr val="9A9A9A"/>
                </a:solidFill>
                <a:latin typeface="Microsoft YaHei"/>
                <a:ea typeface="Microsoft YaHei"/>
              </a:rPr>
              <a:t> 13 </a:t>
            </a:r>
            <a:r>
              <a:rPr lang="zh-CN" sz="975">
                <a:solidFill>
                  <a:srgbClr val="9A9A9A"/>
                </a:solidFill>
                <a:latin typeface="Microsoft YaHei"/>
                <a:ea typeface="Microsoft YaHei"/>
              </a:rPr>
              <a:t>日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10668000" y="6457950"/>
            <a:ext cx="66675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00">
                <a:solidFill>
                  <a:srgbClr val="BFBFBF"/>
                </a:solidFill>
                <a:latin typeface="Microsoft YaHei"/>
                <a:ea typeface="Microsoft YaHei"/>
              </a:rPr>
              <a:t>6 / 12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12" name="" descr="&lt;Slide style={{ width: 1280, height: 720, position: 'relative', background: '#FFFFFF', padding: 0, fontFamily: 'Microsoft YaHei' }}&gt;&#13;&#10;    &lt;Box style={{ position: 'absolute', left: 90, top: 58, width: 800 }}&gt;&#13;&#10;        &lt;Text style={{ fontSize: 30, color: '#1F1F1F', fontWeight: 'bold' }}&gt;界面二：批量识别&lt;/Text&gt;&#13;&#10;        &lt;Text style={{ fontSize: 17, color: '#6E6E6E', marginTop: 10 }}&gt;勾几份文档，选要抽哪几条线，点一下就开始跑&lt;/Text&gt;&#13;&#10;    &lt;/Box&gt;&#13;&#10;&#13;&#10;    &lt;Box style={{ position: 'absolute', left: 90, top: 152 }}&gt;&#13;&#10;        &lt;Image src='assets/ui-recognize-crop.png' style={{ width: 700, height: 500, objectFit: 'cover', border: '1px solid #E2E2E2' }} /&gt;&#13;&#10;    &lt;/Box&gt;&#13;&#10;&#13;&#10;    &lt;Box style={{ position: 'absolute', left: 830, top: 162, width: 352 }}&gt;&#13;&#10;        &lt;Text style={{ fontSize: 13, color: '#8A3B2A' }}&gt;看这里&lt;/Text&gt;&#13;&#10;        &lt;Text style={{ fontSize: 17, color: '#3A3A3A', lineHeight: 2.0, marginTop: 16 }}&gt;&#13;&#10;            · 三条线可选：画像、实体、指定字段{'\n'}&#13;&#10;            · 提交先返回任务号，页面自己轮询{'\n'}&#13;&#10;            · 结果直接入库，每条能拉回原文&#13;&#10;        &lt;/Text&gt;&#13;&#10;    &lt;/Box&gt;&#13;&#10;&#13;&#10;    &lt;Box style={{ position: 'absolute', left: 830, bottom: 64, width: 352 }}&gt;&#13;&#10;        &lt;Text style={{ fontSize: 13, color: '#9A9A9A' }}&gt;本机截图，10 月 13 日&lt;/Text&gt;&#13;&#10;    &lt;/Box&gt;&#13;&#10;&#13;&#10;    &lt;Box style={{ position: 'absolute', left: 1120, top: 678, width: 70 }}&gt;&#13;&#10;        &lt;Text style={{ fontSize: 12, color: '#BFBFBF', textAlign: 'right' }}&gt;7 / 12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857250" y="552450"/>
            <a:ext cx="7620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F1F1F"/>
                </a:solidFill>
                <a:latin typeface="Microsoft YaHei"/>
                <a:ea typeface="Microsoft YaHei"/>
              </a:rPr>
              <a:t>界面二：批量识别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857250" y="990600"/>
            <a:ext cx="7620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E6E6E"/>
                </a:solidFill>
                <a:latin typeface="Microsoft YaHei"/>
                <a:ea typeface="Microsoft YaHei"/>
              </a:rPr>
              <a:t>勾几份文档，选要抽哪几条线，点一下就开始跑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857250" y="1447800"/>
            <a:ext cx="6667500" cy="4762500"/>
          </a:xfrm>
          <a:prstGeom prst="rect">
            <a:avLst/>
          </a:prstGeom>
          <a:ln w="12700">
            <a:solidFill>
              <a:srgbClr val="E2E2E2"/>
            </a:solidFill>
            <a:prstDash val="solid"/>
          </a:ln>
        </p:spPr>
        <p:txBody>
          <a:bodyPr/>
          <a:p/>
        </p:txBody>
      </p:sp>
      <p:pic>
        <p:nvPicPr>
          <p:cNvPr id="217" name=""/>
          <p:cNvPicPr>
            <a:picLocks noChangeAspect="1"/>
          </p:cNvPicPr>
          <p:nvPr/>
        </p:nvPicPr>
        <p:blipFill>
          <a:blip r:embed="rId1"/>
          <a:srcRect l="0" t="5" r="0" b="5"/>
          <a:stretch>
            <a:fillRect/>
          </a:stretch>
        </p:blipFill>
        <p:spPr>
          <a:xfrm rot="0" flipH="0" flipV="0">
            <a:off x="857250" y="1447800"/>
            <a:ext cx="6667500" cy="4762500"/>
          </a:xfrm>
          <a:prstGeom prst="rect">
            <a:avLst/>
          </a:prstGeom>
          <a:ln/>
        </p:spPr>
      </p:pic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7905750" y="1543050"/>
            <a:ext cx="335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3B2A"/>
                </a:solidFill>
                <a:latin typeface="Microsoft YaHei"/>
                <a:ea typeface="Microsoft YaHei"/>
              </a:rPr>
              <a:t>看这里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7905750" y="1847850"/>
            <a:ext cx="3352800" cy="117157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3A3A3A"/>
                </a:solidFill>
                <a:latin typeface="Microsoft YaHei"/>
                <a:ea typeface="Microsoft YaHei"/>
              </a:rPr>
              <a:t>· </a:t>
            </a:r>
            <a:r>
              <a:rPr lang="zh-CN" sz="1275">
                <a:solidFill>
                  <a:srgbClr val="3A3A3A"/>
                </a:solidFill>
                <a:latin typeface="Microsoft YaHei"/>
                <a:ea typeface="Microsoft YaHei"/>
              </a:rPr>
              <a:t>三条线可选：画像、实体、指定字段</a:t>
            </a:r>
            <a:endParaRPr/>
          </a:p>
          <a:p>
            <a:pPr>
              <a:lnSpc>
                <a:spcPct val="200000"/>
              </a:lnSpc>
            </a:pPr>
            <a:r>
              <a:rPr lang="en-US" sz="1275">
                <a:solidFill>
                  <a:srgbClr val="3A3A3A"/>
                </a:solidFill>
                <a:latin typeface="Microsoft YaHei"/>
                <a:ea typeface="Microsoft YaHei"/>
              </a:rPr>
              <a:t>· </a:t>
            </a:r>
            <a:r>
              <a:rPr lang="zh-CN" sz="1275">
                <a:solidFill>
                  <a:srgbClr val="3A3A3A"/>
                </a:solidFill>
                <a:latin typeface="Microsoft YaHei"/>
                <a:ea typeface="Microsoft YaHei"/>
              </a:rPr>
              <a:t>提交先返回任务号，页面自己轮询</a:t>
            </a:r>
            <a:endParaRPr/>
          </a:p>
          <a:p>
            <a:pPr>
              <a:lnSpc>
                <a:spcPct val="200000"/>
              </a:lnSpc>
            </a:pPr>
            <a:r>
              <a:rPr lang="en-US" sz="1275">
                <a:solidFill>
                  <a:srgbClr val="3A3A3A"/>
                </a:solidFill>
                <a:latin typeface="Microsoft YaHei"/>
                <a:ea typeface="Microsoft YaHei"/>
              </a:rPr>
              <a:t>· </a:t>
            </a:r>
            <a:r>
              <a:rPr lang="zh-CN" sz="1275">
                <a:solidFill>
                  <a:srgbClr val="3A3A3A"/>
                </a:solidFill>
                <a:latin typeface="Microsoft YaHei"/>
                <a:ea typeface="Microsoft YaHei"/>
              </a:rPr>
              <a:t>结果直接入库，每条能拉回原文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7905750" y="6096000"/>
            <a:ext cx="335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A9A9A"/>
                </a:solidFill>
                <a:latin typeface="Microsoft YaHei"/>
                <a:ea typeface="Microsoft YaHei"/>
              </a:rPr>
              <a:t>本机截图，</a:t>
            </a:r>
            <a:r>
              <a:rPr lang="en-US" sz="975">
                <a:solidFill>
                  <a:srgbClr val="9A9A9A"/>
                </a:solidFill>
                <a:latin typeface="Microsoft YaHei"/>
                <a:ea typeface="Microsoft YaHei"/>
              </a:rPr>
              <a:t>10 </a:t>
            </a:r>
            <a:r>
              <a:rPr lang="zh-CN" sz="975">
                <a:solidFill>
                  <a:srgbClr val="9A9A9A"/>
                </a:solidFill>
                <a:latin typeface="Microsoft YaHei"/>
                <a:ea typeface="Microsoft YaHei"/>
              </a:rPr>
              <a:t>月</a:t>
            </a:r>
            <a:r>
              <a:rPr lang="en-US" sz="975">
                <a:solidFill>
                  <a:srgbClr val="9A9A9A"/>
                </a:solidFill>
                <a:latin typeface="Microsoft YaHei"/>
                <a:ea typeface="Microsoft YaHei"/>
              </a:rPr>
              <a:t> 13 </a:t>
            </a:r>
            <a:r>
              <a:rPr lang="zh-CN" sz="975">
                <a:solidFill>
                  <a:srgbClr val="9A9A9A"/>
                </a:solidFill>
                <a:latin typeface="Microsoft YaHei"/>
                <a:ea typeface="Microsoft YaHei"/>
              </a:rPr>
              <a:t>日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10668000" y="6457950"/>
            <a:ext cx="66675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00">
                <a:solidFill>
                  <a:srgbClr val="BFBFBF"/>
                </a:solidFill>
                <a:latin typeface="Microsoft YaHei"/>
                <a:ea typeface="Microsoft YaHei"/>
              </a:rPr>
              <a:t>7 / 12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22" name="" descr="&lt;Slide style={{ width: 1280, height: 720, position: 'relative', background: '#FFFFFF', padding: 0, fontFamily: 'Microsoft YaHei' }}&gt;&#13;&#10;    &lt;Box style={{ position: 'absolute', left: 90, top: 58, width: 800 }}&gt;&#13;&#10;        &lt;Text style={{ fontSize: 30, color: '#1F1F1F', fontWeight: 'bold' }}&gt;界面三：填表下载&lt;/Text&gt;&#13;&#10;        &lt;Text style={{ fontSize: 17, color: '#6E6E6E', marginTop: 10 }}&gt;选一张模板，跑完下载填好的表，模板本身不动&lt;/Text&gt;&#13;&#10;    &lt;/Box&gt;&#13;&#10;&#13;&#10;    &lt;Box style={{ position: 'absolute', left: 90, top: 152 }}&gt;&#13;&#10;        &lt;Image src='assets/ui-fill-crop.png' style={{ width: 700, height: 500, objectFit: 'cover', border: '1px solid #E2E2E2' }} /&gt;&#13;&#10;    &lt;/Box&gt;&#13;&#10;&#13;&#10;    &lt;Box style={{ position: 'absolute', left: 830, top: 162, width: 352 }}&gt;&#13;&#10;        &lt;Text style={{ fontSize: 13, color: '#8A3B2A' }}&gt;看这里&lt;/Text&gt;&#13;&#10;        &lt;Text style={{ fontSize: 17, color: '#3A3A3A', lineHeight: 2.0, marginTop: 16 }}&gt;&#13;&#10;            · Word、Excel 模板都能填{'\n'}&#13;&#10;            · 一般 10 到 40 秒，最长一单 44 秒{'\n'}&#13;&#10;            · 找不到依据的格子留空，不猜&#13;&#10;        &lt;/Text&gt;&#13;&#10;    &lt;/Box&gt;&#13;&#10;&#13;&#10;    &lt;Box style={{ position: 'absolute', left: 830, bottom: 64, width: 352 }}&gt;&#13;&#10;        &lt;Text style={{ fontSize: 13, color: '#9A9A9A' }}&gt;本机截图，10 月 13 日&lt;/Text&gt;&#13;&#10;    &lt;/Box&gt;&#13;&#10;&#13;&#10;    &lt;Box style={{ position: 'absolute', left: 1120, top: 678, width: 70 }}&gt;&#13;&#10;        &lt;Text style={{ fontSize: 12, color: '#BFBFBF', textAlign: 'right' }}&gt;8 / 12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857250" y="552450"/>
            <a:ext cx="7620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F1F1F"/>
                </a:solidFill>
                <a:latin typeface="Microsoft YaHei"/>
                <a:ea typeface="Microsoft YaHei"/>
              </a:rPr>
              <a:t>界面三：填表下载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857250" y="990600"/>
            <a:ext cx="7620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E6E6E"/>
                </a:solidFill>
                <a:latin typeface="Microsoft YaHei"/>
                <a:ea typeface="Microsoft YaHei"/>
              </a:rPr>
              <a:t>选一张模板，跑完下载填好的表，模板本身不动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857250" y="1447800"/>
            <a:ext cx="6667500" cy="4762500"/>
          </a:xfrm>
          <a:prstGeom prst="rect">
            <a:avLst/>
          </a:prstGeom>
          <a:ln w="12700">
            <a:solidFill>
              <a:srgbClr val="E2E2E2"/>
            </a:solidFill>
            <a:prstDash val="solid"/>
          </a:ln>
        </p:spPr>
        <p:txBody>
          <a:bodyPr/>
          <a:p/>
        </p:txBody>
      </p:sp>
      <p:pic>
        <p:nvPicPr>
          <p:cNvPr id="227" name=""/>
          <p:cNvPicPr>
            <a:picLocks noChangeAspect="1"/>
          </p:cNvPicPr>
          <p:nvPr/>
        </p:nvPicPr>
        <p:blipFill>
          <a:blip r:embed="rId1"/>
          <a:srcRect l="0" t="11" r="0" b="11"/>
          <a:stretch>
            <a:fillRect/>
          </a:stretch>
        </p:blipFill>
        <p:spPr>
          <a:xfrm rot="0" flipH="0" flipV="0">
            <a:off x="857250" y="1447800"/>
            <a:ext cx="6667500" cy="4762500"/>
          </a:xfrm>
          <a:prstGeom prst="rect">
            <a:avLst/>
          </a:prstGeom>
          <a:ln/>
        </p:spPr>
      </p:pic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7905750" y="1543050"/>
            <a:ext cx="335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3B2A"/>
                </a:solidFill>
                <a:latin typeface="Microsoft YaHei"/>
                <a:ea typeface="Microsoft YaHei"/>
              </a:rPr>
              <a:t>看这里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7905750" y="1847850"/>
            <a:ext cx="3352800" cy="117157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3A3A3A"/>
                </a:solidFill>
                <a:latin typeface="Microsoft YaHei"/>
                <a:ea typeface="Microsoft YaHei"/>
              </a:rPr>
              <a:t>· Word</a:t>
            </a:r>
            <a:r>
              <a:rPr lang="zh-CN" sz="1275">
                <a:solidFill>
                  <a:srgbClr val="3A3A3A"/>
                </a:solidFill>
                <a:latin typeface="Microsoft YaHei"/>
                <a:ea typeface="Microsoft YaHei"/>
              </a:rPr>
              <a:t>、</a:t>
            </a:r>
            <a:r>
              <a:rPr lang="en-US" sz="1275">
                <a:solidFill>
                  <a:srgbClr val="3A3A3A"/>
                </a:solidFill>
                <a:latin typeface="Microsoft YaHei"/>
                <a:ea typeface="Microsoft YaHei"/>
              </a:rPr>
              <a:t>Excel </a:t>
            </a:r>
            <a:r>
              <a:rPr lang="zh-CN" sz="1275">
                <a:solidFill>
                  <a:srgbClr val="3A3A3A"/>
                </a:solidFill>
                <a:latin typeface="Microsoft YaHei"/>
                <a:ea typeface="Microsoft YaHei"/>
              </a:rPr>
              <a:t>模板都能填</a:t>
            </a:r>
            <a:endParaRPr/>
          </a:p>
          <a:p>
            <a:pPr>
              <a:lnSpc>
                <a:spcPct val="200000"/>
              </a:lnSpc>
            </a:pPr>
            <a:r>
              <a:rPr lang="en-US" sz="1275">
                <a:solidFill>
                  <a:srgbClr val="3A3A3A"/>
                </a:solidFill>
                <a:latin typeface="Microsoft YaHei"/>
                <a:ea typeface="Microsoft YaHei"/>
              </a:rPr>
              <a:t>· </a:t>
            </a:r>
            <a:r>
              <a:rPr lang="zh-CN" sz="1275">
                <a:solidFill>
                  <a:srgbClr val="3A3A3A"/>
                </a:solidFill>
                <a:latin typeface="Microsoft YaHei"/>
                <a:ea typeface="Microsoft YaHei"/>
              </a:rPr>
              <a:t>一般</a:t>
            </a:r>
            <a:r>
              <a:rPr lang="en-US" sz="1275">
                <a:solidFill>
                  <a:srgbClr val="3A3A3A"/>
                </a:solidFill>
                <a:latin typeface="Microsoft YaHei"/>
                <a:ea typeface="Microsoft YaHei"/>
              </a:rPr>
              <a:t> 10 </a:t>
            </a:r>
            <a:r>
              <a:rPr lang="zh-CN" sz="1275">
                <a:solidFill>
                  <a:srgbClr val="3A3A3A"/>
                </a:solidFill>
                <a:latin typeface="Microsoft YaHei"/>
                <a:ea typeface="Microsoft YaHei"/>
              </a:rPr>
              <a:t>到</a:t>
            </a:r>
            <a:r>
              <a:rPr lang="en-US" sz="1275">
                <a:solidFill>
                  <a:srgbClr val="3A3A3A"/>
                </a:solidFill>
                <a:latin typeface="Microsoft YaHei"/>
                <a:ea typeface="Microsoft YaHei"/>
              </a:rPr>
              <a:t> 40 </a:t>
            </a:r>
            <a:r>
              <a:rPr lang="zh-CN" sz="1275">
                <a:solidFill>
                  <a:srgbClr val="3A3A3A"/>
                </a:solidFill>
                <a:latin typeface="Microsoft YaHei"/>
                <a:ea typeface="Microsoft YaHei"/>
              </a:rPr>
              <a:t>秒，最长一单</a:t>
            </a:r>
            <a:r>
              <a:rPr lang="en-US" sz="1275">
                <a:solidFill>
                  <a:srgbClr val="3A3A3A"/>
                </a:solidFill>
                <a:latin typeface="Microsoft YaHei"/>
                <a:ea typeface="Microsoft YaHei"/>
              </a:rPr>
              <a:t> 44 </a:t>
            </a:r>
            <a:r>
              <a:rPr lang="zh-CN" sz="1275">
                <a:solidFill>
                  <a:srgbClr val="3A3A3A"/>
                </a:solidFill>
                <a:latin typeface="Microsoft YaHei"/>
                <a:ea typeface="Microsoft YaHei"/>
              </a:rPr>
              <a:t>秒</a:t>
            </a:r>
            <a:endParaRPr/>
          </a:p>
          <a:p>
            <a:pPr>
              <a:lnSpc>
                <a:spcPct val="200000"/>
              </a:lnSpc>
            </a:pPr>
            <a:r>
              <a:rPr lang="en-US" sz="1275">
                <a:solidFill>
                  <a:srgbClr val="3A3A3A"/>
                </a:solidFill>
                <a:latin typeface="Microsoft YaHei"/>
                <a:ea typeface="Microsoft YaHei"/>
              </a:rPr>
              <a:t>· </a:t>
            </a:r>
            <a:r>
              <a:rPr lang="zh-CN" sz="1275">
                <a:solidFill>
                  <a:srgbClr val="3A3A3A"/>
                </a:solidFill>
                <a:latin typeface="Microsoft YaHei"/>
                <a:ea typeface="Microsoft YaHei"/>
              </a:rPr>
              <a:t>找不到依据的格子留空，不猜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7905750" y="6096000"/>
            <a:ext cx="335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A9A9A"/>
                </a:solidFill>
                <a:latin typeface="Microsoft YaHei"/>
                <a:ea typeface="Microsoft YaHei"/>
              </a:rPr>
              <a:t>本机截图，</a:t>
            </a:r>
            <a:r>
              <a:rPr lang="en-US" sz="975">
                <a:solidFill>
                  <a:srgbClr val="9A9A9A"/>
                </a:solidFill>
                <a:latin typeface="Microsoft YaHei"/>
                <a:ea typeface="Microsoft YaHei"/>
              </a:rPr>
              <a:t>10 </a:t>
            </a:r>
            <a:r>
              <a:rPr lang="zh-CN" sz="975">
                <a:solidFill>
                  <a:srgbClr val="9A9A9A"/>
                </a:solidFill>
                <a:latin typeface="Microsoft YaHei"/>
                <a:ea typeface="Microsoft YaHei"/>
              </a:rPr>
              <a:t>月</a:t>
            </a:r>
            <a:r>
              <a:rPr lang="en-US" sz="975">
                <a:solidFill>
                  <a:srgbClr val="9A9A9A"/>
                </a:solidFill>
                <a:latin typeface="Microsoft YaHei"/>
                <a:ea typeface="Microsoft YaHei"/>
              </a:rPr>
              <a:t> 13 </a:t>
            </a:r>
            <a:r>
              <a:rPr lang="zh-CN" sz="975">
                <a:solidFill>
                  <a:srgbClr val="9A9A9A"/>
                </a:solidFill>
                <a:latin typeface="Microsoft YaHei"/>
                <a:ea typeface="Microsoft YaHei"/>
              </a:rPr>
              <a:t>日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10668000" y="6457950"/>
            <a:ext cx="66675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00">
                <a:solidFill>
                  <a:srgbClr val="BFBFBF"/>
                </a:solidFill>
                <a:latin typeface="Microsoft YaHei"/>
                <a:ea typeface="Microsoft YaHei"/>
              </a:rPr>
              <a:t>8 / 12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232" name="" descr="&lt;Slide style={{ width: 1280, height: 720, position: 'relative', background: '#FFFFFF', padding: 0, fontFamily: 'Microsoft YaHei' }}&gt;&#13;&#10;    &lt;Box style={{ position: 'absolute', left: 90, top: 56, width: 1100 }}&gt;&#13;&#10;        &lt;Text style={{ fontSize: 28, color: '#1F1F1F', fontWeight: 'bold' }}&gt;目前完成到什么程度&lt;/Text&gt;&#13;&#10;        &lt;Text style={{ fontSize: 15, color: '#6E6E6E', marginTop: 8 }}&gt;三个模块的功能都通了，数字是我自己测的&lt;/Text&gt;&#13;&#10;    &lt;/Box&gt;&#13;&#10;&#13;&#10;    &lt;Box style={{ position: 'absolute', left: 90, top: 148, width: 1100 }}&gt;&#13;&#10;        &lt;Box style={{ flexDirection: 'row', background: '#F6F6F4', paddingTop: 11, paddingBottom: 11, paddingLeft: 14, paddingRight: 14 }}&gt;&#13;&#10;            &lt;Text style={{ fontSize: 14, color: '#6E6E6E', width: 230 }}&gt;部分&lt;/Text&gt;&#13;&#10;            &lt;Text style={{ fontSize: 14, color: '#6E6E6E', width: 450 }}&gt;做到什么&lt;/Text&gt;&#13;&#10;            &lt;Text style={{ fontSize: 14, color: '#6E6E6E', flex: 1 }}&gt;自测结果&lt;/Text&gt;&#13;&#10;        &lt;/Box&gt;&#13;&#10;&#13;&#10;        &lt;Box style={{ flexDirection: 'row', borderBottom: '1px solid #EEEEEE', paddingTop: 18, paddingBottom: 18, paddingLeft: 14, paddingRight: 14 }}&gt;&#13;&#10;            &lt;Text style={{ fontSize: 16, color: '#1F1F1F', width: 230, fontWeight: 'bold' }}&gt;文档智能操作&lt;/Text&gt;&#13;&#10;            &lt;Text style={{ fontSize: 15, color: '#4A4A4A', width: 450, lineHeight: 1.6 }}&gt;改字、改格式、调版式、抽内容{'\n'}Word / Excel / Markdown / txt&lt;/Text&gt;&#13;&#10;            &lt;Text style={{ fontSize: 15, color: '#3A3A3A', flex: 1, lineHeight: 1.6 }}&gt;26 条指令逐条跑通{'\n'}四操作 × 四格式，8 个组合全过&lt;/Text&gt;&#13;&#10;        &lt;/Box&gt;&#13;&#10;&#13;&#10;        &lt;Box style={{ flexDirection: 'row', borderBottom: '1px solid #EEEEEE', paddingTop: 18, paddingBottom: 18, paddingLeft: 14, paddingRight: 14 }}&gt;&#13;&#10;            &lt;Text style={{ fontSize: 16, color: '#1F1F1F', width: 230, fontWeight: 'bold' }}&gt;信息提取与入库&lt;/Text&gt;&#13;&#10;            &lt;Text style={{ fontSize: 15, color: '#4A4A4A', width: 450, lineHeight: 1.6 }}&gt;文档画像、七类实体、指定字段{'\n'}每条带原文摘抄和位置，写入 MySQL&lt;/Text&gt;&#13;&#10;            &lt;Text style={{ fontSize: 15, color: '#3A3A3A', flex: 1, lineHeight: 1.6 }}&gt;库内 266 条，逐条能拉回原文{'\n'}保真度 100%（自己写的审计脚本核的）&lt;/Text&gt;&#13;&#10;        &lt;/Box&gt;&#13;&#10;&#13;&#10;        &lt;Box style={{ flexDirection: 'row', borderBottom: '1px solid #EEEEEE', paddingTop: 18, paddingBottom: 18, paddingLeft: 14, paddingRight: 14 }}&gt;&#13;&#10;            &lt;Text style={{ fontSize: 16, color: '#1F1F1F', width: 230, fontWeight: 'bold' }}&gt;表格自动填写&lt;/Text&gt;&#13;&#10;            &lt;Text style={{ fontSize: 15, color: '#4A4A4A', width: 450, lineHeight: 1.6 }}&gt;Excel 模板 5 张、Word 模板 5 张{'\n'}只写值，输出新文件&lt;/Text&gt;&#13;&#10;            &lt;Text style={{ fontSize: 15, color: '#3A3A3A', flex: 1, lineHeight: 1.6 }}&gt;准确率：严格口径 85.7%–96.8%，宽口径 100%{'\n'}单表 10–44 秒（限 90 秒）&lt;/Text&gt;&#13;&#10;        &lt;/Box&gt;&#13;&#10;&#13;&#10;        &lt;Box style={{ flexDirection: 'row', paddingTop: 18, paddingBottom: 18, paddingLeft: 14, paddingRight: 14 }}&gt;&#13;&#10;            &lt;Text style={{ fontSize: 16, color: '#1F1F1F', width: 230, fontWeight: 'bold' }}&gt;对外服务&lt;/Text&gt;&#13;&#10;            &lt;Text style={{ fontSize: 15, color: '#4A4A4A', width: 450, lineHeight: 1.6 }}&gt;Web 操作台 + 19 个 HTTP 接口{'\n'}识别分类单独一个异步接口&lt;/Text&gt;&#13;&#10;            &lt;Text style={{ fontSize: 15, color: '#3A3A3A', flex: 1, lineHeight: 1.6 }}&gt;提交立即返回任务号{'\n'}识别、填表都在后台跑&lt;/Text&gt;&#13;&#10;        &lt;/Box&gt;&#13;&#10;    &lt;/Box&gt;&#13;&#10;&#13;&#10;    &lt;Box style={{ position: 'absolute', left: 90, bottom: 56, width: 1100, background: '#FBF7F5', padding: '14px 18px' }}&gt;&#13;&#10;        &lt;Text style={{ fontSize: 15, color: '#6A4A40', lineHeight: 1.7 }}&gt;&#13;&#10;            需要说明：以上都是按赛题要求自己做的测试，样本也是自己准备的，跟比赛现场的官方评测不是一回事。&#13;&#10;        &lt;/Text&gt;&#13;&#10;    &lt;/Box&gt;&#13;&#10;&#13;&#10;    &lt;Box style={{ position: 'absolute', left: 1120, top: 678, width: 70 }}&gt;&#13;&#10;        &lt;Text style={{ fontSize: 12, color: '#BFBFBF', textAlign: 'right' }}&gt;9 / 12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857250" y="533400"/>
            <a:ext cx="10477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F1F1F"/>
                </a:solidFill>
                <a:latin typeface="Microsoft YaHei"/>
                <a:ea typeface="Microsoft YaHei"/>
              </a:rPr>
              <a:t>目前完成到什么程度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857250" y="933450"/>
            <a:ext cx="1047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E6E6E"/>
                </a:solidFill>
                <a:latin typeface="Microsoft YaHei"/>
                <a:ea typeface="Microsoft YaHei"/>
              </a:rPr>
              <a:t>三个模块的功能都通了，数字是我自己测的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857250" y="1409700"/>
            <a:ext cx="10477500" cy="371475"/>
          </a:xfrm>
          <a:prstGeom prst="rect">
            <a:avLst/>
          </a:prstGeom>
          <a:solidFill>
            <a:srgbClr val="F6F6F4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990600" y="1514475"/>
            <a:ext cx="219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6E6E"/>
                </a:solidFill>
                <a:latin typeface="Microsoft YaHei"/>
                <a:ea typeface="Microsoft YaHei"/>
              </a:rPr>
              <a:t>部分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3181350" y="1514475"/>
            <a:ext cx="428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6E6E"/>
                </a:solidFill>
                <a:latin typeface="Microsoft YaHei"/>
                <a:ea typeface="Microsoft YaHei"/>
              </a:rPr>
              <a:t>做到什么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7467600" y="1514475"/>
            <a:ext cx="3733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E6E6E"/>
                </a:solidFill>
                <a:latin typeface="Microsoft YaHei"/>
                <a:ea typeface="Microsoft YaHei"/>
              </a:rPr>
              <a:t>自测结果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857250" y="1781175"/>
            <a:ext cx="10477500" cy="914400"/>
          </a:xfrm>
          <a:custGeom>
            <a:pathLst>
              <a:path w="1100" h="96">
                <a:moveTo>
                  <a:pt x="0" y="95"/>
                </a:moveTo>
                <a:lnTo>
                  <a:pt x="1100" y="95"/>
                </a:lnTo>
                <a:lnTo>
                  <a:pt x="1100" y="96"/>
                </a:lnTo>
                <a:lnTo>
                  <a:pt x="0" y="96"/>
                </a:lnTo>
                <a:close/>
              </a:path>
            </a:pathLst>
          </a:custGeom>
          <a:solidFill>
            <a:srgbClr val="EEEEEE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990600" y="1952625"/>
            <a:ext cx="21907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1F1F"/>
                </a:solidFill>
                <a:latin typeface="Microsoft YaHei"/>
                <a:ea typeface="Microsoft YaHei"/>
              </a:rPr>
              <a:t>文档智能操作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3181350" y="1952625"/>
            <a:ext cx="4286250" cy="5524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4A4A4A"/>
                </a:solidFill>
                <a:latin typeface="Microsoft YaHei"/>
                <a:ea typeface="Microsoft YaHei"/>
              </a:rPr>
              <a:t>改字、改格式、调版式、抽内容</a:t>
            </a:r>
            <a:endParaRPr/>
          </a:p>
          <a:p>
            <a:pPr>
              <a:lnSpc>
                <a:spcPct val="160000"/>
              </a:lnSpc>
            </a:pPr>
            <a:r>
              <a:rPr lang="en-US" sz="1125">
                <a:solidFill>
                  <a:srgbClr val="4A4A4A"/>
                </a:solidFill>
                <a:latin typeface="Microsoft YaHei"/>
                <a:ea typeface="Microsoft YaHei"/>
              </a:rPr>
              <a:t>Word / Excel / Markdown / txt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7467600" y="1952625"/>
            <a:ext cx="3733800" cy="5524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3A3A3A"/>
                </a:solidFill>
                <a:latin typeface="Microsoft YaHei"/>
                <a:ea typeface="Microsoft YaHei"/>
              </a:rPr>
              <a:t>26 </a:t>
            </a:r>
            <a:r>
              <a:rPr lang="zh-CN" sz="1125">
                <a:solidFill>
                  <a:srgbClr val="3A3A3A"/>
                </a:solidFill>
                <a:latin typeface="Microsoft YaHei"/>
                <a:ea typeface="Microsoft YaHei"/>
              </a:rPr>
              <a:t>条指令逐条跑通</a:t>
            </a:r>
            <a:endParaRPr/>
          </a:p>
          <a:p>
            <a:pPr>
              <a:lnSpc>
                <a:spcPct val="160000"/>
              </a:lnSpc>
            </a:pPr>
            <a:r>
              <a:rPr lang="zh-CN" sz="1125">
                <a:solidFill>
                  <a:srgbClr val="3A3A3A"/>
                </a:solidFill>
                <a:latin typeface="Microsoft YaHei"/>
                <a:ea typeface="Microsoft YaHei"/>
              </a:rPr>
              <a:t>四操作</a:t>
            </a:r>
            <a:r>
              <a:rPr lang="en-US" sz="1125">
                <a:solidFill>
                  <a:srgbClr val="3A3A3A"/>
                </a:solidFill>
                <a:latin typeface="Microsoft YaHei"/>
                <a:ea typeface="Microsoft YaHei"/>
              </a:rPr>
              <a:t> × </a:t>
            </a:r>
            <a:r>
              <a:rPr lang="zh-CN" sz="1125">
                <a:solidFill>
                  <a:srgbClr val="3A3A3A"/>
                </a:solidFill>
                <a:latin typeface="Microsoft YaHei"/>
                <a:ea typeface="Microsoft YaHei"/>
              </a:rPr>
              <a:t>四格式，</a:t>
            </a:r>
            <a:r>
              <a:rPr lang="en-US" sz="1125">
                <a:solidFill>
                  <a:srgbClr val="3A3A3A"/>
                </a:solidFill>
                <a:latin typeface="Microsoft YaHei"/>
                <a:ea typeface="Microsoft YaHei"/>
              </a:rPr>
              <a:t>8 </a:t>
            </a:r>
            <a:r>
              <a:rPr lang="zh-CN" sz="1125">
                <a:solidFill>
                  <a:srgbClr val="3A3A3A"/>
                </a:solidFill>
                <a:latin typeface="Microsoft YaHei"/>
                <a:ea typeface="Microsoft YaHei"/>
              </a:rPr>
              <a:t>个组合全过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857250" y="2686050"/>
            <a:ext cx="10477500" cy="914400"/>
          </a:xfrm>
          <a:custGeom>
            <a:pathLst>
              <a:path w="1100" h="96">
                <a:moveTo>
                  <a:pt x="0" y="95"/>
                </a:moveTo>
                <a:lnTo>
                  <a:pt x="1100" y="95"/>
                </a:lnTo>
                <a:lnTo>
                  <a:pt x="1100" y="96"/>
                </a:lnTo>
                <a:lnTo>
                  <a:pt x="0" y="96"/>
                </a:lnTo>
                <a:close/>
              </a:path>
            </a:pathLst>
          </a:custGeom>
          <a:solidFill>
            <a:srgbClr val="EEEEEE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990600" y="2857500"/>
            <a:ext cx="21907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1F1F"/>
                </a:solidFill>
                <a:latin typeface="Microsoft YaHei"/>
                <a:ea typeface="Microsoft YaHei"/>
              </a:rPr>
              <a:t>信息提取与入库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3181350" y="2857500"/>
            <a:ext cx="4286250" cy="5524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4A4A4A"/>
                </a:solidFill>
                <a:latin typeface="Microsoft YaHei"/>
                <a:ea typeface="Microsoft YaHei"/>
              </a:rPr>
              <a:t>文档画像、七类实体、指定字段</a:t>
            </a:r>
            <a:endParaRPr/>
          </a:p>
          <a:p>
            <a:pPr>
              <a:lnSpc>
                <a:spcPct val="160000"/>
              </a:lnSpc>
            </a:pPr>
            <a:r>
              <a:rPr lang="zh-CN" sz="1125">
                <a:solidFill>
                  <a:srgbClr val="4A4A4A"/>
                </a:solidFill>
                <a:latin typeface="Microsoft YaHei"/>
                <a:ea typeface="Microsoft YaHei"/>
              </a:rPr>
              <a:t>每条带原文摘抄和位置，写入</a:t>
            </a:r>
            <a:r>
              <a:rPr lang="en-US" sz="1125">
                <a:solidFill>
                  <a:srgbClr val="4A4A4A"/>
                </a:solidFill>
                <a:latin typeface="Microsoft YaHei"/>
                <a:ea typeface="Microsoft YaHei"/>
              </a:rPr>
              <a:t> MySQL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7467600" y="2857500"/>
            <a:ext cx="3733800" cy="5524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3A3A3A"/>
                </a:solidFill>
                <a:latin typeface="Microsoft YaHei"/>
                <a:ea typeface="Microsoft YaHei"/>
              </a:rPr>
              <a:t>库内</a:t>
            </a:r>
            <a:r>
              <a:rPr lang="en-US" sz="1125">
                <a:solidFill>
                  <a:srgbClr val="3A3A3A"/>
                </a:solidFill>
                <a:latin typeface="Microsoft YaHei"/>
                <a:ea typeface="Microsoft YaHei"/>
              </a:rPr>
              <a:t> 266 </a:t>
            </a:r>
            <a:r>
              <a:rPr lang="zh-CN" sz="1125">
                <a:solidFill>
                  <a:srgbClr val="3A3A3A"/>
                </a:solidFill>
                <a:latin typeface="Microsoft YaHei"/>
                <a:ea typeface="Microsoft YaHei"/>
              </a:rPr>
              <a:t>条，逐条能拉回原文</a:t>
            </a:r>
            <a:endParaRPr/>
          </a:p>
          <a:p>
            <a:pPr>
              <a:lnSpc>
                <a:spcPct val="160000"/>
              </a:lnSpc>
            </a:pPr>
            <a:r>
              <a:rPr lang="zh-CN" sz="1125">
                <a:solidFill>
                  <a:srgbClr val="3A3A3A"/>
                </a:solidFill>
                <a:latin typeface="Microsoft YaHei"/>
                <a:ea typeface="Microsoft YaHei"/>
              </a:rPr>
              <a:t>保真度</a:t>
            </a:r>
            <a:r>
              <a:rPr lang="en-US" sz="1125">
                <a:solidFill>
                  <a:srgbClr val="3A3A3A"/>
                </a:solidFill>
                <a:latin typeface="Microsoft YaHei"/>
                <a:ea typeface="Microsoft YaHei"/>
              </a:rPr>
              <a:t> 100%</a:t>
            </a:r>
            <a:r>
              <a:rPr lang="zh-CN" sz="1125">
                <a:solidFill>
                  <a:srgbClr val="3A3A3A"/>
                </a:solidFill>
                <a:latin typeface="Microsoft YaHei"/>
                <a:ea typeface="Microsoft YaHei"/>
              </a:rPr>
              <a:t>（自己写的审计脚本核的）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857250" y="3590925"/>
            <a:ext cx="10477500" cy="914400"/>
          </a:xfrm>
          <a:custGeom>
            <a:pathLst>
              <a:path w="1100" h="96">
                <a:moveTo>
                  <a:pt x="0" y="95"/>
                </a:moveTo>
                <a:lnTo>
                  <a:pt x="1100" y="95"/>
                </a:lnTo>
                <a:lnTo>
                  <a:pt x="1100" y="96"/>
                </a:lnTo>
                <a:lnTo>
                  <a:pt x="0" y="96"/>
                </a:lnTo>
                <a:close/>
              </a:path>
            </a:pathLst>
          </a:custGeom>
          <a:solidFill>
            <a:srgbClr val="EEEEEE"/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990600" y="3762375"/>
            <a:ext cx="21907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1F1F"/>
                </a:solidFill>
                <a:latin typeface="Microsoft YaHei"/>
                <a:ea typeface="Microsoft YaHei"/>
              </a:rPr>
              <a:t>表格自动填写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3181350" y="3762375"/>
            <a:ext cx="4286250" cy="5524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4A4A4A"/>
                </a:solidFill>
                <a:latin typeface="Microsoft YaHei"/>
                <a:ea typeface="Microsoft YaHei"/>
              </a:rPr>
              <a:t>Excel </a:t>
            </a:r>
            <a:r>
              <a:rPr lang="zh-CN" sz="1125">
                <a:solidFill>
                  <a:srgbClr val="4A4A4A"/>
                </a:solidFill>
                <a:latin typeface="Microsoft YaHei"/>
                <a:ea typeface="Microsoft YaHei"/>
              </a:rPr>
              <a:t>模板</a:t>
            </a:r>
            <a:r>
              <a:rPr lang="en-US" sz="1125">
                <a:solidFill>
                  <a:srgbClr val="4A4A4A"/>
                </a:solidFill>
                <a:latin typeface="Microsoft YaHei"/>
                <a:ea typeface="Microsoft YaHei"/>
              </a:rPr>
              <a:t> 5 </a:t>
            </a:r>
            <a:r>
              <a:rPr lang="zh-CN" sz="1125">
                <a:solidFill>
                  <a:srgbClr val="4A4A4A"/>
                </a:solidFill>
                <a:latin typeface="Microsoft YaHei"/>
                <a:ea typeface="Microsoft YaHei"/>
              </a:rPr>
              <a:t>张、</a:t>
            </a:r>
            <a:r>
              <a:rPr lang="en-US" sz="1125">
                <a:solidFill>
                  <a:srgbClr val="4A4A4A"/>
                </a:solidFill>
                <a:latin typeface="Microsoft YaHei"/>
                <a:ea typeface="Microsoft YaHei"/>
              </a:rPr>
              <a:t>Word </a:t>
            </a:r>
            <a:r>
              <a:rPr lang="zh-CN" sz="1125">
                <a:solidFill>
                  <a:srgbClr val="4A4A4A"/>
                </a:solidFill>
                <a:latin typeface="Microsoft YaHei"/>
                <a:ea typeface="Microsoft YaHei"/>
              </a:rPr>
              <a:t>模板</a:t>
            </a:r>
            <a:r>
              <a:rPr lang="en-US" sz="1125">
                <a:solidFill>
                  <a:srgbClr val="4A4A4A"/>
                </a:solidFill>
                <a:latin typeface="Microsoft YaHei"/>
                <a:ea typeface="Microsoft YaHei"/>
              </a:rPr>
              <a:t> 5 </a:t>
            </a:r>
            <a:r>
              <a:rPr lang="zh-CN" sz="1125">
                <a:solidFill>
                  <a:srgbClr val="4A4A4A"/>
                </a:solidFill>
                <a:latin typeface="Microsoft YaHei"/>
                <a:ea typeface="Microsoft YaHei"/>
              </a:rPr>
              <a:t>张</a:t>
            </a:r>
            <a:endParaRPr/>
          </a:p>
          <a:p>
            <a:pPr>
              <a:lnSpc>
                <a:spcPct val="160000"/>
              </a:lnSpc>
            </a:pPr>
            <a:r>
              <a:rPr lang="zh-CN" sz="1125">
                <a:solidFill>
                  <a:srgbClr val="4A4A4A"/>
                </a:solidFill>
                <a:latin typeface="Microsoft YaHei"/>
                <a:ea typeface="Microsoft YaHei"/>
              </a:rPr>
              <a:t>只写值，输出新文件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7467600" y="3762375"/>
            <a:ext cx="3733800" cy="5524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3A3A3A"/>
                </a:solidFill>
                <a:latin typeface="Microsoft YaHei"/>
                <a:ea typeface="Microsoft YaHei"/>
              </a:rPr>
              <a:t>准确率：严格口径</a:t>
            </a:r>
            <a:r>
              <a:rPr lang="en-US" sz="1125">
                <a:solidFill>
                  <a:srgbClr val="3A3A3A"/>
                </a:solidFill>
                <a:latin typeface="Microsoft YaHei"/>
                <a:ea typeface="Microsoft YaHei"/>
              </a:rPr>
              <a:t> 85.7%–96.8%</a:t>
            </a:r>
            <a:r>
              <a:rPr lang="zh-CN" sz="1125">
                <a:solidFill>
                  <a:srgbClr val="3A3A3A"/>
                </a:solidFill>
                <a:latin typeface="Microsoft YaHei"/>
                <a:ea typeface="Microsoft YaHei"/>
              </a:rPr>
              <a:t>，宽口径</a:t>
            </a:r>
            <a:r>
              <a:rPr lang="en-US" sz="1125">
                <a:solidFill>
                  <a:srgbClr val="3A3A3A"/>
                </a:solidFill>
                <a:latin typeface="Microsoft YaHei"/>
                <a:ea typeface="Microsoft YaHei"/>
              </a:rPr>
              <a:t> 100%</a:t>
            </a:r>
            <a:endParaRPr/>
          </a:p>
          <a:p>
            <a:pPr>
              <a:lnSpc>
                <a:spcPct val="160000"/>
              </a:lnSpc>
            </a:pPr>
            <a:r>
              <a:rPr lang="zh-CN" sz="1125">
                <a:solidFill>
                  <a:srgbClr val="3A3A3A"/>
                </a:solidFill>
                <a:latin typeface="Microsoft YaHei"/>
                <a:ea typeface="Microsoft YaHei"/>
              </a:rPr>
              <a:t>单表</a:t>
            </a:r>
            <a:r>
              <a:rPr lang="en-US" sz="1125">
                <a:solidFill>
                  <a:srgbClr val="3A3A3A"/>
                </a:solidFill>
                <a:latin typeface="Microsoft YaHei"/>
                <a:ea typeface="Microsoft YaHei"/>
              </a:rPr>
              <a:t> 10–44 </a:t>
            </a:r>
            <a:r>
              <a:rPr lang="zh-CN" sz="1125">
                <a:solidFill>
                  <a:srgbClr val="3A3A3A"/>
                </a:solidFill>
                <a:latin typeface="Microsoft YaHei"/>
                <a:ea typeface="Microsoft YaHei"/>
              </a:rPr>
              <a:t>秒（限</a:t>
            </a:r>
            <a:r>
              <a:rPr lang="en-US" sz="1125">
                <a:solidFill>
                  <a:srgbClr val="3A3A3A"/>
                </a:solidFill>
                <a:latin typeface="Microsoft YaHei"/>
                <a:ea typeface="Microsoft YaHei"/>
              </a:rPr>
              <a:t> 90 </a:t>
            </a:r>
            <a:r>
              <a:rPr lang="zh-CN" sz="1125">
                <a:solidFill>
                  <a:srgbClr val="3A3A3A"/>
                </a:solidFill>
                <a:latin typeface="Microsoft YaHei"/>
                <a:ea typeface="Microsoft YaHei"/>
              </a:rPr>
              <a:t>秒）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990600" y="4667250"/>
            <a:ext cx="21907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1F1F"/>
                </a:solidFill>
                <a:latin typeface="Microsoft YaHei"/>
                <a:ea typeface="Microsoft YaHei"/>
              </a:rPr>
              <a:t>对外服务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3181350" y="4667250"/>
            <a:ext cx="4286250" cy="5524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4A4A4A"/>
                </a:solidFill>
                <a:latin typeface="Microsoft YaHei"/>
                <a:ea typeface="Microsoft YaHei"/>
              </a:rPr>
              <a:t>Web </a:t>
            </a:r>
            <a:r>
              <a:rPr lang="zh-CN" sz="1125">
                <a:solidFill>
                  <a:srgbClr val="4A4A4A"/>
                </a:solidFill>
                <a:latin typeface="Microsoft YaHei"/>
                <a:ea typeface="Microsoft YaHei"/>
              </a:rPr>
              <a:t>操作台</a:t>
            </a:r>
            <a:r>
              <a:rPr lang="en-US" sz="1125">
                <a:solidFill>
                  <a:srgbClr val="4A4A4A"/>
                </a:solidFill>
                <a:latin typeface="Microsoft YaHei"/>
                <a:ea typeface="Microsoft YaHei"/>
              </a:rPr>
              <a:t> + 19 </a:t>
            </a:r>
            <a:r>
              <a:rPr lang="zh-CN" sz="1125">
                <a:solidFill>
                  <a:srgbClr val="4A4A4A"/>
                </a:solidFill>
                <a:latin typeface="Microsoft YaHei"/>
                <a:ea typeface="Microsoft YaHei"/>
              </a:rPr>
              <a:t>个</a:t>
            </a:r>
            <a:r>
              <a:rPr lang="en-US" sz="1125">
                <a:solidFill>
                  <a:srgbClr val="4A4A4A"/>
                </a:solidFill>
                <a:latin typeface="Microsoft YaHei"/>
                <a:ea typeface="Microsoft YaHei"/>
              </a:rPr>
              <a:t> HTTP </a:t>
            </a:r>
            <a:r>
              <a:rPr lang="zh-CN" sz="1125">
                <a:solidFill>
                  <a:srgbClr val="4A4A4A"/>
                </a:solidFill>
                <a:latin typeface="Microsoft YaHei"/>
                <a:ea typeface="Microsoft YaHei"/>
              </a:rPr>
              <a:t>接口</a:t>
            </a:r>
            <a:endParaRPr/>
          </a:p>
          <a:p>
            <a:pPr>
              <a:lnSpc>
                <a:spcPct val="160000"/>
              </a:lnSpc>
            </a:pPr>
            <a:r>
              <a:rPr lang="zh-CN" sz="1125">
                <a:solidFill>
                  <a:srgbClr val="4A4A4A"/>
                </a:solidFill>
                <a:latin typeface="Microsoft YaHei"/>
                <a:ea typeface="Microsoft YaHei"/>
              </a:rPr>
              <a:t>识别分类单独一个异步接口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7467600" y="4667250"/>
            <a:ext cx="3733800" cy="5524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3A3A3A"/>
                </a:solidFill>
                <a:latin typeface="Microsoft YaHei"/>
                <a:ea typeface="Microsoft YaHei"/>
              </a:rPr>
              <a:t>提交立即返回任务号</a:t>
            </a:r>
            <a:endParaRPr/>
          </a:p>
          <a:p>
            <a:pPr>
              <a:lnSpc>
                <a:spcPct val="160000"/>
              </a:lnSpc>
            </a:pPr>
            <a:r>
              <a:rPr lang="zh-CN" sz="1125">
                <a:solidFill>
                  <a:srgbClr val="3A3A3A"/>
                </a:solidFill>
                <a:latin typeface="Microsoft YaHei"/>
                <a:ea typeface="Microsoft YaHei"/>
              </a:rPr>
              <a:t>识别、填表都在后台跑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857250" y="5762625"/>
            <a:ext cx="10477500" cy="561975"/>
          </a:xfrm>
          <a:prstGeom prst="rect">
            <a:avLst/>
          </a:prstGeom>
          <a:solidFill>
            <a:srgbClr val="FBF7F5"/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1028700" y="5895975"/>
            <a:ext cx="101346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6A4A40"/>
                </a:solidFill>
                <a:latin typeface="Microsoft YaHei"/>
                <a:ea typeface="Microsoft YaHei"/>
              </a:rPr>
              <a:t>需要说明：以上都是按赛题要求自己做的测试，样本也是自己准备的，跟比赛现场的官方评测不是一回事。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10668000" y="6457950"/>
            <a:ext cx="66675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00">
                <a:solidFill>
                  <a:srgbClr val="BFBFBF"/>
                </a:solidFill>
                <a:latin typeface="Microsoft YaHei"/>
                <a:ea typeface="Microsoft YaHei"/>
              </a:rPr>
              <a:t>9 / 12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9" name="" descr="&lt;Slide style={{ width: 1280, height: 720, position: 'relative', background: '#FFFFFF', padding: 0, fontFamily: 'Microsoft YaHei' }}&gt;&#13;&#10;    &lt;Box style={{ position: 'absolute', left: 90, top: 56, width: 1100 }}&gt;&#13;&#10;        &lt;Text style={{ fontSize: 28, color: '#1F1F1F', fontWeight: 'bold' }}&gt;还没做好的地方&lt;/Text&gt;&#13;&#10;        &lt;Text style={{ fontSize: 15, color: '#6E6E6E', marginTop: 8 }}&gt;这几条是我自己盘的，肯定还有我没看出来的&lt;/Text&gt;&#13;&#10;    &lt;/Box&gt;&#13;&#10;&#13;&#10;    &lt;Box style={{ position: 'absolute', left: 90, top: 168, width: 500 }}&gt;&#13;&#10;        &lt;Box style={{ marginBottom: 52 }}&gt;&#13;&#10;            &lt;Text style={{ fontSize: 19, color: '#1F1F1F', fontWeight: 'bold' }}&gt;模板只认规整的表&lt;/Text&gt;&#13;&#10;            &lt;Text style={{ fontSize: 16, color: '#4A4A4A', lineHeight: 1.9, marginTop: 8 }}&gt;&#13;&#10;                多层表头、斜线表头、跨页表，一次都没试过。手上这 5 张刚好都简单。&#13;&#10;            &lt;/Text&gt;&#13;&#10;        &lt;/Box&gt;&#13;&#10;&#13;&#10;        &lt;Box style={{ marginBottom: 52 }}&gt;&#13;&#10;            &lt;Text style={{ fontSize: 19, color: '#1F1F1F', fontWeight: 'bold' }}&gt;字段靠别名表在撑&lt;/Text&gt;&#13;&#10;            &lt;Text style={{ fontSize: 16, color: '#4A4A4A', lineHeight: 1.9, marginTop: 8 }}&gt;&#13;&#10;                用户把「合同金额」叫成「合同总价」，我就得手工补一条映射。换个行业，这张表差不多要重配一遍。&#13;&#10;            &lt;/Text&gt;&#13;&#10;        &lt;/Box&gt;&#13;&#10;&#13;&#10;        &lt;Box&gt;&#13;&#10;            &lt;Text style={{ fontSize: 19, color: '#1F1F1F', fontWeight: 'bold' }}&gt;长文档快顶到 90 秒&lt;/Text&gt;&#13;&#10;            &lt;Text style={{ fontSize: 16, color: '#4A4A4A', lineHeight: 1.9, marginTop: 8 }}&gt;&#13;&#10;                500KB 的单表 30 到 44 秒，余量已经用掉一半。&#13;&#10;            &lt;/Text&gt;&#13;&#10;        &lt;/Box&gt;&#13;&#10;    &lt;/Box&gt;&#13;&#10;&#13;&#10;    &lt;Box style={{ position: 'absolute', left: 660, top: 168, width: 500, borderLeft: '1px solid #E2E2E2', paddingLeft: 40 }}&gt;&#13;&#10;        &lt;Box style={{ marginBottom: 52 }}&gt;&#13;&#10;            &lt;Text style={{ fontSize: 19, color: '#1F1F1F', fontWeight: 'bold' }}&gt;没有真实数据&lt;/Text&gt;&#13;&#10;            &lt;Text style={{ fontSize: 16, color: '#4A4A4A', lineHeight: 1.9, marginTop: 8 }}&gt;&#13;&#10;                样本都是我自己造的，排得干净。企业里的文档乱成什么样，我还没见过。&#13;&#10;            &lt;/Text&gt;&#13;&#10;        &lt;/Box&gt;&#13;&#10;&#13;&#10;        &lt;Box style={{ marginBottom: 52 }}&gt;&#13;&#10;            &lt;Text style={{ fontSize: 19, color: '#1F1F1F', fontWeight: 'bold' }}&gt;准确率的口径是我自己定的&lt;/Text&gt;&#13;&#10;            &lt;Text style={{ fontSize: 16, color: '#4A4A4A', lineHeight: 1.9, marginTop: 8 }}&gt;&#13;&#10;                官方怎么比对我不清楚，所以那个数只说明我测着还行。&#13;&#10;            &lt;/Text&gt;&#13;&#10;        &lt;/Box&gt;&#13;&#10;&#13;&#10;        &lt;Box&gt;&#13;&#10;            &lt;Text style={{ fontSize: 19, color: '#1F1F1F', fontWeight: 'bold' }}&gt;工程上比较糙&lt;/Text&gt;&#13;&#10;            &lt;Text style={{ fontSize: 16, color: '#4A4A4A', lineHeight: 1.9, marginTop: 8 }}&gt;&#13;&#10;                单机跑，没做并发压测；前端是测试页，也没写部署文档。&#13;&#10;            &lt;/Text&gt;&#13;&#10;        &lt;/Box&gt;&#13;&#10;    &lt;/Box&gt;&#13;&#10;&#13;&#10;    &lt;Box style={{ position: 'absolute', left: 90, bottom: 66, width: 1100, borderTop: '1px solid #E2E2E2', paddingTop: 22 }}&gt;&#13;&#10;        &lt;Text style={{ fontSize: 16, color: '#5A5A5A', lineHeight: 1.7 }}&gt;&#13;&#10;            这里头我最担心前两条：模板不通用、字段要重配，换一个行业就白做一半。&#13;&#10;        &lt;/Text&gt;&#13;&#10;    &lt;/Box&gt;&#13;&#10;&#13;&#10;    &lt;Box style={{ position: 'absolute', left: 1120, top: 678, width: 70 }}&gt;&#13;&#10;        &lt;Text style={{ fontSize: 12, color: '#BFBFBF', textAlign: 'right' }}&gt;10 / 12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857250" y="533400"/>
            <a:ext cx="10477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F1F1F"/>
                </a:solidFill>
                <a:latin typeface="Microsoft YaHei"/>
                <a:ea typeface="Microsoft YaHei"/>
              </a:rPr>
              <a:t>还没做好的地方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857250" y="933450"/>
            <a:ext cx="1047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E6E6E"/>
                </a:solidFill>
                <a:latin typeface="Microsoft YaHei"/>
                <a:ea typeface="Microsoft YaHei"/>
              </a:rPr>
              <a:t>这几条是我自己盘的，肯定还有我没看出来的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857250" y="1600200"/>
            <a:ext cx="4762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1F1F"/>
                </a:solidFill>
                <a:latin typeface="Microsoft YaHei"/>
                <a:ea typeface="Microsoft YaHei"/>
              </a:rPr>
              <a:t>模板只认规整的表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857250" y="1895475"/>
            <a:ext cx="47625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200">
                <a:solidFill>
                  <a:srgbClr val="4A4A4A"/>
                </a:solidFill>
                <a:latin typeface="Microsoft YaHei"/>
                <a:ea typeface="Microsoft YaHei"/>
              </a:rPr>
              <a:t>多层表头、斜线表头、跨页表，一次都没试过。手上这</a:t>
            </a:r>
            <a:r>
              <a:rPr lang="en-US" sz="1200">
                <a:solidFill>
                  <a:srgbClr val="4A4A4A"/>
                </a:solidFill>
                <a:latin typeface="Microsoft YaHei"/>
                <a:ea typeface="Microsoft YaHei"/>
              </a:rPr>
              <a:t> 5 </a:t>
            </a:r>
            <a:r>
              <a:rPr lang="zh-CN" sz="1200">
                <a:solidFill>
                  <a:srgbClr val="4A4A4A"/>
                </a:solidFill>
                <a:latin typeface="Microsoft YaHei"/>
                <a:ea typeface="Microsoft YaHei"/>
              </a:rPr>
              <a:t>张刚好都简单。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857250" y="3086100"/>
            <a:ext cx="4762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1F1F"/>
                </a:solidFill>
                <a:latin typeface="Microsoft YaHei"/>
                <a:ea typeface="Microsoft YaHei"/>
              </a:rPr>
              <a:t>字段靠别名表在撑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857250" y="3381375"/>
            <a:ext cx="47625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200">
                <a:solidFill>
                  <a:srgbClr val="4A4A4A"/>
                </a:solidFill>
                <a:latin typeface="Microsoft YaHei"/>
                <a:ea typeface="Microsoft YaHei"/>
              </a:rPr>
              <a:t>用户把「合同金额」叫成「合同总价」，我就得手工补一条映射。换个行业，这张表差不多要重配一遍。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857250" y="4572000"/>
            <a:ext cx="4762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1F1F"/>
                </a:solidFill>
                <a:latin typeface="Microsoft YaHei"/>
                <a:ea typeface="Microsoft YaHei"/>
              </a:rPr>
              <a:t>长文档快顶到</a:t>
            </a:r>
            <a:r>
              <a:rPr lang="en-US" sz="1425" b="1">
                <a:solidFill>
                  <a:srgbClr val="1F1F1F"/>
                </a:solidFill>
                <a:latin typeface="Microsoft YaHei"/>
                <a:ea typeface="Microsoft YaHei"/>
              </a:rPr>
              <a:t> 90 </a:t>
            </a:r>
            <a:r>
              <a:rPr lang="zh-CN" sz="1425" b="1">
                <a:solidFill>
                  <a:srgbClr val="1F1F1F"/>
                </a:solidFill>
                <a:latin typeface="Microsoft YaHei"/>
                <a:ea typeface="Microsoft YaHei"/>
              </a:rPr>
              <a:t>秒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857250" y="4867275"/>
            <a:ext cx="4762500" cy="35242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200">
                <a:solidFill>
                  <a:srgbClr val="4A4A4A"/>
                </a:solidFill>
                <a:latin typeface="Microsoft YaHei"/>
                <a:ea typeface="Microsoft YaHei"/>
              </a:rPr>
              <a:t>500KB </a:t>
            </a:r>
            <a:r>
              <a:rPr lang="zh-CN" sz="1200">
                <a:solidFill>
                  <a:srgbClr val="4A4A4A"/>
                </a:solidFill>
                <a:latin typeface="Microsoft YaHei"/>
                <a:ea typeface="Microsoft YaHei"/>
              </a:rPr>
              <a:t>的单表</a:t>
            </a:r>
            <a:r>
              <a:rPr lang="en-US" sz="1200">
                <a:solidFill>
                  <a:srgbClr val="4A4A4A"/>
                </a:solidFill>
                <a:latin typeface="Microsoft YaHei"/>
                <a:ea typeface="Microsoft YaHei"/>
              </a:rPr>
              <a:t> 30 </a:t>
            </a:r>
            <a:r>
              <a:rPr lang="zh-CN" sz="1200">
                <a:solidFill>
                  <a:srgbClr val="4A4A4A"/>
                </a:solidFill>
                <a:latin typeface="Microsoft YaHei"/>
                <a:ea typeface="Microsoft YaHei"/>
              </a:rPr>
              <a:t>到</a:t>
            </a:r>
            <a:r>
              <a:rPr lang="en-US" sz="1200">
                <a:solidFill>
                  <a:srgbClr val="4A4A4A"/>
                </a:solidFill>
                <a:latin typeface="Microsoft YaHei"/>
                <a:ea typeface="Microsoft YaHei"/>
              </a:rPr>
              <a:t> 44 </a:t>
            </a:r>
            <a:r>
              <a:rPr lang="zh-CN" sz="1200">
                <a:solidFill>
                  <a:srgbClr val="4A4A4A"/>
                </a:solidFill>
                <a:latin typeface="Microsoft YaHei"/>
                <a:ea typeface="Microsoft YaHei"/>
              </a:rPr>
              <a:t>秒，余量已经用掉一半。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6286500" y="1600200"/>
            <a:ext cx="4762500" cy="3276600"/>
          </a:xfrm>
          <a:custGeom>
            <a:pathLst>
              <a:path w="500" h="344">
                <a:moveTo>
                  <a:pt x="0" y="0"/>
                </a:moveTo>
                <a:lnTo>
                  <a:pt x="1" y="0"/>
                </a:lnTo>
                <a:lnTo>
                  <a:pt x="1" y="344"/>
                </a:lnTo>
                <a:lnTo>
                  <a:pt x="0" y="344"/>
                </a:lnTo>
                <a:close/>
              </a:path>
            </a:pathLst>
          </a:custGeom>
          <a:solidFill>
            <a:srgbClr val="E2E2E2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677025" y="1600200"/>
            <a:ext cx="4371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1F1F"/>
                </a:solidFill>
                <a:latin typeface="Microsoft YaHei"/>
                <a:ea typeface="Microsoft YaHei"/>
              </a:rPr>
              <a:t>没有真实数据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677025" y="1895475"/>
            <a:ext cx="4371975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200">
                <a:solidFill>
                  <a:srgbClr val="4A4A4A"/>
                </a:solidFill>
                <a:latin typeface="Microsoft YaHei"/>
                <a:ea typeface="Microsoft YaHei"/>
              </a:rPr>
              <a:t>样本都是我自己造的，排得干净。企业里的文档乱成什么样，我还没见过。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677025" y="3086100"/>
            <a:ext cx="4371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1F1F"/>
                </a:solidFill>
                <a:latin typeface="Microsoft YaHei"/>
                <a:ea typeface="Microsoft YaHei"/>
              </a:rPr>
              <a:t>准确率的口径是我自己定的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677025" y="3381375"/>
            <a:ext cx="4371975" cy="35242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200">
                <a:solidFill>
                  <a:srgbClr val="4A4A4A"/>
                </a:solidFill>
                <a:latin typeface="Microsoft YaHei"/>
                <a:ea typeface="Microsoft YaHei"/>
              </a:rPr>
              <a:t>官方怎么比对我不清楚，所以那个数只说明我测着还行。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677025" y="4229100"/>
            <a:ext cx="4371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1F1F"/>
                </a:solidFill>
                <a:latin typeface="Microsoft YaHei"/>
                <a:ea typeface="Microsoft YaHei"/>
              </a:rPr>
              <a:t>工程上比较糙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677025" y="4524375"/>
            <a:ext cx="4371975" cy="35242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200">
                <a:solidFill>
                  <a:srgbClr val="4A4A4A"/>
                </a:solidFill>
                <a:latin typeface="Microsoft YaHei"/>
                <a:ea typeface="Microsoft YaHei"/>
              </a:rPr>
              <a:t>单机跑，没做并发压测；前端是测试页，也没写部署文档。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857250" y="5695950"/>
            <a:ext cx="10477500" cy="542925"/>
          </a:xfrm>
          <a:custGeom>
            <a:pathLst>
              <a:path w="1100" h="57">
                <a:moveTo>
                  <a:pt x="0" y="0"/>
                </a:moveTo>
                <a:lnTo>
                  <a:pt x="1100" y="0"/>
                </a:lnTo>
                <a:lnTo>
                  <a:pt x="11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2E2"/>
          </a:soli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047750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5A5A5A"/>
                </a:solidFill>
                <a:latin typeface="Microsoft YaHei"/>
                <a:ea typeface="Microsoft YaHei"/>
              </a:rPr>
              <a:t>这里头我最担心前两条：模板不通用、字段要重配，换一个行业就白做一半。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10668000" y="6457950"/>
            <a:ext cx="66675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00">
                <a:solidFill>
                  <a:srgbClr val="BFBFBF"/>
                </a:solidFill>
                <a:latin typeface="Microsoft YaHei"/>
                <a:ea typeface="Microsoft YaHei"/>
              </a:rPr>
              <a:t>10 / 12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29" name="" descr="&lt;Slide style={{ width: 1280, height: 720, position: 'relative', background: '#FFFFFF', padding: 0, fontFamily: 'Microsoft YaHei' }}&gt;&#13;&#10;    &lt;Box style={{ position: 'absolute', left: 90, top: 50, width: 1100 }}&gt;&#13;&#10;        &lt;Text style={{ fontSize: 28, color: '#1F1F1F', fontWeight: 'bold' }}&gt;接下来怎么走&lt;/Text&gt;&#13;&#10;        &lt;Text style={{ fontSize: 15, color: '#6E6E6E', marginTop: 8 }}&gt;先把「哪些行业能用」说清楚，再说接下来补什么&lt;/Text&gt;&#13;&#10;    &lt;/Box&gt;&#13;&#10;&#13;&#10;    &lt;Box style={{ position: 'absolute', left: 90, top: 132, width: 1100 }}&gt;&#13;&#10;        &lt;Text style={{ fontSize: 18, color: '#1F1F1F', fontWeight: 'bold' }}&gt;现在这套东西，通用到什么程度&lt;/Text&gt;&#13;&#10;&#13;&#10;        &lt;Box style={{ flexDirection: 'row', marginTop: 20 }}&gt;&#13;&#10;            &lt;Text style={{ fontSize: 17, color: '#8A3B2A', fontWeight: 'bold', width: 170 }}&gt;代码不用改&lt;/Text&gt;&#13;&#10;            &lt;Text style={{ fontSize: 17, color: '#3A3A3A', width: 900, lineHeight: 1.6 }}&gt;读文档、找位置、写回、保格式——这四层跟行业无关，Word、Excel 都能跑&lt;/Text&gt;&#13;&#10;        &lt;/Box&gt;&#13;&#10;&#13;&#10;        &lt;Box style={{ flexDirection: 'row', marginTop: 18 }}&gt;&#13;&#10;            &lt;Text style={{ fontSize: 17, color: '#3A3A3A', fontWeight: 'bold', width: 170 }}&gt;要重配一遍&lt;/Text&gt;&#13;&#10;            &lt;Text style={{ fontSize: 17, color: '#3A3A3A', width: 900, lineHeight: 1.6 }}&gt;换行业得重定实体类型、字段清单、别名表、模板定义。估一两天，但只在合同这一类上试过&lt;/Text&gt;&#13;&#10;        &lt;/Box&gt;&#13;&#10;&#13;&#10;        &lt;Box style={{ flexDirection: 'row', marginTop: 18 }}&gt;&#13;&#10;            &lt;Text style={{ fontSize: 17, color: '#9A9A9A', fontWeight: 'bold', width: 170 }}&gt;现在还做不了&lt;/Text&gt;&#13;&#10;            &lt;Text style={{ fontSize: 17, color: '#3A3A3A', width: 900, lineHeight: 1.6 }}&gt;扫描件拍照、多层和斜线表头、跨页续表、手写——输入一乱就接不住&lt;/Text&gt;&#13;&#10;        &lt;/Box&gt;&#13;&#10;    &lt;/Box&gt;&#13;&#10;&#13;&#10;    &lt;Box style={{ position: 'absolute', left: 90, top: 312, width: 1100, height: 2, background: '#1F1F1F' }} /&gt;&#13;&#10;&#13;&#10;    &lt;Box style={{ position: 'absolute', left: 90, top: 332, width: 1100 }}&gt;&#13;&#10;        &lt;Text style={{ fontSize: 18, color: '#1F1F1F', fontWeight: 'bold' }}&gt;所以接下来主要补三件事&lt;/Text&gt;&#13;&#10;&#13;&#10;        &lt;Box style={{ flexDirection: 'row', marginTop: 18 }}&gt;&#13;&#10;            &lt;Box style={{ width: 5, height: 5, background: '#8A3B2A', marginTop: 11, marginRight: 13 }} /&gt;&#13;&#10;            &lt;Text style={{ fontSize: 16, color: '#3A3A3A', width: 1060, lineHeight: 1.6 }}&gt;字段匹配改成语义：拿向量找最接近的说法，别名表退成兜底，换个行业能少配一半&lt;/Text&gt;&#13;&#10;        &lt;/Box&gt;&#13;&#10;&#13;&#10;        &lt;Box style={{ flexDirection: 'row', marginTop: 14 }}&gt;&#13;&#10;            &lt;Box style={{ width: 5, height: 5, background: '#8A3B2A', marginTop: 11, marginRight: 13 }} /&gt;&#13;&#10;            &lt;Text style={{ fontSize: 16, color: '#3A3A3A', width: 1060, lineHeight: 1.6 }}&gt;表头识别做成自适应：多行表头、合并单元格、跨页续表都能认，输入这一侧先接住&lt;/Text&gt;&#13;&#10;        &lt;/Box&gt;&#13;&#10;&#13;&#10;        &lt;Box style={{ flexDirection: 'row', marginTop: 14 }}&gt;&#13;&#10;            &lt;Box style={{ width: 5, height: 5, background: '#8A3B2A', marginTop: 11, marginRight: 13 }} /&gt;&#13;&#10;            &lt;Text style={{ fontSize: 16, color: '#3A3A3A', width: 1060, lineHeight: 1.6 }}&gt;拿历史填写当参照：填新表前先查库里同类表是怎么填的，这条是把手上的库真正用起来&lt;/Text&gt;&#13;&#10;        &lt;/Box&gt;&#13;&#10;    &lt;/Box&gt;&#13;&#10;&#13;&#10;    &lt;Box style={{ position: 'absolute', left: 90, top: 542, width: 1100, borderTop: '1px solid #E2E2E2', paddingTop: 16 }}&gt;&#13;&#10;        &lt;Text style={{ fontSize: 15, color: '#5A5A5A', lineHeight: 1.7 }}&gt;时间上：10–12 月补这三件　→　明年上半年换真实数据、补部署　→　2027 年 9 月接新赛题&lt;/Text&gt;&#13;&#10;    &lt;/Box&gt;&#13;&#10;&#13;&#10;    &lt;Box style={{ position: 'absolute', left: 90, bottom: 58, width: 1040, borderLeft: '3px solid #8A3B2A', paddingLeft: 16 }}&gt;&#13;&#10;        &lt;Text style={{ fontSize: 16, color: '#2B2B2B', lineHeight: 1.7 }}&gt;Agent 我暂时不打算硬上——填表要求每个值都能指回原文，多步自主反而不好核。&lt;/Text&gt;&#13;&#10;    &lt;/Box&gt;&#13;&#10;&#13;&#10;    &lt;Box style={{ position: 'absolute', left: 1120, top: 678, width: 70 }}&gt;&#13;&#10;        &lt;Text style={{ fontSize: 12, color: '#BFBFBF', textAlign: 'right' }}&gt;11 / 12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57250" y="476250"/>
            <a:ext cx="10477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F1F1F"/>
                </a:solidFill>
                <a:latin typeface="Microsoft YaHei"/>
                <a:ea typeface="Microsoft YaHei"/>
              </a:rPr>
              <a:t>接下来怎么走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857250" y="876300"/>
            <a:ext cx="1047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E6E6E"/>
                </a:solidFill>
                <a:latin typeface="Microsoft YaHei"/>
                <a:ea typeface="Microsoft YaHei"/>
              </a:rPr>
              <a:t>先把「哪些行业能用」说清楚，再说接下来补什么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857250" y="1257300"/>
            <a:ext cx="1047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1F1F"/>
                </a:solidFill>
                <a:latin typeface="Microsoft YaHei"/>
                <a:ea typeface="Microsoft YaHei"/>
              </a:rPr>
              <a:t>现在这套东西，通用到什么程度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857250" y="1657350"/>
            <a:ext cx="161925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8A3B2A"/>
                </a:solidFill>
                <a:latin typeface="Microsoft YaHei"/>
                <a:ea typeface="Microsoft YaHei"/>
              </a:rPr>
              <a:t>代码不用改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2476500" y="1657350"/>
            <a:ext cx="85725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3A3A3A"/>
                </a:solidFill>
                <a:latin typeface="Microsoft YaHei"/>
                <a:ea typeface="Microsoft YaHei"/>
              </a:rPr>
              <a:t>读文档、找位置、写回、保格式——这四层跟行业无关，</a:t>
            </a:r>
            <a:r>
              <a:rPr lang="en-US" sz="1275">
                <a:solidFill>
                  <a:srgbClr val="3A3A3A"/>
                </a:solidFill>
                <a:latin typeface="Microsoft YaHei"/>
                <a:ea typeface="Microsoft YaHei"/>
              </a:rPr>
              <a:t>Word</a:t>
            </a:r>
            <a:r>
              <a:rPr lang="zh-CN" sz="1275">
                <a:solidFill>
                  <a:srgbClr val="3A3A3A"/>
                </a:solidFill>
                <a:latin typeface="Microsoft YaHei"/>
                <a:ea typeface="Microsoft YaHei"/>
              </a:rPr>
              <a:t>、</a:t>
            </a:r>
            <a:r>
              <a:rPr lang="en-US" sz="1275">
                <a:solidFill>
                  <a:srgbClr val="3A3A3A"/>
                </a:solidFill>
                <a:latin typeface="Microsoft YaHei"/>
                <a:ea typeface="Microsoft YaHei"/>
              </a:rPr>
              <a:t>Excel </a:t>
            </a:r>
            <a:r>
              <a:rPr lang="zh-CN" sz="1275">
                <a:solidFill>
                  <a:srgbClr val="3A3A3A"/>
                </a:solidFill>
                <a:latin typeface="Microsoft YaHei"/>
                <a:ea typeface="Microsoft YaHei"/>
              </a:rPr>
              <a:t>都能跑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857250" y="2143125"/>
            <a:ext cx="161925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A3A3A"/>
                </a:solidFill>
                <a:latin typeface="Microsoft YaHei"/>
                <a:ea typeface="Microsoft YaHei"/>
              </a:rPr>
              <a:t>要重配一遍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2476500" y="2143125"/>
            <a:ext cx="85725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3A3A3A"/>
                </a:solidFill>
                <a:latin typeface="Microsoft YaHei"/>
                <a:ea typeface="Microsoft YaHei"/>
              </a:rPr>
              <a:t>换行业得重定实体类型、字段清单、别名表、模板定义。估一两天，但只在合同这一类上试过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857250" y="2628900"/>
            <a:ext cx="161925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9A9A9A"/>
                </a:solidFill>
                <a:latin typeface="Microsoft YaHei"/>
                <a:ea typeface="Microsoft YaHei"/>
              </a:rPr>
              <a:t>现在还做不了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2476500" y="2628900"/>
            <a:ext cx="85725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3A3A3A"/>
                </a:solidFill>
                <a:latin typeface="Microsoft YaHei"/>
                <a:ea typeface="Microsoft YaHei"/>
              </a:rPr>
              <a:t>扫描件拍照、多层和斜线表头、跨页续表、手写——输入一乱就接不住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857250" y="2971800"/>
            <a:ext cx="10477500" cy="1905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857250" y="3162300"/>
            <a:ext cx="1047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1F1F"/>
                </a:solidFill>
                <a:latin typeface="Microsoft YaHei"/>
                <a:ea typeface="Microsoft YaHei"/>
              </a:rPr>
              <a:t>所以接下来主要补三件事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857250" y="3648075"/>
            <a:ext cx="47625" cy="47625"/>
          </a:xfrm>
          <a:prstGeom prst="rect">
            <a:avLst/>
          </a:prstGeom>
          <a:solidFill>
            <a:srgbClr val="8A3B2A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028700" y="3543300"/>
            <a:ext cx="100965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3A3A3A"/>
                </a:solidFill>
                <a:latin typeface="Microsoft YaHei"/>
                <a:ea typeface="Microsoft YaHei"/>
              </a:rPr>
              <a:t>字段匹配改成语义：拿向量找最接近的说法，别名表退成兜底，换个行业能少配一半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857250" y="4076700"/>
            <a:ext cx="47625" cy="47625"/>
          </a:xfrm>
          <a:prstGeom prst="rect">
            <a:avLst/>
          </a:prstGeom>
          <a:solidFill>
            <a:srgbClr val="8A3B2A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028700" y="3971925"/>
            <a:ext cx="100965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3A3A3A"/>
                </a:solidFill>
                <a:latin typeface="Microsoft YaHei"/>
                <a:ea typeface="Microsoft YaHei"/>
              </a:rPr>
              <a:t>表头识别做成自适应：多行表头、合并单元格、跨页续表都能认，输入这一侧先接住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857250" y="4505325"/>
            <a:ext cx="47625" cy="47625"/>
          </a:xfrm>
          <a:prstGeom prst="rect">
            <a:avLst/>
          </a:prstGeom>
          <a:solidFill>
            <a:srgbClr val="8A3B2A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1028700" y="4400550"/>
            <a:ext cx="100965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3A3A3A"/>
                </a:solidFill>
                <a:latin typeface="Microsoft YaHei"/>
                <a:ea typeface="Microsoft YaHei"/>
              </a:rPr>
              <a:t>拿历史填写当参照：填新表前先查库里同类表是怎么填的，这条是把手上的库真正用起来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857250" y="5162550"/>
            <a:ext cx="10477500" cy="466725"/>
          </a:xfrm>
          <a:custGeom>
            <a:pathLst>
              <a:path w="1100" h="49">
                <a:moveTo>
                  <a:pt x="0" y="0"/>
                </a:moveTo>
                <a:lnTo>
                  <a:pt x="1100" y="0"/>
                </a:lnTo>
                <a:lnTo>
                  <a:pt x="110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2E2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857250" y="5324475"/>
            <a:ext cx="104775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5A5A5A"/>
                </a:solidFill>
                <a:latin typeface="Microsoft YaHei"/>
                <a:ea typeface="Microsoft YaHei"/>
              </a:rPr>
              <a:t>时间上：</a:t>
            </a:r>
            <a:r>
              <a:rPr lang="en-US" sz="1125">
                <a:solidFill>
                  <a:srgbClr val="5A5A5A"/>
                </a:solidFill>
                <a:latin typeface="Microsoft YaHei"/>
                <a:ea typeface="Microsoft YaHei"/>
              </a:rPr>
              <a:t>10–12 </a:t>
            </a:r>
            <a:r>
              <a:rPr lang="zh-CN" sz="1125">
                <a:solidFill>
                  <a:srgbClr val="5A5A5A"/>
                </a:solidFill>
                <a:latin typeface="Microsoft YaHei"/>
                <a:ea typeface="Microsoft YaHei"/>
              </a:rPr>
              <a:t>月补这三件　→　明年上半年换真实数据、补部署　→　</a:t>
            </a:r>
            <a:r>
              <a:rPr lang="en-US" sz="1125">
                <a:solidFill>
                  <a:srgbClr val="5A5A5A"/>
                </a:solidFill>
                <a:latin typeface="Microsoft YaHei"/>
                <a:ea typeface="Microsoft YaHei"/>
              </a:rPr>
              <a:t>2027 </a:t>
            </a:r>
            <a:r>
              <a:rPr lang="zh-CN" sz="1125">
                <a:solidFill>
                  <a:srgbClr val="5A5A5A"/>
                </a:solidFill>
                <a:latin typeface="Microsoft YaHei"/>
                <a:ea typeface="Microsoft YaHei"/>
              </a:rPr>
              <a:t>年</a:t>
            </a:r>
            <a:r>
              <a:rPr lang="en-US" sz="1125">
                <a:solidFill>
                  <a:srgbClr val="5A5A5A"/>
                </a:solidFill>
                <a:latin typeface="Microsoft YaHei"/>
                <a:ea typeface="Microsoft YaHei"/>
              </a:rPr>
              <a:t> 9 </a:t>
            </a:r>
            <a:r>
              <a:rPr lang="zh-CN" sz="1125">
                <a:solidFill>
                  <a:srgbClr val="5A5A5A"/>
                </a:solidFill>
                <a:latin typeface="Microsoft YaHei"/>
                <a:ea typeface="Microsoft YaHei"/>
              </a:rPr>
              <a:t>月接新赛题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857250" y="5991225"/>
            <a:ext cx="9906000" cy="314325"/>
          </a:xfrm>
          <a:custGeom>
            <a:pathLst>
              <a:path w="1040" h="33">
                <a:moveTo>
                  <a:pt x="0" y="0"/>
                </a:moveTo>
                <a:lnTo>
                  <a:pt x="3" y="0"/>
                </a:lnTo>
                <a:lnTo>
                  <a:pt x="3" y="33"/>
                </a:lnTo>
                <a:lnTo>
                  <a:pt x="0" y="33"/>
                </a:lnTo>
                <a:close/>
              </a:path>
            </a:pathLst>
          </a:custGeom>
          <a:solidFill>
            <a:srgbClr val="8A3B2A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1038225" y="5991225"/>
            <a:ext cx="9725025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00">
                <a:solidFill>
                  <a:srgbClr val="2B2B2B"/>
                </a:solidFill>
                <a:latin typeface="Microsoft YaHei"/>
                <a:ea typeface="Microsoft YaHei"/>
              </a:rPr>
              <a:t>Agent </a:t>
            </a:r>
            <a:r>
              <a:rPr lang="zh-CN" sz="1200">
                <a:solidFill>
                  <a:srgbClr val="2B2B2B"/>
                </a:solidFill>
                <a:latin typeface="Microsoft YaHei"/>
                <a:ea typeface="Microsoft YaHei"/>
              </a:rPr>
              <a:t>我暂时不打算硬上——填表要求每个值都能指回原文，多步自主反而不好核。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0668000" y="6457950"/>
            <a:ext cx="66675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00">
                <a:solidFill>
                  <a:srgbClr val="BFBFBF"/>
                </a:solidFill>
                <a:latin typeface="Microsoft YaHei"/>
                <a:ea typeface="Microsoft YaHei"/>
              </a:rPr>
              <a:t>11 / 12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53" name="" descr="&lt;Slide style={{ width: 1280, height: 720, position: 'relative', background: '#FFFFFF', padding: 0, fontFamily: 'Microsoft YaHei' }}&gt;&#13;&#10;    &lt;Box style={{ position: 'absolute', left: 90, top: 56, width: 1080 }}&gt;&#13;&#10;        &lt;Text style={{ fontSize: 30, color: '#1F1F1F', fontWeight: 'bold' }}&gt;想请老师定三件事&lt;/Text&gt;&#13;&#10;        &lt;Box style={{ width: 56, height: 3, background: '#8A3B2A', marginTop: 16 }} /&gt;&#13;&#10;        &lt;Text style={{ fontSize: 15, color: '#7A7A7A', marginTop: 16 }}&gt;每个都写了现在卡在哪，老师可以直接给判断。&lt;/Text&gt;&#13;&#10;    &lt;/Box&gt;&#13;&#10;&#13;&#10;    &lt;Box style={{ position: 'absolute', left: 90, top: 196, width: 1080 }}&gt;&#13;&#10;        &lt;Box style={{ flexDirection: 'row' }}&gt;&#13;&#10;            &lt;Text style={{ fontSize: 15, color: '#B0B0B0', width: 34, marginTop: 6 }}&gt;1&lt;/Text&gt;&#13;&#10;            &lt;Text style={{ fontSize: 22, color: '#1F1F1F', fontWeight: 'bold', width: 1020 }}&gt;先补通用性，还是先换真实数据？&lt;/Text&gt;&#13;&#10;        &lt;/Box&gt;&#13;&#10;        &lt;Box style={{ flexDirection: 'row', marginTop: 10 }}&gt;&#13;&#10;            &lt;Text style={{ fontSize: 14, color: '#9A9A9A', width: 44, marginTop: 4 }}&gt;现状&lt;/Text&gt;&#13;&#10;            &lt;Text style={{ fontSize: 16, color: '#5A5A5A', width: 990, lineHeight: 1.7 }}&gt;换行业要重定实体、字段、别名表，现在只在合同这一类上试过。&lt;/Text&gt;&#13;&#10;        &lt;/Box&gt;&#13;&#10;        &lt;Box style={{ flexDirection: 'row', marginTop: 6 }}&gt;&#13;&#10;            &lt;Text style={{ fontSize: 14, color: '#8A3B2A', width: 44, marginTop: 4 }}&gt;想问&lt;/Text&gt;&#13;&#10;            &lt;Text style={{ fontSize: 17, color: '#2B2B2B', width: 990, lineHeight: 1.7 }}&gt;是不是先拿一份别行业的真实文档试一遍，再定方向？我倾向先补通用性，但怕走偏。&lt;/Text&gt;&#13;&#10;        &lt;/Box&gt;&#13;&#10;    &lt;/Box&gt;&#13;&#10;&#13;&#10;    &lt;Box style={{ position: 'absolute', left: 90, top: 330, width: 1080 }}&gt;&#13;&#10;        &lt;Box style={{ flexDirection: 'row' }}&gt;&#13;&#10;            &lt;Text style={{ fontSize: 15, color: '#B0B0B0', width: 34, marginTop: 6 }}&gt;2&lt;/Text&gt;&#13;&#10;            &lt;Text style={{ fontSize: 22, color: '#1F1F1F', fontWeight: 'bold', width: 1020 }}&gt;明年参赛，创新点往哪个方向立？&lt;/Text&gt;&#13;&#10;        &lt;/Box&gt;&#13;&#10;        &lt;Box style={{ flexDirection: 'row', marginTop: 10 }}&gt;&#13;&#10;            &lt;Text style={{ fontSize: 14, color: '#9A9A9A', width: 44, marginTop: 4 }}&gt;现状&lt;/Text&gt;&#13;&#10;            &lt;Text style={{ fontSize: 16, color: '#5A5A5A', width: 990, lineHeight: 1.7 }}&gt;流程跑通了，但技术上还是工程拼装，没有明显的方法创新。&lt;/Text&gt;&#13;&#10;        &lt;/Box&gt;&#13;&#10;        &lt;Box style={{ flexDirection: 'row', marginTop: 6 }}&gt;&#13;&#10;            &lt;Text style={{ fontSize: 14, color: '#8A3B2A', width: 44, marginTop: 4 }}&gt;想问&lt;/Text&gt;&#13;&#10;            &lt;Text style={{ fontSize: 17, color: '#2B2B2B', width: 990, lineHeight: 1.7 }}&gt;语义匹配、表头自适应、历史填写做参照——哪个更值得投？还是都不够？&lt;/Text&gt;&#13;&#10;        &lt;/Box&gt;&#13;&#10;    &lt;/Box&gt;&#13;&#10;&#13;&#10;    &lt;Box style={{ position: 'absolute', left: 90, top: 464, width: 1080 }}&gt;&#13;&#10;        &lt;Box style={{ flexDirection: 'row' }}&gt;&#13;&#10;            &lt;Text style={{ fontSize: 15, color: '#B0B0B0', width: 34, marginTop: 6 }}&gt;3&lt;/Text&gt;&#13;&#10;            &lt;Text style={{ fontSize: 22, color: '#1F1F1F', fontWeight: 'bold', width: 1020 }}&gt;真实文档和标注规范，能借到吗？&lt;/Text&gt;&#13;&#10;        &lt;/Box&gt;&#13;&#10;        &lt;Box style={{ flexDirection: 'row', marginTop: 10 }}&gt;&#13;&#10;            &lt;Text style={{ fontSize: 14, color: '#9A9A9A', width: 44, marginTop: 4 }}&gt;现状&lt;/Text&gt;&#13;&#10;            &lt;Text style={{ fontSize: 16, color: '#5A5A5A', width: 990, lineHeight: 1.7 }}&gt;16 份文档、5 张模板都是我自己造的，答案也是我自己标的。&lt;/Text&gt;&#13;&#10;        &lt;/Box&gt;&#13;&#10;        &lt;Box style={{ flexDirection: 'row', marginTop: 6 }}&gt;&#13;&#10;            &lt;Text style={{ fontSize: 14, color: '#8A3B2A', width: 44, marginTop: 4 }}&gt;想问&lt;/Text&gt;&#13;&#10;            &lt;Text style={{ fontSize: 17, color: '#2B2B2B', width: 990, lineHeight: 1.7 }}&gt;实验室有没有脱敏的行业文档可以先用？标注有没有现成的规范？&lt;/Text&gt;&#13;&#10;        &lt;/Box&gt;&#13;&#10;    &lt;/Box&gt;&#13;&#10;&#13;&#10;    &lt;Box style={{ position: 'absolute', left: 90, bottom: 66, width: 1080, borderTop: '1px solid #E2E2E2', paddingTop: 16 }}&gt;&#13;&#10;        &lt;Text style={{ fontSize: 15, color: '#5A5A5A', lineHeight: 1.8 }}&gt;下次组会打算汇报：通用性补到哪一步，真实文档拿到了多少。&lt;/Text&gt;&#13;&#10;    &lt;/Box&gt;&#13;&#10;&#13;&#10;    &lt;Box style={{ position: 'absolute', left: 90, bottom: 28, width: 1080 }}&gt;&#13;&#10;        &lt;Text style={{ fontSize: 14, color: '#9A9A9A' }}&gt;谢谢老师，也谢谢各位同学。&lt;/Text&gt;&#13;&#10;    &lt;/Box&gt;&#13;&#10;&#13;&#10;    &lt;Box style={{ position: 'absolute', left: 1120, top: 678, width: 70 }}&gt;&#13;&#10;        &lt;Text style={{ fontSize: 12, color: '#BFBFBF', textAlign: 'right' }}&gt;12 / 12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857250" y="533400"/>
            <a:ext cx="10287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F1F1F"/>
                </a:solidFill>
                <a:latin typeface="Microsoft YaHei"/>
                <a:ea typeface="Microsoft YaHei"/>
              </a:rPr>
              <a:t>想请老师定三件事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857250" y="1028700"/>
            <a:ext cx="533400" cy="28575"/>
          </a:xfrm>
          <a:prstGeom prst="rect">
            <a:avLst/>
          </a:prstGeom>
          <a:solidFill>
            <a:srgbClr val="8A3B2A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857250" y="1209675"/>
            <a:ext cx="10287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A7A7A"/>
                </a:solidFill>
                <a:latin typeface="Microsoft YaHei"/>
                <a:ea typeface="Microsoft YaHei"/>
              </a:rPr>
              <a:t>每个都写了现在卡在哪，老师可以直接给判断。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857250" y="192405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0B0B0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181100" y="1866900"/>
            <a:ext cx="9715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1F1F"/>
                </a:solidFill>
                <a:latin typeface="Microsoft YaHei"/>
                <a:ea typeface="Microsoft YaHei"/>
              </a:rPr>
              <a:t>先补通用性，还是先换真实数据？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857250" y="2257425"/>
            <a:ext cx="4191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9A9A"/>
                </a:solidFill>
                <a:latin typeface="Microsoft YaHei"/>
                <a:ea typeface="Microsoft YaHei"/>
              </a:rPr>
              <a:t>现状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1276350" y="2219325"/>
            <a:ext cx="942975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5A5A5A"/>
                </a:solidFill>
                <a:latin typeface="Microsoft YaHei"/>
                <a:ea typeface="Microsoft YaHei"/>
              </a:rPr>
              <a:t>换行业要重定实体、字段、别名表，现在只在合同这一类上试过。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857250" y="2628900"/>
            <a:ext cx="419100" cy="295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3B2A"/>
                </a:solidFill>
                <a:latin typeface="Microsoft YaHei"/>
                <a:ea typeface="Microsoft YaHei"/>
              </a:rPr>
              <a:t>想问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1276350" y="2590800"/>
            <a:ext cx="942975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2B2B2B"/>
                </a:solidFill>
                <a:latin typeface="Microsoft YaHei"/>
                <a:ea typeface="Microsoft YaHei"/>
              </a:rPr>
              <a:t>是不是先拿一份别行业的真实文档试一遍，再定方向？我倾向先补通用性，但怕走偏。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857250" y="32004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0B0B0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1181100" y="3143250"/>
            <a:ext cx="9715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1F1F"/>
                </a:solidFill>
                <a:latin typeface="Microsoft YaHei"/>
                <a:ea typeface="Microsoft YaHei"/>
              </a:rPr>
              <a:t>明年参赛，创新点往哪个方向立？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857250" y="3533775"/>
            <a:ext cx="4191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9A9A"/>
                </a:solidFill>
                <a:latin typeface="Microsoft YaHei"/>
                <a:ea typeface="Microsoft YaHei"/>
              </a:rPr>
              <a:t>现状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276350" y="3495675"/>
            <a:ext cx="942975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5A5A5A"/>
                </a:solidFill>
                <a:latin typeface="Microsoft YaHei"/>
                <a:ea typeface="Microsoft YaHei"/>
              </a:rPr>
              <a:t>流程跑通了，但技术上还是工程拼装，没有明显的方法创新。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857250" y="3905250"/>
            <a:ext cx="419100" cy="295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3B2A"/>
                </a:solidFill>
                <a:latin typeface="Microsoft YaHei"/>
                <a:ea typeface="Microsoft YaHei"/>
              </a:rPr>
              <a:t>想问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1276350" y="3867150"/>
            <a:ext cx="942975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2B2B2B"/>
                </a:solidFill>
                <a:latin typeface="Microsoft YaHei"/>
                <a:ea typeface="Microsoft YaHei"/>
              </a:rPr>
              <a:t>语义匹配、表头自适应、历史填写做参照——哪个更值得投？还是都不够？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857250" y="447675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B0B0B0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181100" y="4419600"/>
            <a:ext cx="9715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1F1F"/>
                </a:solidFill>
                <a:latin typeface="Microsoft YaHei"/>
                <a:ea typeface="Microsoft YaHei"/>
              </a:rPr>
              <a:t>真实文档和标注规范，能借到吗？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857250" y="4810125"/>
            <a:ext cx="4191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9A9A"/>
                </a:solidFill>
                <a:latin typeface="Microsoft YaHei"/>
                <a:ea typeface="Microsoft YaHei"/>
              </a:rPr>
              <a:t>现状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1276350" y="4772025"/>
            <a:ext cx="942975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00">
                <a:solidFill>
                  <a:srgbClr val="5A5A5A"/>
                </a:solidFill>
                <a:latin typeface="Microsoft YaHei"/>
                <a:ea typeface="Microsoft YaHei"/>
              </a:rPr>
              <a:t>16 </a:t>
            </a:r>
            <a:r>
              <a:rPr lang="zh-CN" sz="1200">
                <a:solidFill>
                  <a:srgbClr val="5A5A5A"/>
                </a:solidFill>
                <a:latin typeface="Microsoft YaHei"/>
                <a:ea typeface="Microsoft YaHei"/>
              </a:rPr>
              <a:t>份文档、</a:t>
            </a:r>
            <a:r>
              <a:rPr lang="en-US" sz="1200">
                <a:solidFill>
                  <a:srgbClr val="5A5A5A"/>
                </a:solidFill>
                <a:latin typeface="Microsoft YaHei"/>
                <a:ea typeface="Microsoft YaHei"/>
              </a:rPr>
              <a:t>5 </a:t>
            </a:r>
            <a:r>
              <a:rPr lang="zh-CN" sz="1200">
                <a:solidFill>
                  <a:srgbClr val="5A5A5A"/>
                </a:solidFill>
                <a:latin typeface="Microsoft YaHei"/>
                <a:ea typeface="Microsoft YaHei"/>
              </a:rPr>
              <a:t>张模板都是我自己造的，答案也是我自己标的。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857250" y="5181600"/>
            <a:ext cx="419100" cy="295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3B2A"/>
                </a:solidFill>
                <a:latin typeface="Microsoft YaHei"/>
                <a:ea typeface="Microsoft YaHei"/>
              </a:rPr>
              <a:t>想问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1276350" y="5143500"/>
            <a:ext cx="942975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2B2B2B"/>
                </a:solidFill>
                <a:latin typeface="Microsoft YaHei"/>
                <a:ea typeface="Microsoft YaHei"/>
              </a:rPr>
              <a:t>实验室有没有脱敏的行业文档可以先用？标注有没有现成的规范？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857250" y="5753100"/>
            <a:ext cx="10287000" cy="485775"/>
          </a:xfrm>
          <a:custGeom>
            <a:pathLst>
              <a:path w="1080" h="51">
                <a:moveTo>
                  <a:pt x="0" y="0"/>
                </a:moveTo>
                <a:lnTo>
                  <a:pt x="1080" y="0"/>
                </a:lnTo>
                <a:lnTo>
                  <a:pt x="10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2E2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57250" y="5915025"/>
            <a:ext cx="10287000" cy="3143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5A5A5A"/>
                </a:solidFill>
                <a:latin typeface="Microsoft YaHei"/>
                <a:ea typeface="Microsoft YaHei"/>
              </a:rPr>
              <a:t>下次组会打算汇报：通用性补到哪一步，真实文档拿到了多少。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857250" y="6429375"/>
            <a:ext cx="1028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A9A9A"/>
                </a:solidFill>
                <a:latin typeface="Microsoft YaHei"/>
                <a:ea typeface="Microsoft YaHei"/>
              </a:rPr>
              <a:t>谢谢老师，也谢谢各位同学。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0668000" y="6457950"/>
            <a:ext cx="66675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00">
                <a:solidFill>
                  <a:srgbClr val="BFBFBF"/>
                </a:solidFill>
                <a:latin typeface="Microsoft YaHei"/>
                <a:ea typeface="Microsoft YaHei"/>
              </a:rPr>
              <a:t>12 / 12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2026-10-20T12:58:59Z</dcterms:created>
  <dcterms:modified xsi:type="dcterms:W3CDTF">2026-10-20T12:58:59Z</dcterms:modified>
</cp:coreProperties>
</file>